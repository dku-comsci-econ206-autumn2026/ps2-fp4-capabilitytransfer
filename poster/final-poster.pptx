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42803763" cy="3027521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3" d="100"/>
          <a:sy n="23" d="100"/>
        </p:scale>
        <p:origin x="315" y="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COMSCI/ECON 206 PS2 clean A0 poster template.</a:t>
            </a:r>
          </a:p>
          <a:p>
            <a:r>
              <a:t>Brand guide: https://dku-web-admissions.s3.cn-north-1.amazonaws.com.cn/dkumain/wp-content/uploads/mainsite/2022/05/brand-guide-compressed_2021.pdf, linked from https://www.dukekunshan.edu.cn/media/. Guide pp. 5, 6, 12, 14, and 15 establish logo clear space/proportions, unchanged logo artwork, application colors #003399 and #006633 plus white, and Calibri as the office system font when InterstatePlus cannot be used. Official logo asset: https://www.dukekunshan.edu.cn/wp-content/uploads/2021/08/large_dku-Logo.png.</a:t>
            </a:r>
          </a:p>
          <a:p>
            <a:r>
              <a:t>Calibri is specified in the editable PowerPoint. The exported PDF uses Carlito, a metric-compatible open-source substitute because Calibri is unavailable in the export environment. Re-export from PowerPoint with Calibri for institution-font-exact output.</a:t>
            </a:r>
          </a:p>
          <a:p>
            <a:r>
              <a:t>Clean and annotated versions share all element positions. Keep A0 landscape 1189 x 841 mm, 100% print scale. Text and figure/QR placeholders are editable; preserve the embedded logo unchanged and keep at least half its height as clear space. Instructor belongs below authors, not in the author list. Replace all placeholders with actual work; distinguish observed results, inferences, and planned tests. QR codes are optional but full public URLs and tested access are required. References must be full and traceable; acknowledgments must name actual contributions and AI assistance. Sep 28: symposium, peer evaluation and real-world case impacts. Sep 30: final update. The PS1-style paper, LaTeX, and learning pathway are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op-brand-rule">
            <a:extLst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2804000" cy="228600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</p:sp>
      <p:sp>
        <p:nvSpPr>
          <p:cNvPr id="2" name="course-line">
            <a:extLst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noGrp="1"/>
          </p:cNvSpPr>
          <p:nvPr/>
        </p:nvSpPr>
        <p:spPr>
          <a:xfrm>
            <a:off x="1333500" y="781050"/>
            <a:ext cx="28860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2775" b="1"/>
              <a:t>COMSCI / ECON 206   |   FINAL PROJECT   |   FALL 2026</a:t>
            </a:r>
          </a:p>
        </p:txBody>
      </p:sp>
      <p:sp>
        <p:nvSpPr>
          <p:cNvPr id="3" name="version">
            <a:extLst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noGrp="1"/>
          </p:cNvSpPr>
          <p:nvPr/>
        </p:nvSpPr>
        <p:spPr>
          <a:xfrm>
            <a:off x="31623120" y="5903999"/>
            <a:ext cx="9810720" cy="37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2100" b="1"/>
              <a:t>FINAL · CAPABILITY-TRANSFER OPENNESS</a:t>
            </a:r>
          </a:p>
        </p:txBody>
      </p:sp>
      <p:sp>
        <p:nvSpPr>
          <p:cNvPr id="4" name="project-title">
            <a:extLst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noGrp="1"/>
          </p:cNvSpPr>
          <p:nvPr/>
        </p:nvSpPr>
        <p:spPr>
          <a:xfrm>
            <a:off x="1333500" y="1733550"/>
            <a:ext cx="29146500" cy="2619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400" b="1">
                <a:solidFill>
                  <a:srgbClr val="003399"/>
                </a:solidFill>
                <a:latin typeface="Calibri"/>
              </a:rPr>
              <a:t>Pay for Training, Not for Openness: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003399"/>
                </a:solidFill>
                <a:latin typeface="Calibri"/>
              </a:rPr>
              <a:t>Reward Design for Original and Distilled AI Models</a:t>
            </a:r>
          </a:p>
        </p:txBody>
      </p:sp>
      <p:sp>
        <p:nvSpPr>
          <p:cNvPr id="5" name="authors">
            <a:extLst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noGrp="1"/>
          </p:cNvSpPr>
          <p:nvPr/>
        </p:nvSpPr>
        <p:spPr>
          <a:xfrm>
            <a:off x="1333500" y="4457700"/>
            <a:ext cx="28575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4050" b="1">
                <a:solidFill>
                  <a:srgbClr val="212A33"/>
                </a:solidFill>
                <a:latin typeface="Calibri"/>
              </a:rPr>
              <a:t>Zhengjun He, Yichen Shen  |  Team FP4</a:t>
            </a:r>
          </a:p>
        </p:txBody>
      </p:sp>
      <p:sp>
        <p:nvSpPr>
          <p:cNvPr id="6" name="course-instructor">
            <a:extLst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noGrp="1"/>
          </p:cNvSpPr>
          <p:nvPr/>
        </p:nvSpPr>
        <p:spPr>
          <a:xfrm>
            <a:off x="1333500" y="5229225"/>
            <a:ext cx="2857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</a:rPr>
              <a:t>Course instructor: Professor Luyao Zhang</a:t>
            </a:r>
          </a:p>
        </p:txBody>
      </p:sp>
      <p:pic>
        <p:nvPicPr>
          <p:cNvPr id="58" name="图片 5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575500" y="2190750"/>
            <a:ext cx="8096250" cy="2595818"/>
          </a:xfrm>
          <a:prstGeom prst="rect">
            <a:avLst/>
          </a:prstGeom>
        </p:spPr>
      </p:pic>
      <p:sp>
        <p:nvSpPr>
          <p:cNvPr id="8" name="takeaway-band">
            <a:extLst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noGrp="1"/>
          </p:cNvSpPr>
          <p:nvPr/>
        </p:nvSpPr>
        <p:spPr>
          <a:xfrm>
            <a:off x="0" y="6572250"/>
            <a:ext cx="42804000" cy="2143125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</p:sp>
      <p:sp>
        <p:nvSpPr>
          <p:cNvPr id="9" name="takeaway-label">
            <a:extLst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noGrp="1"/>
          </p:cNvSpPr>
          <p:nvPr/>
        </p:nvSpPr>
        <p:spPr>
          <a:xfrm>
            <a:off x="1333500" y="7239000"/>
            <a:ext cx="4667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</a:rPr>
              <a:t>KEY MESSAGE</a:t>
            </a:r>
          </a:p>
        </p:txBody>
      </p:sp>
      <p:sp>
        <p:nvSpPr>
          <p:cNvPr id="10" name="takeaway">
            <a:extLst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noGrp="1"/>
          </p:cNvSpPr>
          <p:nvPr/>
        </p:nvSpPr>
        <p:spPr>
          <a:xfrm>
            <a:off x="6477000" y="7000875"/>
            <a:ext cx="34993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4200" b="0">
                <a:solidFill>
                  <a:srgbClr val="FFFFFF"/>
                </a:solidFill>
                <a:latin typeface="Calibri"/>
              </a:rPr>
              <a:t>Private and social rankings are exact reverses: the developer's best move is society's worst. So markets rest on secrecy, or fill with open copies, unless the prize is paid per unit of </a:t>
            </a:r>
            <a:r>
              <a:rPr sz="4200" b="1">
                <a:solidFill>
                  <a:srgbClr val="FFFFFF"/>
                </a:solidFill>
                <a:latin typeface="Calibri"/>
              </a:rPr>
              <a:t>training compute</a:t>
            </a:r>
            <a:r>
              <a:rPr sz="4200" b="0">
                <a:solidFill>
                  <a:srgbClr val="FFFFFF"/>
                </a:solidFill>
                <a:latin typeface="Calibri"/>
              </a:rPr>
              <a:t>, not for </a:t>
            </a:r>
            <a:r>
              <a:rPr sz="4200" b="1">
                <a:solidFill>
                  <a:srgbClr val="FFFFFF"/>
                </a:solidFill>
                <a:latin typeface="Calibri"/>
              </a:rPr>
              <a:t>openness</a:t>
            </a:r>
            <a:r>
              <a:rPr sz="4200" b="0">
                <a:solidFill>
                  <a:srgbClr val="FFFFFF"/>
                </a:solidFill>
                <a:latin typeface="Calibri"/>
              </a:rPr>
              <a:t> alone.</a:t>
            </a:r>
          </a:p>
        </p:txBody>
      </p:sp>
      <p:sp>
        <p:nvSpPr>
          <p:cNvPr id="11" name="question-model-title">
            <a:extLst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noGrp="1"/>
          </p:cNvSpPr>
          <p:nvPr/>
        </p:nvSpPr>
        <p:spPr>
          <a:xfrm>
            <a:off x="1333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</a:rPr>
              <a:t>01   Question &amp; model</a:t>
            </a:r>
          </a:p>
        </p:txBody>
      </p:sp>
      <p:sp>
        <p:nvSpPr>
          <p:cNvPr id="12" name="question-model-title-rule">
            <a:extLst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noGrp="1"/>
          </p:cNvSpPr>
          <p:nvPr/>
        </p:nvSpPr>
        <p:spPr>
          <a:xfrm>
            <a:off x="1333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</p:sp>
      <p:sp>
        <p:nvSpPr>
          <p:cNvPr id="13" name="research-question-heading">
            <a:extLst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noGrp="1"/>
          </p:cNvSpPr>
          <p:nvPr/>
        </p:nvSpPr>
        <p:spPr>
          <a:xfrm>
            <a:off x="1333500" y="111442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</a:rPr>
              <a:t>Research question &amp; verified gap</a:t>
            </a:r>
          </a:p>
        </p:txBody>
      </p:sp>
      <p:sp>
        <p:nvSpPr>
          <p:cNvPr id="14" name="research-question">
            <a:extLst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noGrp="1"/>
          </p:cNvSpPr>
          <p:nvPr/>
        </p:nvSpPr>
        <p:spPr>
          <a:xfrm>
            <a:off x="1333500" y="11906250"/>
            <a:ext cx="1104900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70" b="1">
                <a:solidFill>
                  <a:srgbClr val="212A33"/>
                </a:solidFill>
                <a:latin typeface="Calibri"/>
              </a:rPr>
              <a:t>Q  </a:t>
            </a:r>
            <a:r>
              <a:rPr sz="2170" b="0">
                <a:solidFill>
                  <a:srgbClr val="212A33"/>
                </a:solidFill>
                <a:latin typeface="Calibri"/>
              </a:rPr>
              <a:t>A developer may imitate (distil) or innovate (train from scratch), and may release the result under secrecy or openness. Which of the four does it choose — and does society want the same?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70" b="1">
                <a:solidFill>
                  <a:srgbClr val="212A33"/>
                </a:solidFill>
                <a:latin typeface="Calibri"/>
              </a:rPr>
              <a:t>Gap  </a:t>
            </a:r>
            <a:r>
              <a:rPr sz="2170" b="0">
                <a:solidFill>
                  <a:srgbClr val="212A33"/>
                </a:solidFill>
                <a:latin typeface="Calibri"/>
              </a:rPr>
              <a:t>Rules that reward openness reward it as such (Qiu et al. 2025), and stay silent on whether a model was originally trained or merely imitated. That silence is where the incentive breaks.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70" b="1">
                <a:solidFill>
                  <a:srgbClr val="212A33"/>
                </a:solidFill>
                <a:latin typeface="Calibri"/>
              </a:rPr>
              <a:t>Why it matters  </a:t>
            </a:r>
            <a:r>
              <a:rPr sz="2170" b="0">
                <a:solidFill>
                  <a:srgbClr val="212A33"/>
                </a:solidFill>
                <a:latin typeface="Calibri"/>
              </a:rPr>
              <a:t>A prize that pays for openness alone pays the imitator, not the innovator.</a:t>
            </a:r>
          </a:p>
        </p:txBody>
      </p:sp>
      <p:sp>
        <p:nvSpPr>
          <p:cNvPr id="15" name="model-heading">
            <a:extLst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noGrp="1"/>
          </p:cNvSpPr>
          <p:nvPr/>
        </p:nvSpPr>
        <p:spPr>
          <a:xfrm>
            <a:off x="1333500" y="151447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</a:rPr>
              <a:t>Strategic model &amp; foundations</a:t>
            </a:r>
          </a:p>
        </p:txBody>
      </p:sp>
      <p:sp>
        <p:nvSpPr>
          <p:cNvPr id="16" name="model">
            <a:extLst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noGrp="1"/>
          </p:cNvSpPr>
          <p:nvPr/>
        </p:nvSpPr>
        <p:spPr>
          <a:xfrm>
            <a:off x="1333500" y="15906750"/>
            <a:ext cx="110490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980" b="1">
                <a:solidFill>
                  <a:srgbClr val="212A33"/>
                </a:solidFill>
                <a:latin typeface="Calibri"/>
              </a:rPr>
              <a:t>Players  </a:t>
            </a:r>
            <a:r>
              <a:rPr sz="1980" b="0">
                <a:solidFill>
                  <a:srgbClr val="212A33"/>
                </a:solidFill>
                <a:latin typeface="Calibri"/>
              </a:rPr>
              <a:t>N firms each choose sourcing (imitate or innovate) and release (secrecy or openness).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980" b="1">
                <a:solidFill>
                  <a:srgbClr val="212A33"/>
                </a:solidFill>
                <a:latin typeface="Calibri"/>
              </a:rPr>
              <a:t>Payoffs  </a:t>
            </a:r>
            <a:r>
              <a:rPr sz="1980" b="0">
                <a:solidFill>
                  <a:srgbClr val="212A33"/>
                </a:solidFill>
                <a:latin typeface="Calibri"/>
              </a:rPr>
              <a:t>four cells (Figure 1): secrecy keeps the monopoly profit; a release earns a prize on its compute and loses the edge.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980" b="1">
                <a:solidFill>
                  <a:srgbClr val="212A33"/>
                </a:solidFill>
                <a:latin typeface="Calibri"/>
              </a:rPr>
              <a:t>Solution concept  </a:t>
            </a:r>
            <a:r>
              <a:rPr sz="1980" b="0">
                <a:solidFill>
                  <a:srgbClr val="212A33"/>
                </a:solidFill>
                <a:latin typeface="Calibri"/>
              </a:rPr>
              <a:t>Nash equilibrium, set against society's ranking.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980" b="1">
                <a:solidFill>
                  <a:srgbClr val="212A33"/>
                </a:solidFill>
                <a:latin typeface="Calibri"/>
              </a:rPr>
              <a:t>Assumptions  </a:t>
            </a:r>
            <a:r>
              <a:rPr sz="1980" b="0">
                <a:solidFill>
                  <a:srgbClr val="212A33"/>
                </a:solidFill>
                <a:latin typeface="Calibri"/>
              </a:rPr>
              <a:t>innovation costs more and uses more compute than imitation; the prize rate k is paid per unit of compute 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980" b="1">
                <a:solidFill>
                  <a:srgbClr val="212A33"/>
                </a:solidFill>
                <a:latin typeface="Calibri"/>
              </a:rPr>
              <a:t>Notation  </a:t>
            </a:r>
            <a:r>
              <a:rPr sz="1980" b="0">
                <a:solidFill>
                  <a:srgbClr val="212A33"/>
                </a:solidFill>
                <a:latin typeface="Calibri"/>
              </a:rPr>
              <a:t>C</a:t>
            </a:r>
            <a:r>
              <a:rPr sz="1980" b="1" baseline="-25000">
                <a:solidFill>
                  <a:srgbClr val="212A33"/>
                </a:solidFill>
                <a:latin typeface="Calibri"/>
              </a:rPr>
              <a:t>d</a:t>
            </a:r>
            <a:r>
              <a:rPr sz="1980" b="0">
                <a:solidFill>
                  <a:srgbClr val="212A33"/>
                </a:solidFill>
                <a:latin typeface="Calibri"/>
              </a:rPr>
              <a:t>, E</a:t>
            </a:r>
            <a:r>
              <a:rPr sz="1980" b="1" baseline="-25000">
                <a:solidFill>
                  <a:srgbClr val="212A33"/>
                </a:solidFill>
                <a:latin typeface="Calibri"/>
              </a:rPr>
              <a:t>d</a:t>
            </a:r>
            <a:r>
              <a:rPr sz="1980" b="0">
                <a:solidFill>
                  <a:srgbClr val="212A33"/>
                </a:solidFill>
                <a:latin typeface="Calibri"/>
              </a:rPr>
              <a:t> = cost and compute of imitation · C</a:t>
            </a:r>
            <a:r>
              <a:rPr sz="1980" b="1" baseline="-25000">
                <a:solidFill>
                  <a:srgbClr val="212A33"/>
                </a:solidFill>
                <a:latin typeface="Calibri"/>
              </a:rPr>
              <a:t>n</a:t>
            </a:r>
            <a:r>
              <a:rPr sz="1980" b="0">
                <a:solidFill>
                  <a:srgbClr val="212A33"/>
                </a:solidFill>
                <a:latin typeface="Calibri"/>
              </a:rPr>
              <a:t>, E</a:t>
            </a:r>
            <a:r>
              <a:rPr sz="1980" b="1" baseline="-25000">
                <a:solidFill>
                  <a:srgbClr val="212A33"/>
                </a:solidFill>
                <a:latin typeface="Calibri"/>
              </a:rPr>
              <a:t>n</a:t>
            </a:r>
            <a:r>
              <a:rPr sz="1980" b="0">
                <a:solidFill>
                  <a:srgbClr val="212A33"/>
                </a:solidFill>
                <a:latin typeface="Calibri"/>
              </a:rPr>
              <a:t> = cost and compute of innovation · k = prize per unit of E · L = loss from disclosure · π = monopoly profit kept under secrecy · βφK·m/(m+m₀) = future share an open release buys (β discount · φ ecosystem efficiency · K external contributions · m compatibility share · m₀ internal scale).</a:t>
            </a:r>
          </a:p>
        </p:txBody>
      </p:sp>
      <p:sp>
        <p:nvSpPr>
          <p:cNvPr id="17" name="lenses-heading">
            <a:extLst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noGrp="1"/>
          </p:cNvSpPr>
          <p:nvPr/>
        </p:nvSpPr>
        <p:spPr>
          <a:xfrm>
            <a:off x="1333500" y="195262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</a:rPr>
              <a:t>Three complementary lenses</a:t>
            </a:r>
          </a:p>
        </p:txBody>
      </p:sp>
      <p:sp>
        <p:nvSpPr>
          <p:cNvPr id="18" name="lenses">
            <a:extLst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noGrp="1"/>
          </p:cNvSpPr>
          <p:nvPr/>
        </p:nvSpPr>
        <p:spPr>
          <a:xfrm>
            <a:off x="1333500" y="20288250"/>
            <a:ext cx="11049000" cy="2762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212A33"/>
                </a:solidFill>
                <a:latin typeface="Calibri"/>
              </a:rPr>
              <a:t>Game theory  </a:t>
            </a:r>
            <a:r>
              <a:rPr sz="2400" b="0">
                <a:solidFill>
                  <a:srgbClr val="212A33"/>
                </a:solidFill>
                <a:latin typeface="Calibri"/>
              </a:rPr>
              <a:t>left alone, the best response is secrecy plus imitation — the cheap way to keep the monopoly price.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212A33"/>
                </a:solidFill>
                <a:latin typeface="Calibri"/>
              </a:rPr>
              <a:t>Social choice  </a:t>
            </a:r>
            <a:r>
              <a:rPr sz="2400" b="0">
                <a:solidFill>
                  <a:srgbClr val="212A33"/>
                </a:solidFill>
                <a:latin typeface="Calibri"/>
              </a:rPr>
              <a:t>society ranks openness plus innovation best and secrecy plus imitation worst; the two orders are exact reverses.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212A33"/>
                </a:solidFill>
                <a:latin typeface="Calibri"/>
              </a:rPr>
              <a:t>Mechanism design  </a:t>
            </a:r>
            <a:r>
              <a:rPr sz="2400" b="0">
                <a:solidFill>
                  <a:srgbClr val="212A33"/>
                </a:solidFill>
                <a:latin typeface="Calibri"/>
              </a:rPr>
              <a:t>a prize paid for openness alone rewards the imitator more than the innovator, who paid more to get there; paid per unit of compute it separates them.</a:t>
            </a:r>
          </a:p>
        </p:txBody>
      </p:sp>
      <p:sp>
        <p:nvSpPr>
          <p:cNvPr id="19" name="auction-heading">
            <a:extLst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noGrp="1"/>
          </p:cNvSpPr>
          <p:nvPr/>
        </p:nvSpPr>
        <p:spPr>
          <a:xfrm>
            <a:off x="1333500" y="229044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3375" b="1"/>
              <a:t>Implemented payment rule &amp; auction analogy</a:t>
            </a:r>
          </a:p>
        </p:txBody>
      </p:sp>
      <p:sp>
        <p:nvSpPr>
          <p:cNvPr id="20" name="auction">
            <a:extLst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noGrp="1"/>
          </p:cNvSpPr>
          <p:nvPr/>
        </p:nvSpPr>
        <p:spPr>
          <a:xfrm>
            <a:off x="1333500" y="23666450"/>
            <a:ext cx="11049000" cy="2762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2060" b="0"/>
              <a:t>Implemented rule: proportional kE subsidy — each open release is paid k per unit of audited training compute E.</a:t>
            </a:r>
          </a:p>
          <a:p>
            <a:r>
              <a:rPr sz="2060" b="0"/>
              <a:t>Flat and capped rewards are counterfactual designs, not this institution.</a:t>
            </a:r>
          </a:p>
          <a:p>
            <a:r>
              <a:rPr sz="2060" b="0"/>
              <a:t>All-pay reading (Baye et al. 1996) is an analogy only: every firm pays its sunk training cost.</a:t>
            </a:r>
          </a:p>
        </p:txBody>
      </p:sp>
      <p:sp>
        <p:nvSpPr>
          <p:cNvPr id="21" name="design-evidence-title">
            <a:extLst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noGrp="1"/>
          </p:cNvSpPr>
          <p:nvPr/>
        </p:nvSpPr>
        <p:spPr>
          <a:xfrm>
            <a:off x="13335000" y="9525000"/>
            <a:ext cx="16134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</a:rPr>
              <a:t>02   Design &amp; evidence</a:t>
            </a:r>
          </a:p>
        </p:txBody>
      </p:sp>
      <p:sp>
        <p:nvSpPr>
          <p:cNvPr id="22" name="design-evidence-title-rule">
            <a:extLst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noGrp="1"/>
          </p:cNvSpPr>
          <p:nvPr/>
        </p:nvSpPr>
        <p:spPr>
          <a:xfrm>
            <a:off x="13335000" y="10506075"/>
            <a:ext cx="16134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</p:sp>
      <p:sp>
        <p:nvSpPr>
          <p:cNvPr id="23" name="research-design-area">
            <a:extLst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noGrp="1"/>
          </p:cNvSpPr>
          <p:nvPr/>
        </p:nvSpPr>
        <p:spPr>
          <a:xfrm>
            <a:off x="13335000" y="11144250"/>
            <a:ext cx="16134000" cy="466725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</p:sp>
      <p:sp>
        <p:nvSpPr>
          <p:cNvPr id="24" name="research-design-label">
            <a:extLst>
              <a:ext uri="{FF2B5EF4-FFF2-40B4-BE49-F238E27FC236}">
                <a16:creationId xmlns:a16="http://schemas.microsoft.com/office/drawing/2014/main" id="{8126654C-9B1A-4166-BD33-50CD41EA22A1}"/>
              </a:ext>
            </a:extLst>
          </p:cNvPr>
          <p:cNvSpPr>
            <a:spLocks noGrp="1"/>
          </p:cNvSpPr>
          <p:nvPr/>
        </p:nvSpPr>
        <p:spPr>
          <a:xfrm>
            <a:off x="13680000" y="11268000"/>
            <a:ext cx="14895720" cy="52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3399"/>
                </a:solidFill>
                <a:latin typeface="Calibri"/>
              </a:rPr>
              <a:t>Figure 1 — the four strategy combinations</a:t>
            </a:r>
          </a:p>
        </p:txBody>
      </p:sp>
      <p:sp>
        <p:nvSpPr>
          <p:cNvPr id="26" name="design-caption">
            <a:extLst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noGrp="1"/>
          </p:cNvSpPr>
          <p:nvPr/>
        </p:nvSpPr>
        <p:spPr>
          <a:xfrm>
            <a:off x="13335000" y="16097250"/>
            <a:ext cx="1613400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28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900" b="1">
                <a:solidFill>
                  <a:srgbClr val="56616B"/>
                </a:solidFill>
                <a:latin typeface="Calibri"/>
              </a:rPr>
              <a:t>Figure 1.  </a:t>
            </a:r>
            <a:r>
              <a:rPr sz="1900" b="0">
                <a:solidFill>
                  <a:srgbClr val="56616B"/>
                </a:solidFill>
                <a:latin typeface="Calibri"/>
              </a:rPr>
              <a:t>The strategy space is a 2 × 2 — sourcing (imitate or innovate) × release (secrecy or openness) — with each cell's payoff. Secrecy plus imitation keeps the monopoly price cheaply, which is why it dominates privately; openness plus innovation is the only cell that creates a reusable source, and it is the most expensive. Cells recomputed in </a:t>
            </a:r>
            <a:r>
              <a:rPr sz="1900" b="1">
                <a:solidFill>
                  <a:srgbClr val="56616B"/>
                </a:solidFill>
                <a:latin typeface="Calibri"/>
              </a:rPr>
              <a:t>verify_k.py</a:t>
            </a:r>
            <a:r>
              <a:rPr sz="1900" b="0">
                <a:solidFill>
                  <a:srgbClr val="56616B"/>
                </a:solidFill>
                <a:latin typeface="Calibri"/>
              </a:rPr>
              <a:t>. An open release also keeps the future market share it buys, βφK·m/(m+m₀) — the discounted value of the external contributions an open model attracts.</a:t>
            </a:r>
          </a:p>
        </p:txBody>
      </p:sp>
      <p:sp>
        <p:nvSpPr>
          <p:cNvPr id="27" name="main-result-area">
            <a:extLst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noGrp="1"/>
          </p:cNvSpPr>
          <p:nvPr/>
        </p:nvSpPr>
        <p:spPr>
          <a:xfrm>
            <a:off x="13335000" y="17621250"/>
            <a:ext cx="16134000" cy="628650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</p:sp>
      <p:sp>
        <p:nvSpPr>
          <p:cNvPr id="28" name="main-result-label">
            <a:extLst>
              <a:ext uri="{FF2B5EF4-FFF2-40B4-BE49-F238E27FC236}">
                <a16:creationId xmlns:a16="http://schemas.microsoft.com/office/drawing/2014/main" id="{A95FDDB5-DC34-4CBB-B5F4-3B143142A5A8}"/>
              </a:ext>
            </a:extLst>
          </p:cNvPr>
          <p:cNvSpPr>
            <a:spLocks noGrp="1"/>
          </p:cNvSpPr>
          <p:nvPr/>
        </p:nvSpPr>
        <p:spPr>
          <a:xfrm>
            <a:off x="13680000" y="17640000"/>
            <a:ext cx="15552000" cy="46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3399"/>
                </a:solidFill>
                <a:latin typeface="Calibri"/>
              </a:rPr>
              <a:t>Figure 2 — private desire vs. social desirability</a:t>
            </a:r>
          </a:p>
        </p:txBody>
      </p:sp>
      <p:sp>
        <p:nvSpPr>
          <p:cNvPr id="30" name="result-caption">
            <a:extLst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noGrp="1"/>
          </p:cNvSpPr>
          <p:nvPr/>
        </p:nvSpPr>
        <p:spPr>
          <a:xfrm>
            <a:off x="13335000" y="24241125"/>
            <a:ext cx="16134000" cy="2714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212A33"/>
                </a:solidFill>
                <a:latin typeface="Calibri"/>
              </a:rPr>
              <a:t>Figure 2.  </a:t>
            </a:r>
            <a:r>
              <a:rPr sz="2000" b="0">
                <a:solidFill>
                  <a:srgbClr val="212A33"/>
                </a:solidFill>
                <a:latin typeface="Calibri"/>
              </a:rPr>
              <a:t>The private order (①&gt; ③&gt; ②&gt; ④) and the social order (④&gt; ②&gt; ③&gt; ①) are exact mirror images: the developer's favourite is society's least wanted. The private order holds while π + L − βφK &gt; C</a:t>
            </a:r>
            <a:r>
              <a:rPr sz="2000" b="0" baseline="-25000">
                <a:solidFill>
                  <a:srgbClr val="212A33"/>
                </a:solidFill>
                <a:latin typeface="Calibri"/>
              </a:rPr>
              <a:t>n</a:t>
            </a:r>
            <a:r>
              <a:rPr sz="2000" b="0">
                <a:solidFill>
                  <a:srgbClr val="212A33"/>
                </a:solidFill>
                <a:latin typeface="Calibri"/>
              </a:rPr>
              <a:t> − C</a:t>
            </a:r>
            <a:r>
              <a:rPr sz="2000" b="0" baseline="-25000">
                <a:solidFill>
                  <a:srgbClr val="212A33"/>
                </a:solidFill>
                <a:latin typeface="Calibri"/>
              </a:rPr>
              <a:t>d</a:t>
            </a:r>
            <a:r>
              <a:rPr sz="2000" b="0">
                <a:solidFill>
                  <a:srgbClr val="212A33"/>
                </a:solidFill>
                <a:latin typeface="Calibri"/>
              </a:rPr>
              <a:t>, i.e. while the future-share motive is weak; with a strong motive openness wins even at k = 0 (panel b).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212A33"/>
                </a:solidFill>
                <a:latin typeface="Calibri"/>
              </a:rPr>
              <a:t>Interpretation.  </a:t>
            </a:r>
            <a:r>
              <a:rPr sz="2000" b="0">
                <a:solidFill>
                  <a:srgbClr val="212A33"/>
                </a:solidFill>
                <a:latin typeface="Calibri"/>
              </a:rPr>
              <a:t>A prize too small buys no disclosure; one that pays for openness but not for cost buys copies, not capability; only a prize covering both keeps a live source.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212A33"/>
                </a:solidFill>
                <a:latin typeface="Calibri"/>
              </a:rPr>
              <a:t>Verification.  </a:t>
            </a:r>
            <a:r>
              <a:rPr sz="2000" b="0">
                <a:solidFill>
                  <a:srgbClr val="212A33"/>
                </a:solidFill>
                <a:latin typeface="Calibri"/>
              </a:rPr>
              <a:t>Cells and states are recomputed from scratch in the checker, independently of the symbolic derivation; an interactive page lets a reader move the parameters and watch the winning cell flip.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212A33"/>
                </a:solidFill>
                <a:latin typeface="Calibri"/>
              </a:rPr>
              <a:t>Runs.  </a:t>
            </a:r>
            <a:r>
              <a:rPr sz="2000" b="0">
                <a:solidFill>
                  <a:srgbClr val="212A33"/>
                </a:solidFill>
                <a:latin typeface="Calibri"/>
              </a:rPr>
              <a:t>Paying for openness alone fills the market with imitation and dries up the sources; paying per unit of compute turns it back to original release (sources: 0.04 → 0.95); capping the prize undoes that, and with the future-share motive opening pays only for m ∈ (0.101, 1.519). Fresh run: seed 206. Copying a copy adds no capability, so mutual imitation burns compute while capability decays — yet some imitation is still efficient, because it stops every firm from re-deriving the same result. Parameters are illustrative, not estimated.</a:t>
            </a:r>
          </a:p>
        </p:txBody>
      </p:sp>
      <p:sp>
        <p:nvSpPr>
          <p:cNvPr id="31" name="impact-title">
            <a:extLst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noGrp="1"/>
          </p:cNvSpPr>
          <p:nvPr/>
        </p:nvSpPr>
        <p:spPr>
          <a:xfrm>
            <a:off x="30421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4650" b="1"/>
              <a:t>03   Merits · Impacts · Roadmap</a:t>
            </a:r>
          </a:p>
        </p:txBody>
      </p:sp>
      <p:sp>
        <p:nvSpPr>
          <p:cNvPr id="32" name="impact-title-rule">
            <a:extLst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noGrp="1"/>
          </p:cNvSpPr>
          <p:nvPr/>
        </p:nvSpPr>
        <p:spPr>
          <a:xfrm>
            <a:off x="30421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</p:sp>
      <p:sp>
        <p:nvSpPr>
          <p:cNvPr id="33" name="real-world-heading">
            <a:extLst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noGrp="1"/>
          </p:cNvSpPr>
          <p:nvPr/>
        </p:nvSpPr>
        <p:spPr>
          <a:xfrm>
            <a:off x="30421500" y="111442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3375" b="1"/>
              <a:t>Intellectual Merits — three closest papers</a:t>
            </a:r>
          </a:p>
        </p:txBody>
      </p:sp>
      <p:sp>
        <p:nvSpPr>
          <p:cNvPr id="34" name="real-world">
            <a:extLst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noGrp="1"/>
          </p:cNvSpPr>
          <p:nvPr/>
        </p:nvSpPr>
        <p:spPr>
          <a:xfrm>
            <a:off x="30421500" y="11906250"/>
            <a:ext cx="11049000" cy="3571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2120" b="1"/>
              <a:t>Qiu et al. (2025) — openness regulation; we inherit openness as a strategic choice but separate original training from distillation.</a:t>
            </a:r>
          </a:p>
          <a:p>
            <a:r>
              <a:rPr sz="2120" b="1"/>
              <a:t>Xu et al. (2025) — openness, competition, governance; we inherit the subsidy framing but index the reward to compute.</a:t>
            </a:r>
          </a:p>
          <a:p>
            <a:r>
              <a:rPr sz="2120" b="1"/>
              <a:t>Habibi (2025) — why firms open-source; we inherit the future-share F(m) but compare flat vs. compute-indexed rewards.</a:t>
            </a:r>
          </a:p>
          <a:p>
            <a:r>
              <a:rPr sz="2120" b="1"/>
              <a:t>Distinct: the four-decision structure, the compute index, the three market states. Evidence: analytical + simulation. Model-based findings, not real-firm effects.</a:t>
            </a:r>
          </a:p>
        </p:txBody>
      </p:sp>
      <p:sp>
        <p:nvSpPr>
          <p:cNvPr id="35" name="interdisciplinary-heading">
            <a:extLst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noGrp="1"/>
          </p:cNvSpPr>
          <p:nvPr/>
        </p:nvSpPr>
        <p:spPr>
          <a:xfrm>
            <a:off x="30421500" y="1581150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3375" b="1"/>
              <a:t>Practical Impacts — SDG 9.5 · 10.2</a:t>
            </a:r>
          </a:p>
        </p:txBody>
      </p:sp>
      <p:sp>
        <p:nvSpPr>
          <p:cNvPr id="36" name="interdisciplinary">
            <a:extLst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noGrp="1"/>
          </p:cNvSpPr>
          <p:nvPr/>
        </p:nvSpPr>
        <p:spPr>
          <a:xfrm>
            <a:off x="30421500" y="16573500"/>
            <a:ext cx="11049000" cy="523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2200" b="1"/>
              <a:t>Mechanism: tie open-model subsidies to audited training compute.</a:t>
            </a:r>
          </a:p>
          <a:p>
            <a:r>
              <a:rPr sz="2200" b="1"/>
              <a:t>Stakeholders: labs, smaller developers, users, taxpayers, the agency.</a:t>
            </a:r>
          </a:p>
          <a:p>
            <a:r>
              <a:rPr sz="2200" b="1"/>
              <a:t>Indicator: original-source releases per unit of public spending.</a:t>
            </a:r>
          </a:p>
          <a:p>
            <a:r>
              <a:rPr sz="2200" b="1"/>
              <a:t>Baseline (simulated): flat reward → 4% of prize reaches sources (484/source); indexed → 98% (18.6/source).</a:t>
            </a:r>
          </a:p>
          <a:p>
            <a:r>
              <a:rPr sz="2200" b="1"/>
              <a:t>Payment (k=4): imitator cost C_d=1.44 → reward kE_d=3.94; innovator cost C_n=5.67 → reward kE_n=18.52; total public spending ≈ 354,763.</a:t>
            </a:r>
          </a:p>
          <a:p>
            <a:r>
              <a:rPr sz="2200" b="1"/>
              <a:t>Risks: misreported compute, duplication, crowding out distillation.</a:t>
            </a:r>
          </a:p>
          <a:p>
            <a:r>
              <a:rPr sz="2200" b="1"/>
              <a:t>Safeguards: audit, capped pilot, publish results, revise or stop.</a:t>
            </a:r>
          </a:p>
          <a:p>
            <a:r>
              <a:rPr sz="2200" b="1"/>
              <a:t>Intended benefit, not yet demonstrated.</a:t>
            </a:r>
          </a:p>
        </p:txBody>
      </p:sp>
      <p:sp>
        <p:nvSpPr>
          <p:cNvPr id="37" name="limits-heading">
            <a:extLst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noGrp="1"/>
          </p:cNvSpPr>
          <p:nvPr/>
        </p:nvSpPr>
        <p:spPr>
          <a:xfrm>
            <a:off x="30421500" y="221932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3375" b="1"/>
              <a:t>Future Research Roadmap</a:t>
            </a:r>
          </a:p>
        </p:txBody>
      </p:sp>
      <p:sp>
        <p:nvSpPr>
          <p:cNvPr id="38" name="limits">
            <a:extLst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noGrp="1"/>
          </p:cNvSpPr>
          <p:nvPr/>
        </p:nvSpPr>
        <p:spPr>
          <a:xfrm>
            <a:off x="30421500" y="22955250"/>
            <a:ext cx="11049000" cy="2619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2200" b="1"/>
              <a:t>Limitation: illustrative parameters, simulated firms, manipulable compute.</a:t>
            </a:r>
          </a:p>
          <a:p>
            <a:r>
              <a:rPr sz="2200" b="1"/>
              <a:t>Economics: which reward raises sources/$? — preregistered policy pilot.</a:t>
            </a:r>
          </a:p>
          <a:p>
            <a:r>
              <a:rPr sz="2200" b="1"/>
              <a:t>Computer science: can original compute be verified? — provenance logs + adversarial benchmarks.</a:t>
            </a:r>
          </a:p>
          <a:p>
            <a:r>
              <a:rPr sz="2200" b="1"/>
              <a:t>Behavioral: how do firms adapt over rounds? — repeated-choice experiments.</a:t>
            </a:r>
          </a:p>
          <a:p>
            <a:r>
              <a:rPr sz="2200" b="1"/>
              <a:t>First task: an auditable training measure.</a:t>
            </a:r>
          </a:p>
        </p:txBody>
      </p:sp>
      <p:sp>
        <p:nvSpPr>
          <p:cNvPr id="39" name="dates">
            <a:extLst>
              <a:ext uri="{FF2B5EF4-FFF2-40B4-BE49-F238E27FC236}">
                <a16:creationId xmlns:a16="http://schemas.microsoft.com/office/drawing/2014/main" id="{EA157D18-CC9B-4A0B-91A5-3BE26B8F384A}"/>
              </a:ext>
            </a:extLst>
          </p:cNvPr>
          <p:cNvSpPr>
            <a:spLocks noGrp="1"/>
          </p:cNvSpPr>
          <p:nvPr/>
        </p:nvSpPr>
        <p:spPr>
          <a:xfrm>
            <a:off x="30421500" y="25812750"/>
            <a:ext cx="11049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2550" b="1"/>
              <a:t>OCT 12  duet defense ·  OCT 14  roundtable ·  OCT 21  final</a:t>
            </a:r>
          </a:p>
        </p:txBody>
      </p:sp>
      <p:sp>
        <p:nvSpPr>
          <p:cNvPr id="40" name="footer-rule">
            <a:extLst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noGrp="1"/>
          </p:cNvSpPr>
          <p:nvPr/>
        </p:nvSpPr>
        <p:spPr>
          <a:xfrm>
            <a:off x="1333500" y="27527250"/>
            <a:ext cx="40137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</p:sp>
      <p:sp>
        <p:nvSpPr>
          <p:cNvPr id="41" name="ack-heading">
            <a:extLst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noGrp="1"/>
          </p:cNvSpPr>
          <p:nvPr/>
        </p:nvSpPr>
        <p:spPr>
          <a:xfrm>
            <a:off x="1333500" y="2781300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r>
              <a:rPr sz="3375" b="1"/>
              <a:t>Acknowledgments &amp; contributions</a:t>
            </a:r>
          </a:p>
        </p:txBody>
      </p:sp>
      <p:sp>
        <p:nvSpPr>
          <p:cNvPr id="42" name="ack">
            <a:extLst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noGrp="1"/>
          </p:cNvSpPr>
          <p:nvPr/>
        </p:nvSpPr>
        <p:spPr>
          <a:xfrm>
            <a:off x="1333500" y="28479750"/>
            <a:ext cx="1104900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800" b="0"/>
              <a:t>Thanks to Prof. Luyao Zhang; Prof. Kenneth S. (Ken) Rogerson (Sept 7, 2026 workshop discussant); Han Zhang; reviewers Mustafa Ayub Khan, Jiayang Sun, Temur Akhtamjonov, Xuantong Fu, Feiyu Li; Tencent's Shanghai office; the Shanghai Science and Technology Museum; and the COMSCI/ECON 206 community.</a:t>
            </a:r>
          </a:p>
          <a:p>
            <a:r>
              <a:rPr sz="800" b="0"/>
              <a:t>Zhengjun He: compute-indexed reward idea, market-competition model, simulation and verification. Yichen Shen: three-question framing, Hugging Face Space, paper/poster consistency. AI assistance disclosed in the paper.</a:t>
            </a:r>
          </a:p>
        </p:txBody>
      </p:sp>
      <p:sp>
        <p:nvSpPr>
          <p:cNvPr id="43" name="references-heading">
            <a:extLst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noGrp="1"/>
          </p:cNvSpPr>
          <p:nvPr/>
        </p:nvSpPr>
        <p:spPr>
          <a:xfrm>
            <a:off x="13335000" y="27813000"/>
            <a:ext cx="14192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noGrp="1"/>
          </p:cNvSpPr>
          <p:nvPr/>
        </p:nvSpPr>
        <p:spPr>
          <a:xfrm>
            <a:off x="13335120" y="28479600"/>
            <a:ext cx="16704000" cy="1285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900" b="1"/>
              <a:t>[1] Qiu, T., Laufer, B., Kleinberg, J. &amp; Heidari, H. (2025). Modeling the Economic Impacts of AI Openness Regulation. NeurIPS 2025. arXiv:2507.14193 · doi:10.52202/085713-1246</a:t>
            </a:r>
          </a:p>
          <a:p>
            <a:r>
              <a:rPr sz="900" b="1"/>
              <a:t>[2] Xu, F., Wang, X., Chen, W. &amp; Xie, K. (2025). The Economics of AI Foundation Models. arXiv:2510.15200 · doi:10.2139/ssrn.4999355</a:t>
            </a:r>
          </a:p>
          <a:p>
            <a:r>
              <a:rPr sz="900" b="1"/>
              <a:t>[3] Habibi, M. (2025). Open Sourcing GPTs. arXiv:2501.11581</a:t>
            </a:r>
          </a:p>
        </p:txBody>
      </p:sp>
      <p:sp>
        <p:nvSpPr>
          <p:cNvPr id="45" name="access-heading">
            <a:extLst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noGrp="1"/>
          </p:cNvSpPr>
          <p:nvPr/>
        </p:nvSpPr>
        <p:spPr>
          <a:xfrm>
            <a:off x="30421500" y="27813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noGrp="1"/>
          </p:cNvSpPr>
          <p:nvPr/>
        </p:nvSpPr>
        <p:spPr>
          <a:xfrm>
            <a:off x="30421500" y="28384500"/>
            <a:ext cx="809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900" b="1"/>
              <a:t>Hugging Face: huggingface.co/spaces/dku-comsci-econ206-2026/FP4_PS2</a:t>
            </a:r>
          </a:p>
          <a:p>
            <a:r>
              <a:rPr sz="900" b="1"/>
              <a:t>GitHub: github.com/dku-comsci-econ206-Autumn2026/PS2-FP4-CapabilityTransfer</a:t>
            </a:r>
          </a:p>
          <a:p>
            <a:r>
              <a:rPr sz="900" b="1"/>
              <a:t>Commit a38a684  ·  MIT licence</a:t>
            </a:r>
          </a:p>
        </p:txBody>
      </p:sp>
      <p:sp>
        <p:nvSpPr>
          <p:cNvPr id="51" name="format-note">
            <a:extLst>
              <a:ext uri="{FF2B5EF4-FFF2-40B4-BE49-F238E27FC236}">
                <a16:creationId xmlns:a16="http://schemas.microsoft.com/office/drawing/2014/main" id="{49DEC60E-E378-41A7-B1C9-EC4712C55A58}"/>
              </a:ext>
            </a:extLst>
          </p:cNvPr>
          <p:cNvSpPr>
            <a:spLocks noGrp="1"/>
          </p:cNvSpPr>
          <p:nvPr/>
        </p:nvSpPr>
        <p:spPr>
          <a:xfrm>
            <a:off x="1333500" y="29813250"/>
            <a:ext cx="4013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>
            <a:noAutofit/>
          </a:bodyPr>
          <a:lstStyle/>
          <a:p>
            <a:r>
              <a:rPr sz="1950" b="0"/>
              <a:t>A0 landscape · editable PPTX + PDF · commit poster/final-poster.png and final-poster.pdf to GitHub root README</a:t>
            </a:r>
          </a:p>
        </p:txBody>
      </p:sp>
      <p:sp>
        <p:nvSpPr>
          <p:cNvPr id="59" name="fig1-colhdr-1"/>
          <p:cNvSpPr/>
          <p:nvPr/>
        </p:nvSpPr>
        <p:spPr>
          <a:xfrm>
            <a:off x="15084000" y="11880000"/>
            <a:ext cx="7074000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Imitate · cheap (C</a:t>
            </a:r>
            <a:r>
              <a:rPr sz="2400" b="1" baseline="-25000">
                <a:solidFill>
                  <a:srgbClr val="FFFFFF"/>
                </a:solidFill>
                <a:latin typeface="Calibri"/>
              </a:rPr>
              <a:t>d</a:t>
            </a:r>
            <a:r>
              <a:rPr sz="2400" b="1">
                <a:solidFill>
                  <a:srgbClr val="FFFFFF"/>
                </a:solidFill>
                <a:latin typeface="Calibri"/>
              </a:rPr>
              <a:t>, E</a:t>
            </a:r>
            <a:r>
              <a:rPr sz="2400" b="1" baseline="-25000">
                <a:solidFill>
                  <a:srgbClr val="FFFFFF"/>
                </a:solidFill>
                <a:latin typeface="Calibri"/>
              </a:rPr>
              <a:t>d</a:t>
            </a:r>
            <a:r>
              <a:rPr sz="2400" b="1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60" name="fig1-colhdr-2"/>
          <p:cNvSpPr/>
          <p:nvPr/>
        </p:nvSpPr>
        <p:spPr>
          <a:xfrm>
            <a:off x="22158000" y="11880000"/>
            <a:ext cx="7074000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Innovate · costly (C</a:t>
            </a:r>
            <a:r>
              <a:rPr sz="2400" b="1" baseline="-25000">
                <a:solidFill>
                  <a:srgbClr val="FFFFFF"/>
                </a:solidFill>
                <a:latin typeface="Calibri"/>
              </a:rPr>
              <a:t>n</a:t>
            </a:r>
            <a:r>
              <a:rPr sz="2400" b="1">
                <a:solidFill>
                  <a:srgbClr val="FFFFFF"/>
                </a:solidFill>
                <a:latin typeface="Calibri"/>
              </a:rPr>
              <a:t>, E</a:t>
            </a:r>
            <a:r>
              <a:rPr sz="2400" b="1" baseline="-25000">
                <a:solidFill>
                  <a:srgbClr val="FFFFFF"/>
                </a:solidFill>
                <a:latin typeface="Calibri"/>
              </a:rPr>
              <a:t>n</a:t>
            </a:r>
            <a:r>
              <a:rPr sz="2400" b="1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61" name="fig1-rowhdr-0"/>
          <p:cNvSpPr/>
          <p:nvPr/>
        </p:nvSpPr>
        <p:spPr>
          <a:xfrm>
            <a:off x="13680000" y="12420000"/>
            <a:ext cx="1404000" cy="1530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2400" rIns="54000" bIns="324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Secrecy</a:t>
            </a:r>
          </a:p>
        </p:txBody>
      </p:sp>
      <p:sp>
        <p:nvSpPr>
          <p:cNvPr id="62" name="fig1-rowhdr-1"/>
          <p:cNvSpPr/>
          <p:nvPr/>
        </p:nvSpPr>
        <p:spPr>
          <a:xfrm>
            <a:off x="13680000" y="14057999"/>
            <a:ext cx="1404000" cy="1530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2400" rIns="54000" bIns="324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Openness</a:t>
            </a:r>
          </a:p>
        </p:txBody>
      </p:sp>
      <p:sp>
        <p:nvSpPr>
          <p:cNvPr id="63" name="fig1-cell-①"/>
          <p:cNvSpPr/>
          <p:nvPr/>
        </p:nvSpPr>
        <p:spPr>
          <a:xfrm>
            <a:off x="15084000" y="12420000"/>
            <a:ext cx="6994800" cy="1530000"/>
          </a:xfrm>
          <a:prstGeom prst="rect">
            <a:avLst/>
          </a:prstGeom>
          <a:solidFill>
            <a:srgbClr val="F8E8EA"/>
          </a:solidFill>
          <a:ln w="28575">
            <a:solidFill>
              <a:srgbClr val="A619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1200" tIns="90720" rIns="151200" bIns="90720" rtlCol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①  Secrecy + imitation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Free-rider</a:t>
            </a:r>
            <a:r>
              <a:rPr sz="2300" b="0">
                <a:solidFill>
                  <a:srgbClr val="212A33"/>
                </a:solidFill>
                <a:latin typeface="Calibri"/>
              </a:rPr>
              <a:t> — takes, gives nothing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π − C</a:t>
            </a:r>
            <a:r>
              <a:rPr sz="2300" b="0" baseline="-25000">
                <a:solidFill>
                  <a:srgbClr val="212A33"/>
                </a:solidFill>
                <a:latin typeface="Calibri"/>
              </a:rPr>
              <a:t>d</a:t>
            </a:r>
          </a:p>
        </p:txBody>
      </p:sp>
      <p:sp>
        <p:nvSpPr>
          <p:cNvPr id="64" name="fig1-cell-②"/>
          <p:cNvSpPr/>
          <p:nvPr/>
        </p:nvSpPr>
        <p:spPr>
          <a:xfrm>
            <a:off x="15084000" y="14057999"/>
            <a:ext cx="6994800" cy="1530000"/>
          </a:xfrm>
          <a:prstGeom prst="rect">
            <a:avLst/>
          </a:prstGeom>
          <a:solidFill>
            <a:srgbClr val="EEF1F3"/>
          </a:solidFill>
          <a:ln w="28575">
            <a:solidFill>
              <a:srgbClr val="56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1200" tIns="90720" rIns="151200" bIns="90720" rtlCol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②  Openness + imitation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Passer-on</a:t>
            </a:r>
            <a:r>
              <a:rPr sz="2300" b="0">
                <a:solidFill>
                  <a:srgbClr val="212A33"/>
                </a:solidFill>
                <a:latin typeface="Calibri"/>
              </a:rPr>
              <a:t> — takes and gives back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−C</a:t>
            </a:r>
            <a:r>
              <a:rPr sz="2300" b="1" baseline="-25000">
                <a:solidFill>
                  <a:srgbClr val="212A33"/>
                </a:solidFill>
                <a:latin typeface="Calibri"/>
              </a:rPr>
              <a:t>d</a:t>
            </a:r>
            <a:r>
              <a:rPr sz="2300" b="1">
                <a:solidFill>
                  <a:srgbClr val="212A33"/>
                </a:solidFill>
                <a:latin typeface="Calibri"/>
              </a:rPr>
              <a:t> + kE</a:t>
            </a:r>
            <a:r>
              <a:rPr sz="2300" b="1" baseline="-25000">
                <a:solidFill>
                  <a:srgbClr val="212A33"/>
                </a:solidFill>
                <a:latin typeface="Calibri"/>
              </a:rPr>
              <a:t>d</a:t>
            </a:r>
            <a:r>
              <a:rPr sz="2300" b="1">
                <a:solidFill>
                  <a:srgbClr val="212A33"/>
                </a:solidFill>
                <a:latin typeface="Calibri"/>
              </a:rPr>
              <a:t> − L + βφK·m/(m+m₀)</a:t>
            </a:r>
          </a:p>
        </p:txBody>
      </p:sp>
      <p:sp>
        <p:nvSpPr>
          <p:cNvPr id="65" name="fig1-cell-③"/>
          <p:cNvSpPr/>
          <p:nvPr/>
        </p:nvSpPr>
        <p:spPr>
          <a:xfrm>
            <a:off x="22158000" y="12420000"/>
            <a:ext cx="6994800" cy="1530000"/>
          </a:xfrm>
          <a:prstGeom prst="rect">
            <a:avLst/>
          </a:prstGeom>
          <a:solidFill>
            <a:srgbClr val="EEF1F3"/>
          </a:solidFill>
          <a:ln w="285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1200" tIns="90720" rIns="151200" bIns="90720" rtlCol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③  Secrecy + innovation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Monopolist</a:t>
            </a:r>
            <a:r>
              <a:rPr sz="2300" b="0">
                <a:solidFill>
                  <a:srgbClr val="212A33"/>
                </a:solidFill>
                <a:latin typeface="Calibri"/>
              </a:rPr>
              <a:t> — builds, keeps it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π − C</a:t>
            </a:r>
            <a:r>
              <a:rPr sz="2300" b="0" baseline="-25000">
                <a:solidFill>
                  <a:srgbClr val="212A33"/>
                </a:solidFill>
                <a:latin typeface="Calibri"/>
              </a:rPr>
              <a:t>n</a:t>
            </a:r>
          </a:p>
        </p:txBody>
      </p:sp>
      <p:sp>
        <p:nvSpPr>
          <p:cNvPr id="66" name="fig1-cell-④"/>
          <p:cNvSpPr/>
          <p:nvPr/>
        </p:nvSpPr>
        <p:spPr>
          <a:xfrm>
            <a:off x="22158000" y="14057999"/>
            <a:ext cx="6994800" cy="1530000"/>
          </a:xfrm>
          <a:prstGeom prst="rect">
            <a:avLst/>
          </a:prstGeom>
          <a:solidFill>
            <a:srgbClr val="E6F0EA"/>
          </a:solidFill>
          <a:ln w="28575">
            <a:solidFill>
              <a:srgbClr val="006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1200" tIns="90720" rIns="151200" bIns="90720" rtlCol="0" anchor="ctr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④  Openness + innovation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Source</a:t>
            </a:r>
            <a:r>
              <a:rPr sz="2300" b="0">
                <a:solidFill>
                  <a:srgbClr val="212A33"/>
                </a:solidFill>
                <a:latin typeface="Calibri"/>
              </a:rPr>
              <a:t> — builds, and shares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−C</a:t>
            </a:r>
            <a:r>
              <a:rPr sz="2300" b="1" baseline="-25000">
                <a:solidFill>
                  <a:srgbClr val="212A33"/>
                </a:solidFill>
                <a:latin typeface="Calibri"/>
              </a:rPr>
              <a:t>n</a:t>
            </a:r>
            <a:r>
              <a:rPr sz="2300" b="1">
                <a:solidFill>
                  <a:srgbClr val="212A33"/>
                </a:solidFill>
                <a:latin typeface="Calibri"/>
              </a:rPr>
              <a:t> + kE</a:t>
            </a:r>
            <a:r>
              <a:rPr sz="2300" b="1" baseline="-25000">
                <a:solidFill>
                  <a:srgbClr val="212A33"/>
                </a:solidFill>
                <a:latin typeface="Calibri"/>
              </a:rPr>
              <a:t>n</a:t>
            </a:r>
            <a:r>
              <a:rPr sz="2300" b="1">
                <a:solidFill>
                  <a:srgbClr val="212A33"/>
                </a:solidFill>
                <a:latin typeface="Calibri"/>
              </a:rPr>
              <a:t> − L + βφK·m/(m+m₀)</a:t>
            </a:r>
          </a:p>
        </p:txBody>
      </p:sp>
      <p:sp>
        <p:nvSpPr>
          <p:cNvPr id="67" name="fig2-hdr-0"/>
          <p:cNvSpPr/>
          <p:nvPr/>
        </p:nvSpPr>
        <p:spPr>
          <a:xfrm>
            <a:off x="13680000" y="18144000"/>
            <a:ext cx="4968000" cy="486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2400" rIns="54000" bIns="324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Combination</a:t>
            </a:r>
          </a:p>
        </p:txBody>
      </p:sp>
      <p:sp>
        <p:nvSpPr>
          <p:cNvPr id="68" name="fig2-hdr-1"/>
          <p:cNvSpPr/>
          <p:nvPr/>
        </p:nvSpPr>
        <p:spPr>
          <a:xfrm>
            <a:off x="18648000" y="18144000"/>
            <a:ext cx="3096000" cy="486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2400" rIns="54000" bIns="324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Private desire</a:t>
            </a:r>
          </a:p>
        </p:txBody>
      </p:sp>
      <p:sp>
        <p:nvSpPr>
          <p:cNvPr id="69" name="fig2-hdr-2"/>
          <p:cNvSpPr/>
          <p:nvPr/>
        </p:nvSpPr>
        <p:spPr>
          <a:xfrm>
            <a:off x="21744000" y="18144000"/>
            <a:ext cx="3096000" cy="486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2400" rIns="54000" bIns="324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Social desirability</a:t>
            </a:r>
          </a:p>
        </p:txBody>
      </p:sp>
      <p:sp>
        <p:nvSpPr>
          <p:cNvPr id="70" name="fig2-hdr-3"/>
          <p:cNvSpPr/>
          <p:nvPr/>
        </p:nvSpPr>
        <p:spPr>
          <a:xfrm>
            <a:off x="24840000" y="18144000"/>
            <a:ext cx="4392000" cy="486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2400" rIns="54000" bIns="324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Conflict</a:t>
            </a:r>
          </a:p>
        </p:txBody>
      </p:sp>
      <p:sp>
        <p:nvSpPr>
          <p:cNvPr id="71" name="fig2-c0-name"/>
          <p:cNvSpPr/>
          <p:nvPr/>
        </p:nvSpPr>
        <p:spPr>
          <a:xfrm>
            <a:off x="13680000" y="18630000"/>
            <a:ext cx="4968000" cy="522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86400" rIns="144000" bIns="864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2A33"/>
                </a:solidFill>
                <a:latin typeface="Calibri"/>
              </a:rPr>
              <a:t>①  Secrecy + imitation</a:t>
            </a:r>
          </a:p>
        </p:txBody>
      </p:sp>
      <p:sp>
        <p:nvSpPr>
          <p:cNvPr id="72" name="fig2-c0-privbox"/>
          <p:cNvSpPr/>
          <p:nvPr/>
        </p:nvSpPr>
        <p:spPr>
          <a:xfrm>
            <a:off x="18648000" y="18630000"/>
            <a:ext cx="3096000" cy="522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73" name="fig2-c0-priv-1"/>
          <p:cNvSpPr/>
          <p:nvPr/>
        </p:nvSpPr>
        <p:spPr>
          <a:xfrm>
            <a:off x="19025999" y="18781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fig2-c0-priv-2"/>
          <p:cNvSpPr/>
          <p:nvPr/>
        </p:nvSpPr>
        <p:spPr>
          <a:xfrm>
            <a:off x="19628999" y="18781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fig2-c0-priv-3"/>
          <p:cNvSpPr/>
          <p:nvPr/>
        </p:nvSpPr>
        <p:spPr>
          <a:xfrm>
            <a:off x="20232000" y="18781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fig2-c0-priv-4"/>
          <p:cNvSpPr/>
          <p:nvPr/>
        </p:nvSpPr>
        <p:spPr>
          <a:xfrm>
            <a:off x="20834999" y="18781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fig2-c0-socbox"/>
          <p:cNvSpPr/>
          <p:nvPr/>
        </p:nvSpPr>
        <p:spPr>
          <a:xfrm>
            <a:off x="21744000" y="18630000"/>
            <a:ext cx="3096000" cy="522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78" name="fig2-c0-soc-1"/>
          <p:cNvSpPr/>
          <p:nvPr/>
        </p:nvSpPr>
        <p:spPr>
          <a:xfrm>
            <a:off x="22122000" y="18781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fig2-c0-soc-2"/>
          <p:cNvSpPr/>
          <p:nvPr/>
        </p:nvSpPr>
        <p:spPr>
          <a:xfrm>
            <a:off x="22724999" y="18781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fig2-c0-soc-3"/>
          <p:cNvSpPr/>
          <p:nvPr/>
        </p:nvSpPr>
        <p:spPr>
          <a:xfrm>
            <a:off x="23328000" y="18781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fig2-c0-soc-4"/>
          <p:cNvSpPr/>
          <p:nvPr/>
        </p:nvSpPr>
        <p:spPr>
          <a:xfrm>
            <a:off x="23930999" y="18781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fig2-c0-conf"/>
          <p:cNvSpPr/>
          <p:nvPr/>
        </p:nvSpPr>
        <p:spPr>
          <a:xfrm>
            <a:off x="24840000" y="18630000"/>
            <a:ext cx="4392000" cy="522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18800" rIns="198000" bIns="1188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A6192E"/>
                </a:solidFill>
                <a:latin typeface="Calibri"/>
              </a:rPr>
              <a:t>←  Largest conflict</a:t>
            </a:r>
          </a:p>
        </p:txBody>
      </p:sp>
      <p:sp>
        <p:nvSpPr>
          <p:cNvPr id="83" name="fig2-c1-name"/>
          <p:cNvSpPr/>
          <p:nvPr/>
        </p:nvSpPr>
        <p:spPr>
          <a:xfrm>
            <a:off x="13680000" y="19152000"/>
            <a:ext cx="4968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86400" rIns="144000" bIns="864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2A33"/>
                </a:solidFill>
                <a:latin typeface="Calibri"/>
              </a:rPr>
              <a:t>③  Secrecy + innovation</a:t>
            </a:r>
          </a:p>
        </p:txBody>
      </p:sp>
      <p:sp>
        <p:nvSpPr>
          <p:cNvPr id="84" name="fig2-c1-privbox"/>
          <p:cNvSpPr/>
          <p:nvPr/>
        </p:nvSpPr>
        <p:spPr>
          <a:xfrm>
            <a:off x="18648000" y="19152000"/>
            <a:ext cx="3096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85" name="fig2-c1-priv-1"/>
          <p:cNvSpPr/>
          <p:nvPr/>
        </p:nvSpPr>
        <p:spPr>
          <a:xfrm>
            <a:off x="19025999" y="19303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fig2-c1-priv-2"/>
          <p:cNvSpPr/>
          <p:nvPr/>
        </p:nvSpPr>
        <p:spPr>
          <a:xfrm>
            <a:off x="19628999" y="19303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7" name="fig2-c1-priv-3"/>
          <p:cNvSpPr/>
          <p:nvPr/>
        </p:nvSpPr>
        <p:spPr>
          <a:xfrm>
            <a:off x="20232000" y="19303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fig2-c1-priv-4"/>
          <p:cNvSpPr/>
          <p:nvPr/>
        </p:nvSpPr>
        <p:spPr>
          <a:xfrm>
            <a:off x="20834999" y="19303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9" name="fig2-c1-socbox"/>
          <p:cNvSpPr/>
          <p:nvPr/>
        </p:nvSpPr>
        <p:spPr>
          <a:xfrm>
            <a:off x="21744000" y="19152000"/>
            <a:ext cx="3096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0" name="fig2-c1-soc-1"/>
          <p:cNvSpPr/>
          <p:nvPr/>
        </p:nvSpPr>
        <p:spPr>
          <a:xfrm>
            <a:off x="22122000" y="19303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fig2-c1-soc-2"/>
          <p:cNvSpPr/>
          <p:nvPr/>
        </p:nvSpPr>
        <p:spPr>
          <a:xfrm>
            <a:off x="22724999" y="19303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2" name="fig2-c1-soc-3"/>
          <p:cNvSpPr/>
          <p:nvPr/>
        </p:nvSpPr>
        <p:spPr>
          <a:xfrm>
            <a:off x="23328000" y="19303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3" name="fig2-c1-soc-4"/>
          <p:cNvSpPr/>
          <p:nvPr/>
        </p:nvSpPr>
        <p:spPr>
          <a:xfrm>
            <a:off x="23930999" y="19303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4" name="fig2-c1-conf"/>
          <p:cNvSpPr/>
          <p:nvPr/>
        </p:nvSpPr>
        <p:spPr>
          <a:xfrm>
            <a:off x="24840000" y="19152000"/>
            <a:ext cx="4392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18800" rIns="198000" bIns="1188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56616B"/>
                </a:solidFill>
                <a:latin typeface="Calibri"/>
              </a:rPr>
              <a:t>←  Small conflict</a:t>
            </a:r>
          </a:p>
        </p:txBody>
      </p:sp>
      <p:sp>
        <p:nvSpPr>
          <p:cNvPr id="95" name="fig2-c2-name"/>
          <p:cNvSpPr/>
          <p:nvPr/>
        </p:nvSpPr>
        <p:spPr>
          <a:xfrm>
            <a:off x="13680000" y="19674000"/>
            <a:ext cx="4968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86400" rIns="144000" bIns="864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2A33"/>
                </a:solidFill>
                <a:latin typeface="Calibri"/>
              </a:rPr>
              <a:t>②  Openness + imitation</a:t>
            </a:r>
          </a:p>
        </p:txBody>
      </p:sp>
      <p:sp>
        <p:nvSpPr>
          <p:cNvPr id="96" name="fig2-c2-privbox"/>
          <p:cNvSpPr/>
          <p:nvPr/>
        </p:nvSpPr>
        <p:spPr>
          <a:xfrm>
            <a:off x="18648000" y="19674000"/>
            <a:ext cx="3096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7" name="fig2-c2-priv-1"/>
          <p:cNvSpPr/>
          <p:nvPr/>
        </p:nvSpPr>
        <p:spPr>
          <a:xfrm>
            <a:off x="19025999" y="19825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8" name="fig2-c2-priv-2"/>
          <p:cNvSpPr/>
          <p:nvPr/>
        </p:nvSpPr>
        <p:spPr>
          <a:xfrm>
            <a:off x="19628999" y="19825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9" name="fig2-c2-priv-3"/>
          <p:cNvSpPr/>
          <p:nvPr/>
        </p:nvSpPr>
        <p:spPr>
          <a:xfrm>
            <a:off x="20232000" y="19825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fig2-c2-priv-4"/>
          <p:cNvSpPr/>
          <p:nvPr/>
        </p:nvSpPr>
        <p:spPr>
          <a:xfrm>
            <a:off x="20834999" y="19825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fig2-c2-socbox"/>
          <p:cNvSpPr/>
          <p:nvPr/>
        </p:nvSpPr>
        <p:spPr>
          <a:xfrm>
            <a:off x="21744000" y="19674000"/>
            <a:ext cx="3096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02" name="fig2-c2-soc-1"/>
          <p:cNvSpPr/>
          <p:nvPr/>
        </p:nvSpPr>
        <p:spPr>
          <a:xfrm>
            <a:off x="22122000" y="19825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" name="fig2-c2-soc-2"/>
          <p:cNvSpPr/>
          <p:nvPr/>
        </p:nvSpPr>
        <p:spPr>
          <a:xfrm>
            <a:off x="22724999" y="19825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fig2-c2-soc-3"/>
          <p:cNvSpPr/>
          <p:nvPr/>
        </p:nvSpPr>
        <p:spPr>
          <a:xfrm>
            <a:off x="23328000" y="19825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5" name="fig2-c2-soc-4"/>
          <p:cNvSpPr/>
          <p:nvPr/>
        </p:nvSpPr>
        <p:spPr>
          <a:xfrm>
            <a:off x="23930999" y="19825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fig2-c2-conf"/>
          <p:cNvSpPr/>
          <p:nvPr/>
        </p:nvSpPr>
        <p:spPr>
          <a:xfrm>
            <a:off x="24840000" y="19674000"/>
            <a:ext cx="4392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18800" rIns="198000" bIns="1188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56616B"/>
                </a:solidFill>
                <a:latin typeface="Calibri"/>
              </a:rPr>
              <a:t>←  Small conflict</a:t>
            </a:r>
          </a:p>
        </p:txBody>
      </p:sp>
      <p:sp>
        <p:nvSpPr>
          <p:cNvPr id="107" name="fig2-c3-name"/>
          <p:cNvSpPr/>
          <p:nvPr/>
        </p:nvSpPr>
        <p:spPr>
          <a:xfrm>
            <a:off x="13680000" y="20196000"/>
            <a:ext cx="4968000" cy="522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86400" rIns="144000" bIns="864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2A33"/>
                </a:solidFill>
                <a:latin typeface="Calibri"/>
              </a:rPr>
              <a:t>④  Openness + innovation</a:t>
            </a:r>
          </a:p>
        </p:txBody>
      </p:sp>
      <p:sp>
        <p:nvSpPr>
          <p:cNvPr id="108" name="fig2-c3-privbox"/>
          <p:cNvSpPr/>
          <p:nvPr/>
        </p:nvSpPr>
        <p:spPr>
          <a:xfrm>
            <a:off x="18648000" y="20196000"/>
            <a:ext cx="3096000" cy="522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09" name="fig2-c3-priv-1"/>
          <p:cNvSpPr/>
          <p:nvPr/>
        </p:nvSpPr>
        <p:spPr>
          <a:xfrm>
            <a:off x="19025999" y="20347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0" name="fig2-c3-priv-2"/>
          <p:cNvSpPr/>
          <p:nvPr/>
        </p:nvSpPr>
        <p:spPr>
          <a:xfrm>
            <a:off x="19628999" y="20347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1" name="fig2-c3-priv-3"/>
          <p:cNvSpPr/>
          <p:nvPr/>
        </p:nvSpPr>
        <p:spPr>
          <a:xfrm>
            <a:off x="20232000" y="20347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2" name="fig2-c3-priv-4"/>
          <p:cNvSpPr/>
          <p:nvPr/>
        </p:nvSpPr>
        <p:spPr>
          <a:xfrm>
            <a:off x="20834999" y="20347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3" name="fig2-c3-socbox"/>
          <p:cNvSpPr/>
          <p:nvPr/>
        </p:nvSpPr>
        <p:spPr>
          <a:xfrm>
            <a:off x="21744000" y="20196000"/>
            <a:ext cx="3096000" cy="522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14" name="fig2-c3-soc-1"/>
          <p:cNvSpPr/>
          <p:nvPr/>
        </p:nvSpPr>
        <p:spPr>
          <a:xfrm>
            <a:off x="22122000" y="20347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5" name="fig2-c3-soc-2"/>
          <p:cNvSpPr/>
          <p:nvPr/>
        </p:nvSpPr>
        <p:spPr>
          <a:xfrm>
            <a:off x="22724999" y="20347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6" name="fig2-c3-soc-3"/>
          <p:cNvSpPr/>
          <p:nvPr/>
        </p:nvSpPr>
        <p:spPr>
          <a:xfrm>
            <a:off x="23328000" y="20347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fig2-c3-soc-4"/>
          <p:cNvSpPr/>
          <p:nvPr/>
        </p:nvSpPr>
        <p:spPr>
          <a:xfrm>
            <a:off x="23930999" y="20347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8" name="fig2-c3-conf"/>
          <p:cNvSpPr/>
          <p:nvPr/>
        </p:nvSpPr>
        <p:spPr>
          <a:xfrm>
            <a:off x="24840000" y="20196000"/>
            <a:ext cx="4392000" cy="522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18800" rIns="198000" bIns="1188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06633"/>
                </a:solidFill>
                <a:latin typeface="Calibri"/>
              </a:rPr>
              <a:t>←  Largest conflict</a:t>
            </a:r>
          </a:p>
        </p:txBody>
      </p:sp>
      <p:sp>
        <p:nvSpPr>
          <p:cNvPr id="119" name="fig2-legend"/>
          <p:cNvSpPr txBox="1"/>
          <p:nvPr/>
        </p:nvSpPr>
        <p:spPr>
          <a:xfrm>
            <a:off x="13680000" y="20754000"/>
            <a:ext cx="15552000" cy="342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6616B"/>
                </a:solidFill>
                <a:latin typeface="Calibri"/>
              </a:rPr>
              <a:t>Dark red = private desire · green = social desirability (more squares = more wanted).</a:t>
            </a:r>
          </a:p>
        </p:txBody>
      </p:sp>
      <p:sp>
        <p:nvSpPr>
          <p:cNvPr id="120" name="fig2-ms-title"/>
          <p:cNvSpPr txBox="1"/>
          <p:nvPr/>
        </p:nvSpPr>
        <p:spPr>
          <a:xfrm>
            <a:off x="13680000" y="21132000"/>
            <a:ext cx="15552000" cy="468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3399"/>
                </a:solidFill>
                <a:latin typeface="Calibri"/>
              </a:rPr>
              <a:t>Three market states — the prize rate k decides which cell wins</a:t>
            </a:r>
          </a:p>
        </p:txBody>
      </p:sp>
      <p:sp>
        <p:nvSpPr>
          <p:cNvPr id="121" name="fig2-mshdr-0"/>
          <p:cNvSpPr/>
          <p:nvPr/>
        </p:nvSpPr>
        <p:spPr>
          <a:xfrm>
            <a:off x="13680000" y="21600000"/>
            <a:ext cx="4031999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Market state</a:t>
            </a:r>
          </a:p>
        </p:txBody>
      </p:sp>
      <p:sp>
        <p:nvSpPr>
          <p:cNvPr id="122" name="fig2-mshdr-1"/>
          <p:cNvSpPr/>
          <p:nvPr/>
        </p:nvSpPr>
        <p:spPr>
          <a:xfrm>
            <a:off x="17712000" y="21600000"/>
            <a:ext cx="3096000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Prize rate</a:t>
            </a:r>
          </a:p>
        </p:txBody>
      </p:sp>
      <p:sp>
        <p:nvSpPr>
          <p:cNvPr id="123" name="fig2-mshdr-2"/>
          <p:cNvSpPr/>
          <p:nvPr/>
        </p:nvSpPr>
        <p:spPr>
          <a:xfrm>
            <a:off x="20808000" y="21600000"/>
            <a:ext cx="4392000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2000" tIns="97200" rIns="162000" bIns="97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Composition of the market</a:t>
            </a:r>
          </a:p>
        </p:txBody>
      </p:sp>
      <p:sp>
        <p:nvSpPr>
          <p:cNvPr id="124" name="fig2-mshdr-3"/>
          <p:cNvSpPr/>
          <p:nvPr/>
        </p:nvSpPr>
        <p:spPr>
          <a:xfrm>
            <a:off x="25200000" y="21600000"/>
            <a:ext cx="4031999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43200" rIns="72000" bIns="432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125" name="fig2-ms0-0"/>
          <p:cNvSpPr/>
          <p:nvPr/>
        </p:nvSpPr>
        <p:spPr>
          <a:xfrm>
            <a:off x="13680000" y="22068000"/>
            <a:ext cx="4031999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108000" bIns="648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State ①  all secrecy</a:t>
            </a:r>
          </a:p>
        </p:txBody>
      </p:sp>
      <p:sp>
        <p:nvSpPr>
          <p:cNvPr id="126" name="fig2-ms0-1"/>
          <p:cNvSpPr/>
          <p:nvPr/>
        </p:nvSpPr>
        <p:spPr>
          <a:xfrm>
            <a:off x="17712000" y="22068000"/>
            <a:ext cx="3096000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108000" bIns="648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too small for disclosure</a:t>
            </a:r>
          </a:p>
        </p:txBody>
      </p:sp>
      <p:sp>
        <p:nvSpPr>
          <p:cNvPr id="127" name="fig2-ms0-2"/>
          <p:cNvSpPr/>
          <p:nvPr/>
        </p:nvSpPr>
        <p:spPr>
          <a:xfrm>
            <a:off x="20808000" y="22068000"/>
            <a:ext cx="4392000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2000" tIns="97200" rIns="162000" bIns="97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212A33"/>
                </a:solidFill>
                <a:latin typeface="Calibri"/>
              </a:rPr>
              <a:t>① dominates if βφK is small</a:t>
            </a:r>
          </a:p>
        </p:txBody>
      </p:sp>
      <p:sp>
        <p:nvSpPr>
          <p:cNvPr id="128" name="fig2-ms0-3"/>
          <p:cNvSpPr/>
          <p:nvPr/>
        </p:nvSpPr>
        <p:spPr>
          <a:xfrm>
            <a:off x="25200000" y="22068000"/>
            <a:ext cx="4031999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108000" bIns="648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6192E"/>
                </a:solidFill>
                <a:latin typeface="Calibri"/>
              </a:rPr>
              <a:t>monopoly price; no source</a:t>
            </a:r>
          </a:p>
        </p:txBody>
      </p:sp>
      <p:sp>
        <p:nvSpPr>
          <p:cNvPr id="129" name="fig2-ms1-0"/>
          <p:cNvSpPr/>
          <p:nvPr/>
        </p:nvSpPr>
        <p:spPr>
          <a:xfrm>
            <a:off x="13680000" y="22626000"/>
            <a:ext cx="4031999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108000" bIns="648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State ②  all imitation</a:t>
            </a:r>
          </a:p>
        </p:txBody>
      </p:sp>
      <p:sp>
        <p:nvSpPr>
          <p:cNvPr id="130" name="fig2-ms1-1"/>
          <p:cNvSpPr/>
          <p:nvPr/>
        </p:nvSpPr>
        <p:spPr>
          <a:xfrm>
            <a:off x="17712000" y="22626000"/>
            <a:ext cx="3096000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108000" bIns="648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disclosure, not innovation</a:t>
            </a:r>
          </a:p>
        </p:txBody>
      </p:sp>
      <p:sp>
        <p:nvSpPr>
          <p:cNvPr id="131" name="fig2-ms1-2"/>
          <p:cNvSpPr/>
          <p:nvPr/>
        </p:nvSpPr>
        <p:spPr>
          <a:xfrm>
            <a:off x="20808000" y="22626000"/>
            <a:ext cx="4392000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2000" tIns="97200" rIns="162000" bIns="97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212A33"/>
                </a:solidFill>
                <a:latin typeface="Calibri"/>
              </a:rPr>
              <a:t>② dominates — nobody innovates</a:t>
            </a:r>
          </a:p>
        </p:txBody>
      </p:sp>
      <p:sp>
        <p:nvSpPr>
          <p:cNvPr id="132" name="fig2-ms1-3"/>
          <p:cNvSpPr/>
          <p:nvPr/>
        </p:nvSpPr>
        <p:spPr>
          <a:xfrm>
            <a:off x="25200000" y="22626000"/>
            <a:ext cx="4031999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108000" bIns="648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6192E"/>
                </a:solidFill>
                <a:latin typeface="Calibri"/>
              </a:rPr>
              <a:t>no source is ever built</a:t>
            </a:r>
          </a:p>
        </p:txBody>
      </p:sp>
      <p:sp>
        <p:nvSpPr>
          <p:cNvPr id="133" name="fig2-ms2-0"/>
          <p:cNvSpPr/>
          <p:nvPr/>
        </p:nvSpPr>
        <p:spPr>
          <a:xfrm>
            <a:off x="13680000" y="23184000"/>
            <a:ext cx="4031999" cy="558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108000" bIns="648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State ③  healthy</a:t>
            </a:r>
          </a:p>
        </p:txBody>
      </p:sp>
      <p:sp>
        <p:nvSpPr>
          <p:cNvPr id="134" name="fig2-ms2-1"/>
          <p:cNvSpPr/>
          <p:nvPr/>
        </p:nvSpPr>
        <p:spPr>
          <a:xfrm>
            <a:off x="17712000" y="23184000"/>
            <a:ext cx="3096000" cy="558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108000" bIns="648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pays for both</a:t>
            </a:r>
          </a:p>
        </p:txBody>
      </p:sp>
      <p:sp>
        <p:nvSpPr>
          <p:cNvPr id="135" name="fig2-ms2-2"/>
          <p:cNvSpPr/>
          <p:nvPr/>
        </p:nvSpPr>
        <p:spPr>
          <a:xfrm>
            <a:off x="20808000" y="23184000"/>
            <a:ext cx="4392000" cy="558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2000" tIns="97200" rIns="162000" bIns="9720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212A33"/>
                </a:solidFill>
                <a:latin typeface="Calibri"/>
              </a:rPr>
              <a:t>④ wins; some secrecy survives</a:t>
            </a:r>
          </a:p>
        </p:txBody>
      </p:sp>
      <p:sp>
        <p:nvSpPr>
          <p:cNvPr id="136" name="fig2-ms2-3"/>
          <p:cNvSpPr/>
          <p:nvPr/>
        </p:nvSpPr>
        <p:spPr>
          <a:xfrm>
            <a:off x="25200000" y="23184000"/>
            <a:ext cx="4031999" cy="558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108000" bIns="648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6633"/>
                </a:solidFill>
                <a:latin typeface="Calibri"/>
              </a:rPr>
              <a:t>fair price and a live source</a:t>
            </a:r>
          </a:p>
        </p:txBody>
      </p:sp>
      <p:pic>
        <p:nvPicPr>
          <p:cNvPr id="137" name="qr-hf" descr="qr_h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0000" y="28188000"/>
            <a:ext cx="1062000" cy="1062000"/>
          </a:xfrm>
          <a:prstGeom prst="rect">
            <a:avLst/>
          </a:prstGeom>
        </p:spPr>
      </p:pic>
      <p:pic>
        <p:nvPicPr>
          <p:cNvPr id="138" name="qr-github" descr="qr_gith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58000" y="28188000"/>
            <a:ext cx="1062000" cy="1062000"/>
          </a:xfrm>
          <a:prstGeom prst="rect">
            <a:avLst/>
          </a:prstGeom>
        </p:spPr>
      </p:pic>
      <p:graphicFrame>
        <p:nvGraphicFramePr>
          <p:cNvPr id="900" name="poster-table2"/>
          <p:cNvGraphicFramePr/>
          <p:nvPr/>
        </p:nvGraphicFramePr>
        <p:xfrm>
          <a:off x="1333500" y="26873200"/>
          <a:ext cx="11049000" cy="960120"/>
        </p:xfrm>
        <a:graphic>
          <a:graphicData uri="http://schemas.openxmlformats.org/drawingml/2006/table">
            <a:tbl>
              <a:tblPr firstRow="1" bandRow="1"/>
              <a:tblGrid>
                <a:gridCol w="3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2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2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875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003399"/>
                          </a:solidFill>
                          <a:latin typeface="Calibri"/>
                        </a:rPr>
                        <a:t>reward rule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003399"/>
                          </a:solidFill>
                          <a:latin typeface="Calibri"/>
                        </a:rPr>
                        <a:t>(a) no motive, βφK = 0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003399"/>
                          </a:solidFill>
                          <a:latin typeface="Calibri"/>
                        </a:rPr>
                        <a:t>(b) motive on, βφK = 19.98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EE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750">
                <a:tc>
                  <a:txBody>
                    <a:bodyPr/>
                    <a:lstStyle/>
                    <a:p>
                      <a:pPr algn="l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none, k = 0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.96/.00/.04/.00 ①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.28/.68/.01/.03 ②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750">
                <a:tc>
                  <a:txBody>
                    <a:bodyPr/>
                    <a:lstStyle/>
                    <a:p>
                      <a:pPr algn="l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openness, R = 20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.11/.85/.00/.04 ②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.01/.95/.00/.04 ②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750">
                <a:tc>
                  <a:txBody>
                    <a:bodyPr/>
                    <a:lstStyle/>
                    <a:p>
                      <a:pPr algn="l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indexed, k = 4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.35/.00/.01/.64 ③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.03/.02/.00/.95 ③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750">
                <a:tc>
                  <a:txBody>
                    <a:bodyPr/>
                    <a:lstStyle/>
                    <a:p>
                      <a:pPr algn="l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indexed, capped, k = 12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.42/.54/.02/.03 ②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.03/.93/.00/.05 ②</a:t>
                      </a:r>
                    </a:p>
                  </a:txBody>
                  <a:tcPr marL="45720" marR="45720" marT="0" marB="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5" name="图片 24">
            <a:extLst>
              <a:ext uri="{FF2B5EF4-FFF2-40B4-BE49-F238E27FC236}">
                <a16:creationId xmlns:a16="http://schemas.microsoft.com/office/drawing/2014/main" id="{9A71A0D8-F146-5293-D605-DF5BD815B8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33742" y="19574130"/>
            <a:ext cx="2846228" cy="240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9821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2108</Words>
  <Application>Microsoft Office PowerPoint</Application>
  <DocSecurity>0</DocSecurity>
  <PresentationFormat>自定义</PresentationFormat>
  <Paragraphs>134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Peter He</cp:lastModifiedBy>
  <cp:revision>1</cp:revision>
  <dcterms:created xsi:type="dcterms:W3CDTF">2026-09-21T06:28:50Z</dcterms:created>
  <dcterms:modified xsi:type="dcterms:W3CDTF">2026-10-18T03:58:28Z</dcterms:modified>
</cp:coreProperties>
</file>