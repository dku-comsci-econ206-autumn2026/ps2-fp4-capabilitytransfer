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39c0d654973449a6" Type="http://schemas.openxmlformats.org/officeDocument/2006/relationships/officeDocument" Target="ppt/presentation.xml"/><Relationship Id="Raf8646115b7a4a14" Type="http://schemas.openxmlformats.org/officeDocument/2006/relationships/extended-properties" Target="docProps/app.xml"/><Relationship Id="Rc227d6a1c0b24116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0f120eac894cd0"/>
  </p:sldMasterIdLst>
  <p:notesMasterIdLst>
    <p:notesMasterId xmlns:r="http://schemas.openxmlformats.org/officeDocument/2006/relationships" r:id="R27e337629b6841b0"/>
  </p:notesMasterIdLst>
  <p:sldIdLst>
    <p:sldId xmlns:r="http://schemas.openxmlformats.org/officeDocument/2006/relationships" id="256" r:id="Rad379daf77304c3b"/>
  </p:sldIdLst>
  <p:sldSz cx="42804000" cy="30276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44ae248ea714d10" Type="http://schemas.openxmlformats.org/officeDocument/2006/relationships/theme" Target="theme/theme1.xml"/><Relationship Id="R27e337629b6841b0" Type="http://schemas.openxmlformats.org/officeDocument/2006/relationships/notesMaster" Target="notesMasters/notesMaster1.xml"/><Relationship Id="R290f120eac894cd0" Type="http://schemas.openxmlformats.org/officeDocument/2006/relationships/slideMaster" Target="slideMasters/slideMaster1.xml"/><Relationship Id="Ra8d6af2a90744aa4" Type="http://schemas.openxmlformats.org/officeDocument/2006/relationships/presProps" Target="presProps.xml"/><Relationship Id="Rad379daf77304c3b" Type="http://schemas.openxmlformats.org/officeDocument/2006/relationships/slide" Target="slides/slide1.xml"/><Relationship Id="Rba6de4ca7eb249e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c4211df3fc304409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3f273ef237f84647" Type="http://schemas.openxmlformats.org/officeDocument/2006/relationships/notesMaster" Target="../notesMasters/notesMaster1.xml"/><Relationship Id="Rc70b6bb2cd28494c" Type="http://schemas.openxmlformats.org/officeDocument/2006/relationships/slide" Target="../slides/slide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COMSCI/ECON 206 PS2 clean A0 poster template.</a:t>
            </a:r>
          </a:p>
          <a:p xmlns:a="http://schemas.openxmlformats.org/drawingml/2006/main">
            <a:r>
              <a:t>Brand guide: https://dku-web-admissions.s3.cn-north-1.amazonaws.com.cn/dkumain/wp-content/uploads/mainsite/2022/05/brand-guide-compressed_2021.pdf, linked from https://www.dukekunshan.edu.cn/media/. Guide pp. 5, 6, 12, 14, and 15 establish logo clear space/proportions, unchanged logo artwork, application colors #003399 and #006633 plus white, and Calibri as the office system font when InterstatePlus cannot be used. Official logo asset: https://www.dukekunshan.edu.cn/wp-content/uploads/2021/08/large_dku-Logo.png.</a:t>
            </a:r>
          </a:p>
          <a:p xmlns:a="http://schemas.openxmlformats.org/drawingml/2006/main">
            <a:r>
              <a:t>Calibri is specified in the editable PowerPoint. The exported PDF uses Carlito, a metric-compatible open-source substitute because Calibri is unavailable in the export environment. Re-export from PowerPoint with Calibri for institution-font-exact output.</a:t>
            </a:r>
          </a:p>
          <a:p xmlns:a="http://schemas.openxmlformats.org/drawingml/2006/main">
            <a:r>
              <a:t>Clean and annotated versions share all element positions. Keep A0 landscape 1189 x 841 mm, 100% print scale. Text and figure/QR placeholders are editable; preserve the embedded logo unchanged and keep at least half its height as clear space. Instructor belongs below authors, not in the author list. Replace all placeholders with actual work; distinguish observed results, inferences, and planned tests. QR codes are optional but full public URLs and tested access are required. References must be full and traceable; acknowledgments must name actual contributions and AI assistance. Sep 28: symposium, peer evaluation and real-world case impacts. Sep 30: final update. The PS1-style paper, LaTeX, and learning pathway are unchanged.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16604d2b0929458d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dfef0d23db94c8a" Type="http://schemas.openxmlformats.org/officeDocument/2006/relationships/theme" Target="theme/theme2.xml"/><Relationship Id="Rb72baf7da2724bc2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2baf7da2724b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9c1a31083f534aaa" Type="http://schemas.openxmlformats.org/officeDocument/2006/relationships/notesSlide" Target="../notesSlides/notesSlide1.xml"/><Relationship Id="Re47b6f5e6f7c46e5" Type="http://schemas.openxmlformats.org/officeDocument/2006/relationships/slideLayout" Target="../slideLayouts/slideLayout1.xml"/><Relationship Id="Re598f34444bc47b7" Type="http://schemas.openxmlformats.org/officeDocument/2006/relationships/image" Target="../media/image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top-brand-rule">
            <a:extLst xmlns:a="http://schemas.openxmlformats.org/drawingml/2006/main">
              <a:ext uri="{FF2B5EF4-FFF2-40B4-BE49-F238E27FC236}">
                <a16:creationId xmlns:a16="http://schemas.microsoft.com/office/drawing/2014/main" id="{FDACD238-30EA-433B-B9A8-2AB27062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80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-line">
            <a:extLst xmlns:a="http://schemas.openxmlformats.org/drawingml/2006/main">
              <a:ext uri="{FF2B5EF4-FFF2-40B4-BE49-F238E27FC236}">
                <a16:creationId xmlns:a16="http://schemas.microsoft.com/office/drawing/2014/main" id="{5806B552-CE06-4C40-BA14-45983C2D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81050"/>
            <a:ext cx="2886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r>
              <a:rPr sz="2775" b="1"/>
              <a:t>COMSCI / ECON 206   |   FINAL PROJECT   |   FALL 2026</a:t>
            </a:r>
          </a:p>
        </p:txBody>
      </p:sp>
      <p:sp>
        <p:nvSpPr>
          <p:cNvPr id="3" name="version">
            <a:extLst xmlns:a="http://schemas.openxmlformats.org/drawingml/2006/main">
              <a:ext uri="{FF2B5EF4-FFF2-40B4-BE49-F238E27FC236}">
                <a16:creationId xmlns:a16="http://schemas.microsoft.com/office/drawing/2014/main" id="{05588AA4-5EDB-4475-A143-90877DB1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120" y="5903999"/>
            <a:ext cx="9810720" cy="37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r>
              <a:rPr sz="2100" b="1"/>
              <a:t>FINAL · CAPABILITY-TRANSFER OPENNESS</a:t>
            </a:r>
          </a:p>
        </p:txBody>
      </p:sp>
      <p:sp>
        <p:nvSpPr>
          <p:cNvPr id="4" name="project-title">
            <a:extLst xmlns:a="http://schemas.openxmlformats.org/drawingml/2006/main">
              <a:ext uri="{FF2B5EF4-FFF2-40B4-BE49-F238E27FC236}">
                <a16:creationId xmlns:a16="http://schemas.microsoft.com/office/drawing/2014/main" id="{B66A5B7F-804A-4F30-B6A0-3C5C2AB4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33550"/>
            <a:ext cx="291465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945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8400" b="1">
                <a:solidFill>
                  <a:srgbClr val="003399"/>
                </a:solidFill>
                <a:latin typeface="Calibri"/>
              </a:rPr>
              <a:t>Pay for Training, Not for Openness:</a:t>
            </a:r>
          </a:p>
          <a:p xmlns:a="http://schemas.openxmlformats.org/drawingml/2006/main"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400" b="1">
                <a:solidFill>
                  <a:srgbClr val="003399"/>
                </a:solidFill>
                <a:latin typeface="Calibri"/>
              </a:rPr>
              <a:t>Reward Design for Original and Distilled AI Models</a:t>
            </a:r>
          </a:p>
        </p:txBody>
      </p:sp>
      <p:sp>
        <p:nvSpPr>
          <p:cNvPr id="5" name="authors">
            <a:extLst xmlns:a="http://schemas.openxmlformats.org/drawingml/2006/main">
              <a:ext uri="{FF2B5EF4-FFF2-40B4-BE49-F238E27FC236}">
                <a16:creationId xmlns:a16="http://schemas.microsoft.com/office/drawing/2014/main" id="{439A7EDB-36D0-4D9A-9F53-6704B96A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57700"/>
            <a:ext cx="2857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0" b="1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4050" b="1">
                <a:solidFill>
                  <a:srgbClr val="212A33"/>
                </a:solidFill>
                <a:latin typeface="Calibri"/>
              </a:rPr>
              <a:t>Zhengjun He, Yichen Shen  |  Team FP4</a:t>
            </a:r>
          </a:p>
        </p:txBody>
      </p:sp>
      <p:sp>
        <p:nvSpPr>
          <p:cNvPr id="6" name="course-instructor">
            <a:extLst xmlns:a="http://schemas.openxmlformats.org/drawingml/2006/main">
              <a:ext uri="{FF2B5EF4-FFF2-40B4-BE49-F238E27FC236}">
                <a16:creationId xmlns:a16="http://schemas.microsoft.com/office/drawing/2014/main" id="{E0620329-B4C6-41DE-A2DD-7C1BAB05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29225"/>
            <a:ext cx="2857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0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3000" b="0">
                <a:solidFill>
                  <a:srgbClr val="212A33"/>
                </a:solidFill>
                <a:latin typeface="Calibri"/>
              </a:rPr>
              <a:t>Course instructor: Professor Luyao Zhang</a:t>
            </a:r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98f34444bc47b7"/>
          <a:stretch xmlns:a="http://schemas.openxmlformats.org/drawingml/2006/main"/>
        </p:blipFill>
        <p:spPr>
          <a:xfrm xmlns:a="http://schemas.openxmlformats.org/drawingml/2006/main">
            <a:off x="32575500" y="2190750"/>
            <a:ext cx="8096250" cy="2595818"/>
          </a:xfrm>
          <a:prstGeom xmlns:a="http://schemas.openxmlformats.org/drawingml/2006/main" prst="rect">
            <a:avLst/>
          </a:prstGeom>
        </p:spPr>
      </p:pic>
      <p:sp>
        <p:nvSpPr>
          <p:cNvPr id="8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E5C59819-8AE8-4F07-93AA-7B6F5A9A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0"/>
            <a:ext cx="428040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akeaway-label">
            <a:extLst xmlns:a="http://schemas.openxmlformats.org/drawingml/2006/main">
              <a:ext uri="{FF2B5EF4-FFF2-40B4-BE49-F238E27FC236}">
                <a16:creationId xmlns:a16="http://schemas.microsoft.com/office/drawing/2014/main" id="{701690AD-D64E-4607-AE56-414773E6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239000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FFFFFF"/>
                </a:solidFill>
                <a:latin typeface="Calibri"/>
              </a:rPr>
              <a:t>KEY MESSAGE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83EFFE95-83CD-498B-99EF-83DF06C3C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7000875"/>
            <a:ext cx="34993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4200" b="0">
                <a:solidFill>
                  <a:srgbClr val="FFFFFF"/>
                </a:solidFill>
                <a:latin typeface="Calibri"/>
              </a:rPr>
              <a:t>Private and social rankings are exact reverses: the developer's best move is society's worst. So markets rest on secrecy, or fill with open copies, unless the prize is paid per unit of </a:t>
            </a:r>
            <a:r>
              <a:rPr sz="4200" b="1">
                <a:solidFill>
                  <a:srgbClr val="FFFFFF"/>
                </a:solidFill>
                <a:latin typeface="Calibri"/>
              </a:rPr>
              <a:t>training compute</a:t>
            </a:r>
            <a:r>
              <a:rPr sz="4200" b="0">
                <a:solidFill>
                  <a:srgbClr val="FFFFFF"/>
                </a:solidFill>
                <a:latin typeface="Calibri"/>
              </a:rPr>
              <a:t>, not for </a:t>
            </a:r>
            <a:r>
              <a:rPr sz="4200" b="1">
                <a:solidFill>
                  <a:srgbClr val="FFFFFF"/>
                </a:solidFill>
                <a:latin typeface="Calibri"/>
              </a:rPr>
              <a:t>openness</a:t>
            </a:r>
            <a:r>
              <a:rPr sz="4200" b="0">
                <a:solidFill>
                  <a:srgbClr val="FFFFFF"/>
                </a:solidFill>
                <a:latin typeface="Calibri"/>
              </a:rPr>
              <a:t> alone.</a:t>
            </a:r>
          </a:p>
        </p:txBody>
      </p:sp>
      <p:sp>
        <p:nvSpPr>
          <p:cNvPr id="11" name="question-model-title">
            <a:extLst xmlns:a="http://schemas.openxmlformats.org/drawingml/2006/main">
              <a:ext uri="{FF2B5EF4-FFF2-40B4-BE49-F238E27FC236}">
                <a16:creationId xmlns:a16="http://schemas.microsoft.com/office/drawing/2014/main" id="{CD5C4DFB-E23C-429C-B167-B9CF4889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9525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65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4650" b="1">
                <a:solidFill>
                  <a:srgbClr val="003399"/>
                </a:solidFill>
                <a:latin typeface="Calibri"/>
              </a:rPr>
              <a:t>01   Question &amp; model</a:t>
            </a:r>
          </a:p>
        </p:txBody>
      </p:sp>
      <p:sp>
        <p:nvSpPr>
          <p:cNvPr id="12" name="question-model-title-rule">
            <a:extLst xmlns:a="http://schemas.openxmlformats.org/drawingml/2006/main">
              <a:ext uri="{FF2B5EF4-FFF2-40B4-BE49-F238E27FC236}">
                <a16:creationId xmlns:a16="http://schemas.microsoft.com/office/drawing/2014/main" id="{F81F4A35-5377-44CB-941D-4B8D9F26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506075"/>
            <a:ext cx="11049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search-question-heading">
            <a:extLst xmlns:a="http://schemas.openxmlformats.org/drawingml/2006/main">
              <a:ext uri="{FF2B5EF4-FFF2-40B4-BE49-F238E27FC236}">
                <a16:creationId xmlns:a16="http://schemas.microsoft.com/office/drawing/2014/main" id="{4190E777-F9CF-4131-93FB-BBFC74FF7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11442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</a:rPr>
              <a:t>Research question &amp; verified gap</a:t>
            </a:r>
          </a:p>
        </p:txBody>
      </p:sp>
      <p:sp>
        <p:nvSpPr>
          <p:cNvPr id="14" name="research-question">
            <a:extLst xmlns:a="http://schemas.openxmlformats.org/drawingml/2006/main">
              <a:ext uri="{FF2B5EF4-FFF2-40B4-BE49-F238E27FC236}">
                <a16:creationId xmlns:a16="http://schemas.microsoft.com/office/drawing/2014/main" id="{76FF89C4-3045-4C47-A236-4952EAA0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1906250"/>
            <a:ext cx="11049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  <a:defRPr sz="33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170" b="1">
                <a:solidFill>
                  <a:srgbClr val="212A33"/>
                </a:solidFill>
                <a:latin typeface="Calibri"/>
              </a:rPr>
              <a:t>Q  </a:t>
            </a:r>
            <a:r>
              <a:rPr sz="2170" b="0">
                <a:solidFill>
                  <a:srgbClr val="212A33"/>
                </a:solidFill>
                <a:latin typeface="Calibri"/>
              </a:rPr>
              <a:t>A developer may imitate (distil) or innovate (train from scratch), and may release the result under secrecy or openness. Which of the four does it choose — and does society want the same?</a:t>
            </a:r>
          </a:p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  <a:defRPr sz="33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170" b="1">
                <a:solidFill>
                  <a:srgbClr val="212A33"/>
                </a:solidFill>
                <a:latin typeface="Calibri"/>
              </a:rPr>
              <a:t>Gap  </a:t>
            </a:r>
            <a:r>
              <a:rPr sz="2170" b="0">
                <a:solidFill>
                  <a:srgbClr val="212A33"/>
                </a:solidFill>
                <a:latin typeface="Calibri"/>
              </a:rPr>
              <a:t>Rules that reward openness reward it as such (Qiu et al. 2025), and stay silent on whether a model was originally trained or merely imitated. That silence is where the incentive breaks.</a:t>
            </a:r>
          </a:p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  <a:defRPr sz="33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170" b="1">
                <a:solidFill>
                  <a:srgbClr val="212A33"/>
                </a:solidFill>
                <a:latin typeface="Calibri"/>
              </a:rPr>
              <a:t>Why it matters  </a:t>
            </a:r>
            <a:r>
              <a:rPr sz="2170" b="0">
                <a:solidFill>
                  <a:srgbClr val="212A33"/>
                </a:solidFill>
                <a:latin typeface="Calibri"/>
              </a:rPr>
              <a:t>A prize that pays for openness alone pays the imitator, not the innovator.</a:t>
            </a:r>
          </a:p>
        </p:txBody>
      </p:sp>
      <p:sp>
        <p:nvSpPr>
          <p:cNvPr id="15" name="model-heading">
            <a:extLst xmlns:a="http://schemas.openxmlformats.org/drawingml/2006/main">
              <a:ext uri="{FF2B5EF4-FFF2-40B4-BE49-F238E27FC236}">
                <a16:creationId xmlns:a16="http://schemas.microsoft.com/office/drawing/2014/main" id="{19910E6B-D44C-401D-8E76-04691CDB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1447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</a:rPr>
              <a:t>Strategic model &amp; foundations</a:t>
            </a:r>
          </a:p>
        </p:txBody>
      </p:sp>
      <p:sp>
        <p:nvSpPr>
          <p:cNvPr id="16" name="model">
            <a:extLst xmlns:a="http://schemas.openxmlformats.org/drawingml/2006/main">
              <a:ext uri="{FF2B5EF4-FFF2-40B4-BE49-F238E27FC236}">
                <a16:creationId xmlns:a16="http://schemas.microsoft.com/office/drawing/2014/main" id="{BD93B7B7-C6A1-4C6C-8B07-9664A884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906750"/>
            <a:ext cx="11049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3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1980" b="1">
                <a:solidFill>
                  <a:srgbClr val="212A33"/>
                </a:solidFill>
                <a:latin typeface="Calibri"/>
              </a:rPr>
              <a:t>Players  </a:t>
            </a:r>
            <a:r>
              <a:rPr sz="1980" b="0">
                <a:solidFill>
                  <a:srgbClr val="212A33"/>
                </a:solidFill>
                <a:latin typeface="Calibri"/>
              </a:rPr>
              <a:t>N firms each choose sourcing (imitate or innovate) and release (secrecy or openness).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3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1980" b="1">
                <a:solidFill>
                  <a:srgbClr val="212A33"/>
                </a:solidFill>
                <a:latin typeface="Calibri"/>
              </a:rPr>
              <a:t>Payoffs  </a:t>
            </a:r>
            <a:r>
              <a:rPr sz="1980" b="0">
                <a:solidFill>
                  <a:srgbClr val="212A33"/>
                </a:solidFill>
                <a:latin typeface="Calibri"/>
              </a:rPr>
              <a:t>four cells (Figure 1): secrecy keeps the monopoly profit; a release earns a prize on its compute and loses the edge.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3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1980" b="1">
                <a:solidFill>
                  <a:srgbClr val="212A33"/>
                </a:solidFill>
                <a:latin typeface="Calibri"/>
              </a:rPr>
              <a:t>Solution concept  </a:t>
            </a:r>
            <a:r>
              <a:rPr sz="1980" b="0">
                <a:solidFill>
                  <a:srgbClr val="212A33"/>
                </a:solidFill>
                <a:latin typeface="Calibri"/>
              </a:rPr>
              <a:t>Nash equilibrium, set against society's ranking.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3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1980" b="1">
                <a:solidFill>
                  <a:srgbClr val="212A33"/>
                </a:solidFill>
                <a:latin typeface="Calibri"/>
              </a:rPr>
              <a:t>Assumptions  </a:t>
            </a:r>
            <a:r>
              <a:rPr sz="1980" b="0">
                <a:solidFill>
                  <a:srgbClr val="212A33"/>
                </a:solidFill>
                <a:latin typeface="Calibri"/>
              </a:rPr>
              <a:t>innovation costs more and uses more compute than imitation; the prize rate k is paid per unit of compute E.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3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1980" b="1">
                <a:solidFill>
                  <a:srgbClr val="212A33"/>
                </a:solidFill>
                <a:latin typeface="Calibri"/>
              </a:rPr>
              <a:t>Notation  </a:t>
            </a:r>
            <a:r>
              <a:rPr sz="1980" b="0">
                <a:solidFill>
                  <a:srgbClr val="212A33"/>
                </a:solidFill>
                <a:latin typeface="Calibri"/>
              </a:rPr>
              <a:t>C</a:t>
            </a:r>
            <a:r>
              <a:rPr sz="1980" b="1" baseline="-25000">
                <a:solidFill>
                  <a:srgbClr val="212A33"/>
                </a:solidFill>
                <a:latin typeface="Calibri"/>
              </a:rPr>
              <a:t>d</a:t>
            </a:r>
            <a:r>
              <a:rPr sz="1980" b="0">
                <a:solidFill>
                  <a:srgbClr val="212A33"/>
                </a:solidFill>
                <a:latin typeface="Calibri"/>
              </a:rPr>
              <a:t>, E</a:t>
            </a:r>
            <a:r>
              <a:rPr sz="1980" b="1" baseline="-25000">
                <a:solidFill>
                  <a:srgbClr val="212A33"/>
                </a:solidFill>
                <a:latin typeface="Calibri"/>
              </a:rPr>
              <a:t>d</a:t>
            </a:r>
            <a:r>
              <a:rPr sz="1980" b="0">
                <a:solidFill>
                  <a:srgbClr val="212A33"/>
                </a:solidFill>
                <a:latin typeface="Calibri"/>
              </a:rPr>
              <a:t> = cost and compute of imitation · C</a:t>
            </a:r>
            <a:r>
              <a:rPr sz="1980" b="1" baseline="-25000">
                <a:solidFill>
                  <a:srgbClr val="212A33"/>
                </a:solidFill>
                <a:latin typeface="Calibri"/>
              </a:rPr>
              <a:t>n</a:t>
            </a:r>
            <a:r>
              <a:rPr sz="1980" b="0">
                <a:solidFill>
                  <a:srgbClr val="212A33"/>
                </a:solidFill>
                <a:latin typeface="Calibri"/>
              </a:rPr>
              <a:t>, E</a:t>
            </a:r>
            <a:r>
              <a:rPr sz="1980" b="1" baseline="-25000">
                <a:solidFill>
                  <a:srgbClr val="212A33"/>
                </a:solidFill>
                <a:latin typeface="Calibri"/>
              </a:rPr>
              <a:t>n</a:t>
            </a:r>
            <a:r>
              <a:rPr sz="1980" b="0">
                <a:solidFill>
                  <a:srgbClr val="212A33"/>
                </a:solidFill>
                <a:latin typeface="Calibri"/>
              </a:rPr>
              <a:t> = cost and compute of innovation · k = prize per unit of E · L = loss from disclosure · π = monopoly profit kept under secrecy · βφK·m/(m+m₀) = future share an open release buys (β discount · φ ecosystem efficiency · K external contributions · m compatibility share · m₀ internal scale).</a:t>
            </a:r>
          </a:p>
        </p:txBody>
      </p:sp>
      <p:sp>
        <p:nvSpPr>
          <p:cNvPr id="17" name="lenses-heading">
            <a:extLst xmlns:a="http://schemas.openxmlformats.org/drawingml/2006/main">
              <a:ext uri="{FF2B5EF4-FFF2-40B4-BE49-F238E27FC236}">
                <a16:creationId xmlns:a16="http://schemas.microsoft.com/office/drawing/2014/main" id="{DAFBC93E-B2F0-417F-9381-A98FDF50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5262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</a:rPr>
              <a:t>Three complementary lenses</a:t>
            </a:r>
          </a:p>
        </p:txBody>
      </p:sp>
      <p:sp>
        <p:nvSpPr>
          <p:cNvPr id="18" name="lenses">
            <a:extLst xmlns:a="http://schemas.openxmlformats.org/drawingml/2006/main">
              <a:ext uri="{FF2B5EF4-FFF2-40B4-BE49-F238E27FC236}">
                <a16:creationId xmlns:a16="http://schemas.microsoft.com/office/drawing/2014/main" id="{E2BAF178-74E4-4DFF-A2BB-763467E7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288250"/>
            <a:ext cx="11049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3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212A33"/>
                </a:solidFill>
                <a:latin typeface="Calibri"/>
              </a:rPr>
              <a:t>Game theory  </a:t>
            </a:r>
            <a:r>
              <a:rPr sz="2400" b="0">
                <a:solidFill>
                  <a:srgbClr val="212A33"/>
                </a:solidFill>
                <a:latin typeface="Calibri"/>
              </a:rPr>
              <a:t>left alone, the best response is secrecy plus imitation — the cheap way to keep the monopoly price.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3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212A33"/>
                </a:solidFill>
                <a:latin typeface="Calibri"/>
              </a:rPr>
              <a:t>Social choice  </a:t>
            </a:r>
            <a:r>
              <a:rPr sz="2400" b="0">
                <a:solidFill>
                  <a:srgbClr val="212A33"/>
                </a:solidFill>
                <a:latin typeface="Calibri"/>
              </a:rPr>
              <a:t>society ranks openness plus innovation best and secrecy plus imitation worst; the two orders are exact reverses.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300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212A33"/>
                </a:solidFill>
                <a:latin typeface="Calibri"/>
              </a:rPr>
              <a:t>Mechanism design  </a:t>
            </a:r>
            <a:r>
              <a:rPr sz="2400" b="0">
                <a:solidFill>
                  <a:srgbClr val="212A33"/>
                </a:solidFill>
                <a:latin typeface="Calibri"/>
              </a:rPr>
              <a:t>a prize paid for openness alone rewards the imitator more than the innovator, who paid more to get there; paid per unit of compute it separates them.</a:t>
            </a:r>
          </a:p>
        </p:txBody>
      </p:sp>
      <p:sp>
        <p:nvSpPr>
          <p:cNvPr id="19" name="auction-heading">
            <a:extLst xmlns:a="http://schemas.openxmlformats.org/drawingml/2006/main">
              <a:ext uri="{FF2B5EF4-FFF2-40B4-BE49-F238E27FC236}">
                <a16:creationId xmlns:a16="http://schemas.microsoft.com/office/drawing/2014/main" id="{0A85FF4E-C110-48A1-8567-A06DAC93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9044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r>
              <a:rPr sz="3375" b="1"/>
              <a:t>Implemented payment rule &amp; auction analogy</a:t>
            </a:r>
          </a:p>
        </p:txBody>
      </p:sp>
      <p:sp>
        <p:nvSpPr>
          <p:cNvPr id="20" name="auction">
            <a:extLst xmlns:a="http://schemas.openxmlformats.org/drawingml/2006/main">
              <a:ext uri="{FF2B5EF4-FFF2-40B4-BE49-F238E27FC236}">
                <a16:creationId xmlns:a16="http://schemas.microsoft.com/office/drawing/2014/main" id="{182900A4-D41C-4FC8-8D3B-A44A8758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666450"/>
            <a:ext cx="11049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r>
              <a:rPr sz="2060" b="0"/>
              <a:t>Implemented rule: proportional kE subsidy — each open release is paid k per unit of audited training compute E.</a:t>
            </a:r>
          </a:p>
          <a:p xmlns:a="http://schemas.openxmlformats.org/drawingml/2006/main">
            <a:r>
              <a:rPr sz="2060" b="0"/>
              <a:t>Flat and capped rewards are counterfactual designs, not this institution.</a:t>
            </a:r>
          </a:p>
          <a:p xmlns:a="http://schemas.openxmlformats.org/drawingml/2006/main">
            <a:r>
              <a:rPr sz="2060" b="0"/>
              <a:t>All-pay reading (Baye et al. 1996) is an analogy only: every firm pays its sunk training cost.</a:t>
            </a:r>
          </a:p>
        </p:txBody>
      </p:sp>
      <p:sp>
        <p:nvSpPr>
          <p:cNvPr id="21" name="design-evidence-title">
            <a:extLst xmlns:a="http://schemas.openxmlformats.org/drawingml/2006/main">
              <a:ext uri="{FF2B5EF4-FFF2-40B4-BE49-F238E27FC236}">
                <a16:creationId xmlns:a16="http://schemas.microsoft.com/office/drawing/2014/main" id="{5BD8C5A5-8D38-4D0E-9168-5677F645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9525000"/>
            <a:ext cx="16134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65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4650" b="1">
                <a:solidFill>
                  <a:srgbClr val="003399"/>
                </a:solidFill>
                <a:latin typeface="Calibri"/>
              </a:rPr>
              <a:t>02   Design &amp; evidence</a:t>
            </a:r>
          </a:p>
        </p:txBody>
      </p:sp>
      <p:sp>
        <p:nvSpPr>
          <p:cNvPr id="22" name="design-evidence-title-rule">
            <a:extLst xmlns:a="http://schemas.openxmlformats.org/drawingml/2006/main">
              <a:ext uri="{FF2B5EF4-FFF2-40B4-BE49-F238E27FC236}">
                <a16:creationId xmlns:a16="http://schemas.microsoft.com/office/drawing/2014/main" id="{3074EA74-1821-4014-8E91-ECC3F7A8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10506075"/>
            <a:ext cx="1613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research-design-area">
            <a:extLst xmlns:a="http://schemas.openxmlformats.org/drawingml/2006/main">
              <a:ext uri="{FF2B5EF4-FFF2-40B4-BE49-F238E27FC236}">
                <a16:creationId xmlns:a16="http://schemas.microsoft.com/office/drawing/2014/main" id="{6BFB0873-E93B-425C-B20A-BE7D9281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11144250"/>
            <a:ext cx="1613400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7"/>
          </a:solidFill>
          <a:ln xmlns:a="http://schemas.openxmlformats.org/drawingml/2006/main" w="19050">
            <a:solidFill>
              <a:srgbClr val="CFD5D9"/>
            </a:solidFill>
            <a:prstDash val="solid"/>
          </a:ln>
        </p:spPr>
      </p:sp>
      <p:sp>
        <p:nvSpPr>
          <p:cNvPr id="24" name="research-design-label">
            <a:extLst xmlns:a="http://schemas.openxmlformats.org/drawingml/2006/main">
              <a:ext uri="{FF2B5EF4-FFF2-40B4-BE49-F238E27FC236}">
                <a16:creationId xmlns:a16="http://schemas.microsoft.com/office/drawing/2014/main" id="{8126654C-9B1A-4166-BD33-50CD41EA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0000" y="11268000"/>
            <a:ext cx="14895720" cy="52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3399"/>
                </a:solidFill>
                <a:latin typeface="Calibri"/>
              </a:rPr>
              <a:t>Figure 1 — the four strategy combinations</a:t>
            </a:r>
          </a:p>
        </p:txBody>
      </p:sp>
      <p:sp>
        <p:nvSpPr>
          <p:cNvPr id="26" name="design-caption">
            <a:extLst xmlns:a="http://schemas.openxmlformats.org/drawingml/2006/main">
              <a:ext uri="{FF2B5EF4-FFF2-40B4-BE49-F238E27FC236}">
                <a16:creationId xmlns:a16="http://schemas.microsoft.com/office/drawing/2014/main" id="{70CF347C-1901-4936-A975-9657C353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16097250"/>
            <a:ext cx="16134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56616B"/>
                </a:solidFill>
                <a:latin typeface="Calibri"/>
                <a:ea typeface="Calibri"/>
                <a:cs typeface="Calibri"/>
              </a:defRPr>
            </a:pPr>
            <a:r>
              <a:rPr sz="1900" b="1">
                <a:solidFill>
                  <a:srgbClr val="56616B"/>
                </a:solidFill>
                <a:latin typeface="Calibri"/>
              </a:rPr>
              <a:t>Figure 1.  </a:t>
            </a:r>
            <a:r>
              <a:rPr sz="1900" b="0">
                <a:solidFill>
                  <a:srgbClr val="56616B"/>
                </a:solidFill>
                <a:latin typeface="Calibri"/>
              </a:rPr>
              <a:t>The strategy space is a 2 × 2 — sourcing (imitate or innovate) × release (secrecy or openness) — with each cell's payoff. Secrecy plus imitation keeps the monopoly price cheaply, which is why it dominates privately; openness plus innovation is the only cell that creates a reusable source, and it is the most expensive. Cells recomputed in </a:t>
            </a:r>
            <a:r>
              <a:rPr sz="1900" b="1">
                <a:solidFill>
                  <a:srgbClr val="56616B"/>
                </a:solidFill>
                <a:latin typeface="Calibri"/>
              </a:rPr>
              <a:t>verify_k.py</a:t>
            </a:r>
            <a:r>
              <a:rPr sz="1900" b="0">
                <a:solidFill>
                  <a:srgbClr val="56616B"/>
                </a:solidFill>
                <a:latin typeface="Calibri"/>
              </a:rPr>
              <a:t>.</a:t>
            </a:r>
            <a:r>
              <a:rPr sz="1900" b="0">
                <a:solidFill>
                  <a:srgbClr val="56616B"/>
                </a:solidFill>
                <a:latin typeface="Calibri"/>
              </a:rPr>
              <a:t> An open release also keeps the future market share it buys, βφK·m/(m+m₀) — the discounted value of the external contributions an open model attracts.</a:t>
            </a:r>
          </a:p>
        </p:txBody>
      </p:sp>
      <p:sp>
        <p:nvSpPr>
          <p:cNvPr id="27" name="main-result-area">
            <a:extLst xmlns:a="http://schemas.openxmlformats.org/drawingml/2006/main">
              <a:ext uri="{FF2B5EF4-FFF2-40B4-BE49-F238E27FC236}">
                <a16:creationId xmlns:a16="http://schemas.microsoft.com/office/drawing/2014/main" id="{AF352E9D-B9F1-4E49-9DC0-059C3E7F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17621250"/>
            <a:ext cx="1613400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7"/>
          </a:solidFill>
          <a:ln xmlns:a="http://schemas.openxmlformats.org/drawingml/2006/main" w="19050">
            <a:solidFill>
              <a:srgbClr val="CFD5D9"/>
            </a:solidFill>
            <a:prstDash val="solid"/>
          </a:ln>
        </p:spPr>
      </p:sp>
      <p:sp>
        <p:nvSpPr>
          <p:cNvPr id="28" name="main-result-label">
            <a:extLst xmlns:a="http://schemas.openxmlformats.org/drawingml/2006/main">
              <a:ext uri="{FF2B5EF4-FFF2-40B4-BE49-F238E27FC236}">
                <a16:creationId xmlns:a16="http://schemas.microsoft.com/office/drawing/2014/main" id="{A95FDDB5-DC34-4CBB-B5F4-3B143142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0000" y="17640000"/>
            <a:ext cx="15552000" cy="4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3399"/>
                </a:solidFill>
                <a:latin typeface="Calibri"/>
              </a:rPr>
              <a:t>Figure 2 — private desire vs. social desirability</a:t>
            </a:r>
          </a:p>
        </p:txBody>
      </p:sp>
      <p:sp>
        <p:nvSpPr>
          <p:cNvPr id="30" name="result-caption">
            <a:extLst xmlns:a="http://schemas.openxmlformats.org/drawingml/2006/main">
              <a:ext uri="{FF2B5EF4-FFF2-40B4-BE49-F238E27FC236}">
                <a16:creationId xmlns:a16="http://schemas.microsoft.com/office/drawing/2014/main" id="{C7A388AE-9A9C-4C69-A215-69F12E63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4241125"/>
            <a:ext cx="161340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07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000" b="1">
                <a:solidFill>
                  <a:srgbClr val="212A33"/>
                </a:solidFill>
                <a:latin typeface="Calibri"/>
              </a:rPr>
              <a:t>Figure 2.  </a:t>
            </a:r>
            <a:r>
              <a:rPr sz="2000" b="0">
                <a:solidFill>
                  <a:srgbClr val="212A33"/>
                </a:solidFill>
                <a:latin typeface="Calibri"/>
              </a:rPr>
              <a:t>The private order (①&gt; ③&gt; ②&gt; ④) and the social order (④&gt; ②&gt; ③&gt; ①) are exact mirror images: the developer's favourite is society's least wanted. The private order holds while π + L − βφK &gt; C</a:t>
            </a:r>
            <a:r>
              <a:rPr baseline="-25000" sz="2000" b="0">
                <a:solidFill>
                  <a:srgbClr val="212A33"/>
                </a:solidFill>
                <a:latin typeface="Calibri"/>
              </a:rPr>
              <a:t>n</a:t>
            </a:r>
            <a:r>
              <a:rPr sz="2000" b="0">
                <a:solidFill>
                  <a:srgbClr val="212A33"/>
                </a:solidFill>
                <a:latin typeface="Calibri"/>
              </a:rPr>
              <a:t> − C</a:t>
            </a:r>
            <a:r>
              <a:rPr baseline="-25000" sz="2000" b="0">
                <a:solidFill>
                  <a:srgbClr val="212A33"/>
                </a:solidFill>
                <a:latin typeface="Calibri"/>
              </a:rPr>
              <a:t>d</a:t>
            </a:r>
            <a:r>
              <a:rPr sz="2000" b="0">
                <a:solidFill>
                  <a:srgbClr val="212A33"/>
                </a:solidFill>
                <a:latin typeface="Calibri"/>
              </a:rPr>
              <a:t>, i.e. while the future-share motive is weak; with a strong motive openness wins even at k = 0 (panel b).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07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000" b="1">
                <a:solidFill>
                  <a:srgbClr val="212A33"/>
                </a:solidFill>
                <a:latin typeface="Calibri"/>
              </a:rPr>
              <a:t>Interpretation.  </a:t>
            </a:r>
            <a:r>
              <a:rPr sz="2000" b="0">
                <a:solidFill>
                  <a:srgbClr val="212A33"/>
                </a:solidFill>
                <a:latin typeface="Calibri"/>
              </a:rPr>
              <a:t>A prize too small buys no disclosure; one that pays for openness but not for cost buys copies, not capability; only a prize covering both keeps a live source.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07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000" b="1">
                <a:solidFill>
                  <a:srgbClr val="212A33"/>
                </a:solidFill>
                <a:latin typeface="Calibri"/>
              </a:rPr>
              <a:t>Verification.  </a:t>
            </a:r>
            <a:r>
              <a:rPr sz="2000" b="0">
                <a:solidFill>
                  <a:srgbClr val="212A33"/>
                </a:solidFill>
                <a:latin typeface="Calibri"/>
              </a:rPr>
              <a:t>Cells and states are recomputed from scratch in the checker, independently of the symbolic derivation; an interactive page lets a reader move the parameters and watch the winning cell flip.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075" b="0">
                <a:solidFill>
                  <a:srgbClr val="212A33"/>
                </a:solidFill>
                <a:latin typeface="Calibri"/>
                <a:ea typeface="Calibri"/>
                <a:cs typeface="Calibri"/>
              </a:defRPr>
            </a:pPr>
            <a:r>
              <a:rPr sz="2000" b="1">
                <a:solidFill>
                  <a:srgbClr val="212A33"/>
                </a:solidFill>
                <a:latin typeface="Calibri"/>
              </a:rPr>
              <a:t>Runs.  </a:t>
            </a:r>
            <a:r>
              <a:rPr sz="2000" b="0">
                <a:solidFill>
                  <a:srgbClr val="212A33"/>
                </a:solidFill>
                <a:latin typeface="Calibri"/>
              </a:rPr>
              <a:t>Paying for openness alone fills the market with imitation and dries up the sources; paying per unit of compute turns it back to original release (sources: 0.04 → 0.95); capping the prize undoes that, and with the future-share motive opening pays only for m ∈ (0.101, 1.519). Fresh run: seed 206. Copying a copy adds no capability, so mutual imitation burns compute while capability decays — yet some imitation is still efficient, because it stops every firm from re-deriving the same result. Parameters are illustrative, not estimated.</a:t>
            </a:r>
          </a:p>
        </p:txBody>
      </p:sp>
      <p:sp>
        <p:nvSpPr>
          <p:cNvPr id="31" name="impact-title">
            <a:extLst xmlns:a="http://schemas.openxmlformats.org/drawingml/2006/main">
              <a:ext uri="{FF2B5EF4-FFF2-40B4-BE49-F238E27FC236}">
                <a16:creationId xmlns:a16="http://schemas.microsoft.com/office/drawing/2014/main" id="{7974BDE9-47C8-4976-9EB0-1D99D2AD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9525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r>
              <a:rPr sz="4650" b="1"/>
              <a:t>03   Merits · Impacts · Roadmap</a:t>
            </a:r>
          </a:p>
        </p:txBody>
      </p:sp>
      <p:sp>
        <p:nvSpPr>
          <p:cNvPr id="32" name="impact-title-rule">
            <a:extLst xmlns:a="http://schemas.openxmlformats.org/drawingml/2006/main">
              <a:ext uri="{FF2B5EF4-FFF2-40B4-BE49-F238E27FC236}">
                <a16:creationId xmlns:a16="http://schemas.microsoft.com/office/drawing/2014/main" id="{92EF0681-32CB-4E92-B477-91FDD7DB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10506075"/>
            <a:ext cx="11049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real-world-heading">
            <a:extLst xmlns:a="http://schemas.openxmlformats.org/drawingml/2006/main">
              <a:ext uri="{FF2B5EF4-FFF2-40B4-BE49-F238E27FC236}">
                <a16:creationId xmlns:a16="http://schemas.microsoft.com/office/drawing/2014/main" id="{8D7A544D-17E0-43AC-A769-0DC992E2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111442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r>
              <a:rPr sz="3375" b="1"/>
              <a:t>Intellectual Merits — three closest papers</a:t>
            </a:r>
          </a:p>
        </p:txBody>
      </p:sp>
      <p:sp>
        <p:nvSpPr>
          <p:cNvPr id="34" name="real-world">
            <a:extLst xmlns:a="http://schemas.openxmlformats.org/drawingml/2006/main">
              <a:ext uri="{FF2B5EF4-FFF2-40B4-BE49-F238E27FC236}">
                <a16:creationId xmlns:a16="http://schemas.microsoft.com/office/drawing/2014/main" id="{2199F087-3016-48E4-80F0-4F875A71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11906250"/>
            <a:ext cx="1104900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r>
              <a:rPr sz="2120" b="1"/>
              <a:t>Qiu et al. (2025) — openness regulation; we inherit openness as a strategic choice but separate original training from distillation.</a:t>
            </a:r>
          </a:p>
          <a:p xmlns:a="http://schemas.openxmlformats.org/drawingml/2006/main">
            <a:r>
              <a:rPr sz="2120" b="1"/>
              <a:t>Xu et al. (2025) — openness, competition, governance; we inherit the subsidy framing but index the reward to compute.</a:t>
            </a:r>
          </a:p>
          <a:p xmlns:a="http://schemas.openxmlformats.org/drawingml/2006/main">
            <a:r>
              <a:rPr sz="2120" b="1"/>
              <a:t>Habibi (2025) — why firms open-source; we inherit the future-share F(m) but compare flat vs. compute-indexed rewards.</a:t>
            </a:r>
          </a:p>
          <a:p xmlns:a="http://schemas.openxmlformats.org/drawingml/2006/main">
            <a:r>
              <a:rPr sz="2120" b="1"/>
              <a:t>Distinct: the four-decision structure, the compute index, the three market states. Evidence: analytical + simulation. Model-based findings, not real-firm effects.</a:t>
            </a:r>
          </a:p>
        </p:txBody>
      </p:sp>
      <p:sp>
        <p:nvSpPr>
          <p:cNvPr id="35" name="interdisciplinary-heading">
            <a:extLst xmlns:a="http://schemas.openxmlformats.org/drawingml/2006/main">
              <a:ext uri="{FF2B5EF4-FFF2-40B4-BE49-F238E27FC236}">
                <a16:creationId xmlns:a16="http://schemas.microsoft.com/office/drawing/2014/main" id="{1E996ED0-A32A-4617-8E65-E6ED026E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158115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r>
              <a:rPr sz="3375" b="1"/>
              <a:t>Practical Impacts — SDG 9.5 · 10.2</a:t>
            </a:r>
          </a:p>
        </p:txBody>
      </p:sp>
      <p:sp>
        <p:nvSpPr>
          <p:cNvPr id="36" name="interdisciplinary">
            <a:extLst xmlns:a="http://schemas.openxmlformats.org/drawingml/2006/main">
              <a:ext uri="{FF2B5EF4-FFF2-40B4-BE49-F238E27FC236}">
                <a16:creationId xmlns:a16="http://schemas.microsoft.com/office/drawing/2014/main" id="{91D1D813-AECB-4965-9667-285D2DDC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16573500"/>
            <a:ext cx="11049000" cy="523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r>
              <a:rPr sz="2200" b="1"/>
              <a:t>Mechanism: tie open-model subsidies to audited training compute.</a:t>
            </a:r>
          </a:p>
          <a:p xmlns:a="http://schemas.openxmlformats.org/drawingml/2006/main">
            <a:r>
              <a:rPr sz="2200" b="1"/>
              <a:t>Stakeholders: labs, smaller developers, users, taxpayers, the agency.</a:t>
            </a:r>
          </a:p>
          <a:p xmlns:a="http://schemas.openxmlformats.org/drawingml/2006/main">
            <a:r>
              <a:rPr sz="2200" b="1"/>
              <a:t>Indicator: original-source releases per unit of public spending.</a:t>
            </a:r>
          </a:p>
          <a:p xmlns:a="http://schemas.openxmlformats.org/drawingml/2006/main">
            <a:r>
              <a:rPr sz="2200" b="1"/>
              <a:t>Baseline (simulated): flat reward → 4% of prize reaches sources (484/source); indexed → 98% (18.6/source).</a:t>
            </a:r>
          </a:p>
          <a:p xmlns:a="http://schemas.openxmlformats.org/drawingml/2006/main">
            <a:r>
              <a:rPr sz="2200" b="1"/>
              <a:t>Payment (k=4): imitator cost C_d=1.44 → reward kE_d=3.94; innovator cost C_n=5.67 → reward kE_n=18.52; total public spending ≈ 354,763.</a:t>
            </a:r>
          </a:p>
          <a:p xmlns:a="http://schemas.openxmlformats.org/drawingml/2006/main">
            <a:r>
              <a:rPr sz="2200" b="1"/>
              <a:t>Risks: misreported compute, duplication, crowding out distillation.</a:t>
            </a:r>
          </a:p>
          <a:p xmlns:a="http://schemas.openxmlformats.org/drawingml/2006/main">
            <a:r>
              <a:rPr sz="2200" b="1"/>
              <a:t>Safeguards: audit, capped pilot, publish results, revise or stop.</a:t>
            </a:r>
          </a:p>
          <a:p xmlns:a="http://schemas.openxmlformats.org/drawingml/2006/main">
            <a:r>
              <a:rPr sz="2200" b="1"/>
              <a:t>Intended benefit, not yet demonstrated.</a:t>
            </a:r>
          </a:p>
        </p:txBody>
      </p:sp>
      <p:sp>
        <p:nvSpPr>
          <p:cNvPr id="37" name="limits-heading">
            <a:extLst xmlns:a="http://schemas.openxmlformats.org/drawingml/2006/main">
              <a:ext uri="{FF2B5EF4-FFF2-40B4-BE49-F238E27FC236}">
                <a16:creationId xmlns:a16="http://schemas.microsoft.com/office/drawing/2014/main" id="{68ADFBED-634F-4EFD-A437-EF921500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221932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r>
              <a:rPr sz="3375" b="1"/>
              <a:t>Future Research Roadmap</a:t>
            </a:r>
          </a:p>
        </p:txBody>
      </p:sp>
      <p:sp>
        <p:nvSpPr>
          <p:cNvPr id="38" name="limits">
            <a:extLst xmlns:a="http://schemas.openxmlformats.org/drawingml/2006/main">
              <a:ext uri="{FF2B5EF4-FFF2-40B4-BE49-F238E27FC236}">
                <a16:creationId xmlns:a16="http://schemas.microsoft.com/office/drawing/2014/main" id="{B297720D-E873-4F17-88AF-AF30E5F6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22955250"/>
            <a:ext cx="110490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r>
              <a:rPr sz="2200" b="1"/>
              <a:t>Limitation: illustrative parameters, simulated firms, manipulable compute.</a:t>
            </a:r>
          </a:p>
          <a:p xmlns:a="http://schemas.openxmlformats.org/drawingml/2006/main">
            <a:r>
              <a:rPr sz="2200" b="1"/>
              <a:t>Economics: which reward raises sources/$? — preregistered policy pilot.</a:t>
            </a:r>
          </a:p>
          <a:p xmlns:a="http://schemas.openxmlformats.org/drawingml/2006/main">
            <a:r>
              <a:rPr sz="2200" b="1"/>
              <a:t>Computer science: can original compute be verified? — provenance logs + adversarial benchmarks.</a:t>
            </a:r>
          </a:p>
          <a:p xmlns:a="http://schemas.openxmlformats.org/drawingml/2006/main">
            <a:r>
              <a:rPr sz="2200" b="1"/>
              <a:t>Behavioral: how do firms adapt over rounds? — repeated-choice experiments.</a:t>
            </a:r>
          </a:p>
          <a:p xmlns:a="http://schemas.openxmlformats.org/drawingml/2006/main">
            <a:r>
              <a:rPr sz="2200" b="1"/>
              <a:t>First task: an auditable training measure.</a:t>
            </a:r>
          </a:p>
        </p:txBody>
      </p:sp>
      <p:sp>
        <p:nvSpPr>
          <p:cNvPr id="39" name="dates">
            <a:extLst xmlns:a="http://schemas.openxmlformats.org/drawingml/2006/main">
              <a:ext uri="{FF2B5EF4-FFF2-40B4-BE49-F238E27FC236}">
                <a16:creationId xmlns:a16="http://schemas.microsoft.com/office/drawing/2014/main" id="{EA157D18-CC9B-4A0B-91A5-3BE26B8F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25812750"/>
            <a:ext cx="1104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r>
              <a:rPr sz="2550" b="1"/>
              <a:t>OCT 12  duet defense ·  OCT 14  roundtable ·  OCT 21  final</a:t>
            </a:r>
          </a:p>
        </p:txBody>
      </p:sp>
      <p:sp>
        <p:nvSpPr>
          <p:cNvPr id="4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4CE48EC-E121-4C2A-81BE-8C70F6F4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527250"/>
            <a:ext cx="40137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ack-heading">
            <a:extLst xmlns:a="http://schemas.openxmlformats.org/drawingml/2006/main">
              <a:ext uri="{FF2B5EF4-FFF2-40B4-BE49-F238E27FC236}">
                <a16:creationId xmlns:a16="http://schemas.microsoft.com/office/drawing/2014/main" id="{CC1B0A45-EEBC-4636-8C8B-F8804355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8130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3375" b="1"/>
              <a:t>Acknowledgments &amp; contributions</a:t>
            </a:r>
          </a:p>
        </p:txBody>
      </p:sp>
      <p:sp>
        <p:nvSpPr>
          <p:cNvPr id="42" name="ack">
            <a:extLst xmlns:a="http://schemas.openxmlformats.org/drawingml/2006/main">
              <a:ext uri="{FF2B5EF4-FFF2-40B4-BE49-F238E27FC236}">
                <a16:creationId xmlns:a16="http://schemas.microsoft.com/office/drawing/2014/main" id="{1C589FA2-42B8-4C7A-9C87-A446B786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479750"/>
            <a:ext cx="11049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r>
              <a:rPr sz="800" b="0"/>
              <a:t>Thanks to Prof. Luyao Zhang; Prof. Kenneth S. (Ken) Rogerson (Sept 7, 2026 workshop discussant); Han Zhang; reviewers Mustafa Ayub Khan, Jiayang Sun, Temur Akhtamjonov, Xuantong Fu, Feiyu Li; Tencent's Shanghai office; the Shanghai Science and Technology Museum; and the COMSCI/ECON 206 community.</a:t>
            </a:r>
          </a:p>
          <a:p xmlns:a="http://schemas.openxmlformats.org/drawingml/2006/main">
            <a:r>
              <a:rPr sz="800" b="0"/>
              <a:t>Zhengjun He: compute-indexed reward idea, market-competition model, simulation and verification. Yichen Shen: three-question framing, Hugging Face Space, paper/poster consistency. AI assistance disclosed in the paper.</a:t>
            </a:r>
          </a:p>
        </p:txBody>
      </p:sp>
      <p:sp>
        <p:nvSpPr>
          <p:cNvPr id="43" name="references-heading">
            <a:extLst xmlns:a="http://schemas.openxmlformats.org/drawingml/2006/main">
              <a:ext uri="{FF2B5EF4-FFF2-40B4-BE49-F238E27FC236}">
                <a16:creationId xmlns:a16="http://schemas.microsoft.com/office/drawing/2014/main" id="{E7EA3AAE-744F-4F03-A737-D3056A09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7813000"/>
            <a:ext cx="1419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Selected references</a:t>
            </a:r>
          </a:p>
        </p:txBody>
      </p:sp>
      <p:sp>
        <p:nvSpPr>
          <p:cNvPr id="44" name="references">
            <a:extLst xmlns:a="http://schemas.openxmlformats.org/drawingml/2006/main">
              <a:ext uri="{FF2B5EF4-FFF2-40B4-BE49-F238E27FC236}">
                <a16:creationId xmlns:a16="http://schemas.microsoft.com/office/drawing/2014/main" id="{0ECEF328-5F03-4179-A929-2458DB1F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120" y="28479600"/>
            <a:ext cx="16704000" cy="128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r>
              <a:rPr sz="900" b="1"/>
              <a:t>[1] Qiu, T., Laufer, B., Kleinberg, J. &amp; Heidari, H. (2025). Modeling the Economic Impacts of AI Openness Regulation. NeurIPS 2025. arXiv:2507.14193 · doi:10.52202/085713-1246</a:t>
            </a:r>
          </a:p>
          <a:p xmlns:a="http://schemas.openxmlformats.org/drawingml/2006/main">
            <a:r>
              <a:rPr sz="900" b="1"/>
              <a:t>[2] Xu, F., Wang, X., Chen, W. &amp; Xie, K. (2025). The Economics of AI Foundation Models. arXiv:2510.15200 · doi:10.2139/ssrn.4999355</a:t>
            </a:r>
          </a:p>
          <a:p xmlns:a="http://schemas.openxmlformats.org/drawingml/2006/main">
            <a:r>
              <a:rPr sz="900" b="1"/>
              <a:t>[3] Habibi, M. (2025). Open Sourcing GPTs. arXiv:2501.11581</a:t>
            </a:r>
          </a:p>
        </p:txBody>
      </p:sp>
      <p:sp>
        <p:nvSpPr>
          <p:cNvPr id="45" name="access-heading">
            <a:extLst xmlns:a="http://schemas.openxmlformats.org/drawingml/2006/main">
              <a:ext uri="{FF2B5EF4-FFF2-40B4-BE49-F238E27FC236}">
                <a16:creationId xmlns:a16="http://schemas.microsoft.com/office/drawing/2014/main" id="{49F540C3-5DD7-4CE8-9BCD-20A72A49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2781300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3399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03399"/>
                </a:solidFill>
                <a:latin typeface="Calibri"/>
                <a:ea typeface="Calibri"/>
                <a:cs typeface="Calibri"/>
              </a:rPr>
              <a:t>OPEN MATERIALS</a:t>
            </a:r>
          </a:p>
        </p:txBody>
      </p:sp>
      <p:sp>
        <p:nvSpPr>
          <p:cNvPr id="46" name="access-links">
            <a:extLst xmlns:a="http://schemas.openxmlformats.org/drawingml/2006/main">
              <a:ext uri="{FF2B5EF4-FFF2-40B4-BE49-F238E27FC236}">
                <a16:creationId xmlns:a16="http://schemas.microsoft.com/office/drawing/2014/main" id="{35C264DA-792D-48F7-AE3C-F21A5E9A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1500" y="28384500"/>
            <a:ext cx="8096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r>
              <a:rPr sz="900" b="1"/>
              <a:t>Hugging Face: huggingface.co/spaces/dku-comsci-econ206-2026/FP4_PS2</a:t>
            </a:r>
          </a:p>
          <a:p xmlns:a="http://schemas.openxmlformats.org/drawingml/2006/main">
            <a:r>
              <a:rPr sz="900" b="1"/>
              <a:t>GitHub: github.com/dku-comsci-econ206-Autumn2026/PS2-FP4-CapabilityTransfer</a:t>
            </a:r>
          </a:p>
          <a:p xmlns:a="http://schemas.openxmlformats.org/drawingml/2006/main">
            <a:r>
              <a:rPr sz="900" b="1"/>
              <a:t>Commit [FINAL-COMMIT]  ·  MIT licence</a:t>
            </a:r>
          </a:p>
        </p:txBody>
      </p:sp>
      <p:sp>
        <p:nvSpPr>
          <p:cNvPr id="51" name="format-note">
            <a:extLst xmlns:a="http://schemas.openxmlformats.org/drawingml/2006/main">
              <a:ext uri="{FF2B5EF4-FFF2-40B4-BE49-F238E27FC236}">
                <a16:creationId xmlns:a16="http://schemas.microsoft.com/office/drawing/2014/main" id="{49DEC60E-E378-41A7-B1C9-EC4712C5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813250"/>
            <a:ext cx="4013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r>
              <a:rPr sz="1950" b="0"/>
              <a:t>A0 landscape · editable PPTX + PDF · commit poster/final-poster.png and final-poster.pdf to GitHub root README</a:t>
            </a:r>
          </a:p>
        </p:txBody>
      </p:sp>
      <p:sp xmlns:a="http://schemas.openxmlformats.org/drawingml/2006/main">
        <p:nvSpPr>
          <p:cNvPr id="59" name="fig1-colhdr-1"/>
          <p:cNvSpPr/>
          <p:nvPr/>
        </p:nvSpPr>
        <p:spPr>
          <a:xfrm>
            <a:off x="15084000" y="11880000"/>
            <a:ext cx="7074000" cy="468000"/>
          </a:xfrm>
          <a:prstGeom prst="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43200" bIns="43200">
            <a:noAutofit/>
          </a:bodyPr>
          <a:lstStyle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Imitate · cheap (C</a:t>
            </a:r>
            <a:r>
              <a:rPr sz="2400" b="1" baseline="-25000">
                <a:solidFill>
                  <a:srgbClr val="FFFFFF"/>
                </a:solidFill>
                <a:latin typeface="Calibri"/>
              </a:rPr>
              <a:t>d</a:t>
            </a:r>
            <a:r>
              <a:rPr sz="2400" b="1">
                <a:solidFill>
                  <a:srgbClr val="FFFFFF"/>
                </a:solidFill>
                <a:latin typeface="Calibri"/>
              </a:rPr>
              <a:t>, E</a:t>
            </a:r>
            <a:r>
              <a:rPr sz="2400" b="1" baseline="-25000">
                <a:solidFill>
                  <a:srgbClr val="FFFFFF"/>
                </a:solidFill>
                <a:latin typeface="Calibri"/>
              </a:rPr>
              <a:t>d</a:t>
            </a:r>
            <a:r>
              <a:rPr sz="2400" b="1">
                <a:solidFill>
                  <a:srgbClr val="FFFFFF"/>
                </a:solidFill>
                <a:latin typeface="Calibri"/>
              </a:rPr>
              <a:t>)</a:t>
            </a:r>
          </a:p>
        </p:txBody>
      </p:sp>
      <p:sp xmlns:a="http://schemas.openxmlformats.org/drawingml/2006/main">
        <p:nvSpPr>
          <p:cNvPr id="60" name="fig1-colhdr-2"/>
          <p:cNvSpPr/>
          <p:nvPr/>
        </p:nvSpPr>
        <p:spPr>
          <a:xfrm>
            <a:off x="22158000" y="11880000"/>
            <a:ext cx="7074000" cy="468000"/>
          </a:xfrm>
          <a:prstGeom prst="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43200" bIns="43200">
            <a:noAutofit/>
          </a:bodyPr>
          <a:lstStyle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Innovate · costly (C</a:t>
            </a:r>
            <a:r>
              <a:rPr sz="2400" b="1" baseline="-25000">
                <a:solidFill>
                  <a:srgbClr val="FFFFFF"/>
                </a:solidFill>
                <a:latin typeface="Calibri"/>
              </a:rPr>
              <a:t>n</a:t>
            </a:r>
            <a:r>
              <a:rPr sz="2400" b="1">
                <a:solidFill>
                  <a:srgbClr val="FFFFFF"/>
                </a:solidFill>
                <a:latin typeface="Calibri"/>
              </a:rPr>
              <a:t>, E</a:t>
            </a:r>
            <a:r>
              <a:rPr sz="2400" b="1" baseline="-25000">
                <a:solidFill>
                  <a:srgbClr val="FFFFFF"/>
                </a:solidFill>
                <a:latin typeface="Calibri"/>
              </a:rPr>
              <a:t>n</a:t>
            </a:r>
            <a:r>
              <a:rPr sz="2400" b="1">
                <a:solidFill>
                  <a:srgbClr val="FFFFFF"/>
                </a:solidFill>
                <a:latin typeface="Calibri"/>
              </a:rPr>
              <a:t>)</a:t>
            </a:r>
          </a:p>
        </p:txBody>
      </p:sp>
      <p:sp xmlns:a="http://schemas.openxmlformats.org/drawingml/2006/main">
        <p:nvSpPr>
          <p:cNvPr id="61" name="fig1-rowhdr-0"/>
          <p:cNvSpPr/>
          <p:nvPr/>
        </p:nvSpPr>
        <p:spPr>
          <a:xfrm>
            <a:off x="13680000" y="12420000"/>
            <a:ext cx="1404000" cy="1530000"/>
          </a:xfrm>
          <a:prstGeom prst="rect">
            <a:avLst/>
          </a:prstGeom>
          <a:solidFill>
            <a:srgbClr val="21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32400" bIns="3240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Secrecy</a:t>
            </a:r>
          </a:p>
        </p:txBody>
      </p:sp>
      <p:sp xmlns:a="http://schemas.openxmlformats.org/drawingml/2006/main">
        <p:nvSpPr>
          <p:cNvPr id="62" name="fig1-rowhdr-1"/>
          <p:cNvSpPr/>
          <p:nvPr/>
        </p:nvSpPr>
        <p:spPr>
          <a:xfrm>
            <a:off x="13680000" y="14057999"/>
            <a:ext cx="1404000" cy="1530000"/>
          </a:xfrm>
          <a:prstGeom prst="rect">
            <a:avLst/>
          </a:prstGeom>
          <a:solidFill>
            <a:srgbClr val="21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32400" bIns="3240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Openness</a:t>
            </a:r>
          </a:p>
        </p:txBody>
      </p:sp>
      <p:sp xmlns:a="http://schemas.openxmlformats.org/drawingml/2006/main">
        <p:nvSpPr>
          <p:cNvPr id="63" name="fig1-cell-①"/>
          <p:cNvSpPr/>
          <p:nvPr/>
        </p:nvSpPr>
        <p:spPr>
          <a:xfrm>
            <a:off x="15084000" y="12420000"/>
            <a:ext cx="6994800" cy="1530000"/>
          </a:xfrm>
          <a:prstGeom prst="rect">
            <a:avLst/>
          </a:prstGeom>
          <a:solidFill>
            <a:srgbClr val="F8E8EA"/>
          </a:solidFill>
          <a:ln w="28575">
            <a:solidFill>
              <a:srgbClr val="A619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1200" rIns="151200" tIns="90720" bIns="90720">
            <a:noAutofit/>
          </a:bodyPr>
          <a:lstStyle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>
                <a:solidFill>
                  <a:srgbClr val="212A33"/>
                </a:solidFill>
                <a:latin typeface="Calibri"/>
              </a:rPr>
              <a:t>①  </a:t>
            </a:r>
            <a:r>
              <a:rPr sz="2300" b="1">
                <a:solidFill>
                  <a:srgbClr val="212A33"/>
                </a:solidFill>
                <a:latin typeface="Calibri"/>
              </a:rPr>
              <a:t>Secrecy + imitation</a:t>
            </a:r>
          </a:p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>
                <a:solidFill>
                  <a:srgbClr val="212A33"/>
                </a:solidFill>
                <a:latin typeface="Calibri"/>
              </a:rPr>
              <a:t>Free-rider</a:t>
            </a:r>
            <a:r>
              <a:rPr sz="2300" b="0">
                <a:solidFill>
                  <a:srgbClr val="212A33"/>
                </a:solidFill>
                <a:latin typeface="Calibri"/>
              </a:rPr>
              <a:t> — takes, gives nothing</a:t>
            </a:r>
          </a:p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>
                <a:solidFill>
                  <a:srgbClr val="212A33"/>
                </a:solidFill>
                <a:latin typeface="Calibri"/>
              </a:rPr>
              <a:t>π − C</a:t>
            </a:r>
            <a:r>
              <a:rPr baseline="-25000" sz="2300" b="0">
                <a:solidFill>
                  <a:srgbClr val="212A33"/>
                </a:solidFill>
                <a:latin typeface="Calibri"/>
              </a:rPr>
              <a:t>d</a:t>
            </a:r>
          </a:p>
        </p:txBody>
      </p:sp>
      <p:sp xmlns:a="http://schemas.openxmlformats.org/drawingml/2006/main">
        <p:nvSpPr>
          <p:cNvPr id="64" name="fig1-cell-②"/>
          <p:cNvSpPr/>
          <p:nvPr/>
        </p:nvSpPr>
        <p:spPr>
          <a:xfrm>
            <a:off x="15084000" y="14057999"/>
            <a:ext cx="6994800" cy="1530000"/>
          </a:xfrm>
          <a:prstGeom prst="rect">
            <a:avLst/>
          </a:prstGeom>
          <a:solidFill>
            <a:srgbClr val="EEF1F3"/>
          </a:solidFill>
          <a:ln w="28575">
            <a:solidFill>
              <a:srgbClr val="5661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1200" rIns="151200" tIns="90720" bIns="90720">
            <a:noAutofit/>
          </a:bodyPr>
          <a:lstStyle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>
                <a:solidFill>
                  <a:srgbClr val="212A33"/>
                </a:solidFill>
                <a:latin typeface="Calibri"/>
              </a:rPr>
              <a:t>②  </a:t>
            </a:r>
            <a:r>
              <a:rPr sz="2300" b="1">
                <a:solidFill>
                  <a:srgbClr val="212A33"/>
                </a:solidFill>
                <a:latin typeface="Calibri"/>
              </a:rPr>
              <a:t>Openness + imitation</a:t>
            </a:r>
          </a:p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>
                <a:solidFill>
                  <a:srgbClr val="212A33"/>
                </a:solidFill>
                <a:latin typeface="Calibri"/>
              </a:rPr>
              <a:t>Passer-on</a:t>
            </a:r>
            <a:r>
              <a:rPr sz="2300" b="0">
                <a:solidFill>
                  <a:srgbClr val="212A33"/>
                </a:solidFill>
                <a:latin typeface="Calibri"/>
              </a:rPr>
              <a:t> — takes and gives back</a:t>
            </a:r>
          </a:p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>
                <a:solidFill>
                  <a:srgbClr val="212A33"/>
                </a:solidFill>
                <a:latin typeface="Calibri"/>
              </a:rPr>
              <a:t>−C</a:t>
            </a:r>
            <a:r>
              <a:rPr sz="2300" b="1" baseline="-25000">
                <a:solidFill>
                  <a:srgbClr val="212A33"/>
                </a:solidFill>
                <a:latin typeface="Calibri"/>
              </a:rPr>
              <a:t>d</a:t>
            </a:r>
            <a:r>
              <a:rPr sz="2300" b="1">
                <a:solidFill>
                  <a:srgbClr val="212A33"/>
                </a:solidFill>
                <a:latin typeface="Calibri"/>
              </a:rPr>
              <a:t> + kE</a:t>
            </a:r>
            <a:r>
              <a:rPr sz="2300" b="1" baseline="-25000">
                <a:solidFill>
                  <a:srgbClr val="212A33"/>
                </a:solidFill>
                <a:latin typeface="Calibri"/>
              </a:rPr>
              <a:t>d</a:t>
            </a:r>
            <a:r>
              <a:rPr sz="2300" b="1">
                <a:solidFill>
                  <a:srgbClr val="212A33"/>
                </a:solidFill>
                <a:latin typeface="Calibri"/>
              </a:rPr>
              <a:t> − L</a:t>
            </a:r>
            <a:r>
              <a:rPr sz="2300" b="1">
                <a:solidFill>
                  <a:srgbClr val="212A33"/>
                </a:solidFill>
                <a:latin typeface="Calibri"/>
              </a:rPr>
              <a:t> + βφK·m/(m+m₀)</a:t>
            </a:r>
          </a:p>
        </p:txBody>
      </p:sp>
      <p:sp xmlns:a="http://schemas.openxmlformats.org/drawingml/2006/main">
        <p:nvSpPr>
          <p:cNvPr id="65" name="fig1-cell-③"/>
          <p:cNvSpPr/>
          <p:nvPr/>
        </p:nvSpPr>
        <p:spPr>
          <a:xfrm>
            <a:off x="22158000" y="12420000"/>
            <a:ext cx="6994800" cy="1530000"/>
          </a:xfrm>
          <a:prstGeom prst="rect">
            <a:avLst/>
          </a:prstGeom>
          <a:solidFill>
            <a:srgbClr val="EEF1F3"/>
          </a:solidFill>
          <a:ln w="28575">
            <a:solidFill>
              <a:srgbClr val="00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1200" rIns="151200" tIns="90720" bIns="90720">
            <a:noAutofit/>
          </a:bodyPr>
          <a:lstStyle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>
                <a:solidFill>
                  <a:srgbClr val="212A33"/>
                </a:solidFill>
                <a:latin typeface="Calibri"/>
              </a:rPr>
              <a:t>③  </a:t>
            </a:r>
            <a:r>
              <a:rPr sz="2300" b="1">
                <a:solidFill>
                  <a:srgbClr val="212A33"/>
                </a:solidFill>
                <a:latin typeface="Calibri"/>
              </a:rPr>
              <a:t>Secrecy + innovation</a:t>
            </a:r>
          </a:p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>
                <a:solidFill>
                  <a:srgbClr val="212A33"/>
                </a:solidFill>
                <a:latin typeface="Calibri"/>
              </a:rPr>
              <a:t>Monopolist</a:t>
            </a:r>
            <a:r>
              <a:rPr sz="2300" b="0">
                <a:solidFill>
                  <a:srgbClr val="212A33"/>
                </a:solidFill>
                <a:latin typeface="Calibri"/>
              </a:rPr>
              <a:t> — builds, keeps it</a:t>
            </a:r>
          </a:p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>
                <a:solidFill>
                  <a:srgbClr val="212A33"/>
                </a:solidFill>
                <a:latin typeface="Calibri"/>
              </a:rPr>
              <a:t>π − C</a:t>
            </a:r>
            <a:r>
              <a:rPr baseline="-25000" sz="2300" b="0">
                <a:solidFill>
                  <a:srgbClr val="212A33"/>
                </a:solidFill>
                <a:latin typeface="Calibri"/>
              </a:rPr>
              <a:t>n</a:t>
            </a:r>
          </a:p>
        </p:txBody>
      </p:sp>
      <p:sp xmlns:a="http://schemas.openxmlformats.org/drawingml/2006/main">
        <p:nvSpPr>
          <p:cNvPr id="66" name="fig1-cell-④"/>
          <p:cNvSpPr/>
          <p:nvPr/>
        </p:nvSpPr>
        <p:spPr>
          <a:xfrm>
            <a:off x="22158000" y="14057999"/>
            <a:ext cx="6994800" cy="1530000"/>
          </a:xfrm>
          <a:prstGeom prst="rect">
            <a:avLst/>
          </a:prstGeom>
          <a:solidFill>
            <a:srgbClr val="E6F0EA"/>
          </a:solidFill>
          <a:ln w="28575">
            <a:solidFill>
              <a:srgbClr val="006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1200" rIns="151200" tIns="90720" bIns="90720">
            <a:noAutofit/>
          </a:bodyPr>
          <a:lstStyle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>
                <a:solidFill>
                  <a:srgbClr val="212A33"/>
                </a:solidFill>
                <a:latin typeface="Calibri"/>
              </a:rPr>
              <a:t>④  </a:t>
            </a:r>
            <a:r>
              <a:rPr sz="2300" b="1">
                <a:solidFill>
                  <a:srgbClr val="212A33"/>
                </a:solidFill>
                <a:latin typeface="Calibri"/>
              </a:rPr>
              <a:t>Openness + innovation</a:t>
            </a:r>
          </a:p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>
                <a:solidFill>
                  <a:srgbClr val="212A33"/>
                </a:solidFill>
                <a:latin typeface="Calibri"/>
              </a:rPr>
              <a:t>Source</a:t>
            </a:r>
            <a:r>
              <a:rPr sz="2300" b="0">
                <a:solidFill>
                  <a:srgbClr val="212A33"/>
                </a:solidFill>
                <a:latin typeface="Calibri"/>
              </a:rPr>
              <a:t> — builds, and shares</a:t>
            </a:r>
          </a:p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>
                <a:solidFill>
                  <a:srgbClr val="212A33"/>
                </a:solidFill>
                <a:latin typeface="Calibri"/>
              </a:rPr>
              <a:t>−C</a:t>
            </a:r>
            <a:r>
              <a:rPr sz="2300" b="1" baseline="-25000">
                <a:solidFill>
                  <a:srgbClr val="212A33"/>
                </a:solidFill>
                <a:latin typeface="Calibri"/>
              </a:rPr>
              <a:t>n</a:t>
            </a:r>
            <a:r>
              <a:rPr sz="2300" b="1">
                <a:solidFill>
                  <a:srgbClr val="212A33"/>
                </a:solidFill>
                <a:latin typeface="Calibri"/>
              </a:rPr>
              <a:t> + kE</a:t>
            </a:r>
            <a:r>
              <a:rPr sz="2300" b="1" baseline="-25000">
                <a:solidFill>
                  <a:srgbClr val="212A33"/>
                </a:solidFill>
                <a:latin typeface="Calibri"/>
              </a:rPr>
              <a:t>n</a:t>
            </a:r>
            <a:r>
              <a:rPr sz="2300" b="1">
                <a:solidFill>
                  <a:srgbClr val="212A33"/>
                </a:solidFill>
                <a:latin typeface="Calibri"/>
              </a:rPr>
              <a:t> − L</a:t>
            </a:r>
            <a:r>
              <a:rPr sz="2300" b="1">
                <a:solidFill>
                  <a:srgbClr val="212A33"/>
                </a:solidFill>
                <a:latin typeface="Calibri"/>
              </a:rPr>
              <a:t> + βφK·m/(m+m₀)</a:t>
            </a:r>
          </a:p>
        </p:txBody>
      </p:sp>
      <p:sp xmlns:a="http://schemas.openxmlformats.org/drawingml/2006/main">
        <p:nvSpPr>
          <p:cNvPr id="67" name="fig2-hdr-0"/>
          <p:cNvSpPr/>
          <p:nvPr/>
        </p:nvSpPr>
        <p:spPr>
          <a:xfrm>
            <a:off x="13680000" y="18144000"/>
            <a:ext cx="4968000" cy="486000"/>
          </a:xfrm>
          <a:prstGeom prst="rect">
            <a:avLst/>
          </a:prstGeom>
          <a:solidFill>
            <a:srgbClr val="21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32400" bIns="3240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Combination</a:t>
            </a:r>
          </a:p>
        </p:txBody>
      </p:sp>
      <p:sp xmlns:a="http://schemas.openxmlformats.org/drawingml/2006/main">
        <p:nvSpPr>
          <p:cNvPr id="68" name="fig2-hdr-1"/>
          <p:cNvSpPr/>
          <p:nvPr/>
        </p:nvSpPr>
        <p:spPr>
          <a:xfrm>
            <a:off x="18648000" y="18144000"/>
            <a:ext cx="3096000" cy="486000"/>
          </a:xfrm>
          <a:prstGeom prst="rect">
            <a:avLst/>
          </a:prstGeom>
          <a:solidFill>
            <a:srgbClr val="21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32400" bIns="3240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Private desire</a:t>
            </a:r>
          </a:p>
        </p:txBody>
      </p:sp>
      <p:sp xmlns:a="http://schemas.openxmlformats.org/drawingml/2006/main">
        <p:nvSpPr>
          <p:cNvPr id="69" name="fig2-hdr-2"/>
          <p:cNvSpPr/>
          <p:nvPr/>
        </p:nvSpPr>
        <p:spPr>
          <a:xfrm>
            <a:off x="21744000" y="18144000"/>
            <a:ext cx="3096000" cy="486000"/>
          </a:xfrm>
          <a:prstGeom prst="rect">
            <a:avLst/>
          </a:prstGeom>
          <a:solidFill>
            <a:srgbClr val="21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32400" bIns="3240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Social desirability</a:t>
            </a:r>
          </a:p>
        </p:txBody>
      </p:sp>
      <p:sp xmlns:a="http://schemas.openxmlformats.org/drawingml/2006/main">
        <p:nvSpPr>
          <p:cNvPr id="70" name="fig2-hdr-3"/>
          <p:cNvSpPr/>
          <p:nvPr/>
        </p:nvSpPr>
        <p:spPr>
          <a:xfrm>
            <a:off x="24840000" y="18144000"/>
            <a:ext cx="4392000" cy="486000"/>
          </a:xfrm>
          <a:prstGeom prst="rect">
            <a:avLst/>
          </a:prstGeom>
          <a:solidFill>
            <a:srgbClr val="21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32400" bIns="3240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Conflict</a:t>
            </a:r>
          </a:p>
        </p:txBody>
      </p:sp>
      <p:sp xmlns:a="http://schemas.openxmlformats.org/drawingml/2006/main">
        <p:nvSpPr>
          <p:cNvPr id="71" name="fig2-c0-name"/>
          <p:cNvSpPr/>
          <p:nvPr/>
        </p:nvSpPr>
        <p:spPr>
          <a:xfrm>
            <a:off x="13680000" y="18630000"/>
            <a:ext cx="4968000" cy="522000"/>
          </a:xfrm>
          <a:prstGeom prst="rect">
            <a:avLst/>
          </a:prstGeom>
          <a:solidFill>
            <a:srgbClr val="F8E8EA"/>
          </a:solidFill>
          <a:ln w="9525">
            <a:solidFill>
              <a:srgbClr val="CFD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 tIns="86400" bIns="8640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12A33"/>
                </a:solidFill>
                <a:latin typeface="Calibri"/>
              </a:rPr>
              <a:t>①  Secrecy + imitation</a:t>
            </a:r>
          </a:p>
        </p:txBody>
      </p:sp>
      <p:sp xmlns:a="http://schemas.openxmlformats.org/drawingml/2006/main">
        <p:nvSpPr>
          <p:cNvPr id="72" name="fig2-c0-privbox"/>
          <p:cNvSpPr/>
          <p:nvPr/>
        </p:nvSpPr>
        <p:spPr>
          <a:xfrm>
            <a:off x="18648000" y="18630000"/>
            <a:ext cx="3096000" cy="522000"/>
          </a:xfrm>
          <a:prstGeom prst="rect">
            <a:avLst/>
          </a:prstGeom>
          <a:solidFill>
            <a:srgbClr val="F8E8EA"/>
          </a:solidFill>
          <a:ln w="9525">
            <a:solidFill>
              <a:srgbClr val="CFD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43200" bIns="4320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 xmlns:a="http://schemas.openxmlformats.org/drawingml/2006/main">
        <p:nvSpPr>
          <p:cNvPr id="73" name="fig2-c0-priv-1"/>
          <p:cNvSpPr/>
          <p:nvPr/>
        </p:nvSpPr>
        <p:spPr>
          <a:xfrm>
            <a:off x="19025999" y="18781200"/>
            <a:ext cx="531000" cy="216000"/>
          </a:xfrm>
          <a:prstGeom prst="rect">
            <a:avLst/>
          </a:prstGeom>
          <a:solidFill>
            <a:srgbClr val="A6192E"/>
          </a:solidFill>
          <a:ln w="9525">
            <a:solidFill>
              <a:srgbClr val="CFD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 xmlns:a="http://schemas.openxmlformats.org/drawingml/2006/main">
        <p:nvSpPr>
          <p:cNvPr id="74" name="fig2-c0-priv-2"/>
          <p:cNvSpPr/>
          <p:nvPr/>
        </p:nvSpPr>
        <p:spPr>
          <a:xfrm>
            <a:off x="19628999" y="18781200"/>
            <a:ext cx="531000" cy="216000"/>
          </a:xfrm>
          <a:prstGeom prst="rect">
            <a:avLst/>
          </a:prstGeom>
          <a:solidFill>
            <a:srgbClr val="A6192E"/>
          </a:solidFill>
          <a:ln w="9525">
            <a:solidFill>
              <a:srgbClr val="CFD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 xmlns:a="http://schemas.openxmlformats.org/drawingml/2006/main">
        <p:nvSpPr>
          <p:cNvPr id="75" name="fig2-c0-priv-3"/>
          <p:cNvSpPr/>
          <p:nvPr/>
        </p:nvSpPr>
        <p:spPr>
          <a:xfrm>
            <a:off x="20232000" y="18781200"/>
            <a:ext cx="531000" cy="216000"/>
          </a:xfrm>
          <a:prstGeom prst="rect">
            <a:avLst/>
          </a:prstGeom>
          <a:solidFill>
            <a:srgbClr val="A6192E"/>
          </a:solidFill>
          <a:ln w="9525">
            <a:solidFill>
              <a:srgbClr val="CFD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 xmlns:a="http://schemas.openxmlformats.org/drawingml/2006/main">
        <p:nvSpPr>
          <p:cNvPr id="76" name="fig2-c0-priv-4"/>
          <p:cNvSpPr/>
          <p:nvPr/>
        </p:nvSpPr>
        <p:spPr>
          <a:xfrm>
            <a:off x="20834999" y="18781200"/>
            <a:ext cx="531000" cy="216000"/>
          </a:xfrm>
          <a:prstGeom prst="rect">
            <a:avLst/>
          </a:prstGeom>
          <a:solidFill>
            <a:srgbClr val="A6192E"/>
          </a:solidFill>
          <a:ln w="9525">
            <a:solidFill>
              <a:srgbClr val="CFD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 xmlns:a="http://schemas.openxmlformats.org/drawingml/2006/main">
        <p:nvSpPr>
          <p:cNvPr id="77" name="fig2-c0-socbox"/>
          <p:cNvSpPr/>
          <p:nvPr/>
        </p:nvSpPr>
        <p:spPr>
          <a:xfrm>
            <a:off x="21744000" y="18630000"/>
            <a:ext cx="3096000" cy="522000"/>
          </a:xfrm>
          <a:prstGeom prst="rect">
            <a:avLst/>
          </a:prstGeom>
          <a:solidFill>
            <a:srgbClr val="F8E8EA"/>
          </a:solidFill>
          <a:ln w="9525">
            <a:solidFill>
              <a:srgbClr val="CFD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43200" bIns="4320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 xmlns:a="http://schemas.openxmlformats.org/drawingml/2006/main">
        <p:nvSpPr>
          <p:cNvPr id="78" name="fig2-c0-soc-1"/>
          <p:cNvSpPr/>
          <p:nvPr/>
        </p:nvSpPr>
        <p:spPr>
          <a:xfrm>
            <a:off x="22122000" y="18781200"/>
            <a:ext cx="531000" cy="216000"/>
          </a:xfrm>
          <a:prstGeom prst="rect">
            <a:avLst/>
          </a:prstGeom>
          <a:solidFill>
            <a:srgbClr val="006633"/>
          </a:solidFill>
          <a:ln w="9525">
            <a:solidFill>
              <a:srgbClr val="CFD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 xmlns:a="http://schemas.openxmlformats.org/drawingml/2006/main">
        <p:nvSpPr>
          <p:cNvPr id="79" name="fig2-c0-soc-2"/>
          <p:cNvSpPr/>
          <p:nvPr/>
        </p:nvSpPr>
        <p:spPr>
          <a:xfrm>
            <a:off x="22724999" y="18781200"/>
            <a:ext cx="531000" cy="21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 xmlns:a="http://schemas.openxmlformats.org/drawingml/2006/main">
        <p:nvSpPr>
          <p:cNvPr id="80" name="fig2-c0-soc-3"/>
          <p:cNvSpPr/>
          <p:nvPr/>
        </p:nvSpPr>
        <p:spPr>
          <a:xfrm>
            <a:off x="23328000" y="18781200"/>
            <a:ext cx="531000" cy="21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 xmlns:a="http://schemas.openxmlformats.org/drawingml/2006/main">
        <p:nvSpPr>
          <p:cNvPr id="81" name="fig2-c0-soc-4"/>
          <p:cNvSpPr/>
          <p:nvPr/>
        </p:nvSpPr>
        <p:spPr>
          <a:xfrm>
            <a:off x="23930999" y="18781200"/>
            <a:ext cx="531000" cy="21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 xmlns:a="http://schemas.openxmlformats.org/drawingml/2006/main">
        <p:nvSpPr>
          <p:cNvPr id="82" name="fig2-c0-conf"/>
          <p:cNvSpPr/>
          <p:nvPr/>
        </p:nvSpPr>
        <p:spPr>
          <a:xfrm>
            <a:off x="24840000" y="18630000"/>
            <a:ext cx="4392000" cy="522000"/>
          </a:xfrm>
          <a:prstGeom prst="rect">
            <a:avLst/>
          </a:prstGeom>
          <a:solidFill>
            <a:srgbClr val="F8E8EA"/>
          </a:solidFill>
          <a:ln w="9525">
            <a:solidFill>
              <a:srgbClr val="CFD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8000" rIns="198000" tIns="118800" bIns="11880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A6192E"/>
                </a:solidFill>
                <a:latin typeface="Calibri"/>
              </a:rPr>
              <a:t>←  Largest conflict</a:t>
            </a:r>
          </a:p>
        </p:txBody>
      </p:sp>
      <p:sp xmlns:a="http://schemas.openxmlformats.org/drawingml/2006/main">
        <p:nvSpPr>
          <p:cNvPr id="83" name="fig2-c1-name"/>
          <p:cNvSpPr/>
          <p:nvPr/>
        </p:nvSpPr>
        <p:spPr>
          <a:xfrm>
            <a:off x="13680000" y="19152000"/>
            <a:ext cx="4968000" cy="522000"/>
          </a:xfrm>
          <a:prstGeom prst="rect">
            <a:avLst/>
          </a:prstGeom>
          <a:solidFill>
            <a:srgbClr val="EEF1F3"/>
          </a:solidFill>
          <a:ln w="9525">
            <a:solidFill>
              <a:srgbClr val="CFD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 tIns="86400" bIns="8640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12A33"/>
                </a:solidFill>
                <a:latin typeface="Calibri"/>
              </a:rPr>
              <a:t>③  Secrecy + innovation</a:t>
            </a:r>
          </a:p>
        </p:txBody>
      </p:sp>
      <p:sp xmlns:a="http://schemas.openxmlformats.org/drawingml/2006/main">
        <p:nvSpPr>
          <p:cNvPr id="84" name="fig2-c1-privbox"/>
          <p:cNvSpPr/>
          <p:nvPr/>
        </p:nvSpPr>
        <p:spPr>
          <a:xfrm>
            <a:off x="18648000" y="19152000"/>
            <a:ext cx="3096000" cy="522000"/>
          </a:xfrm>
          <a:prstGeom prst="rect">
            <a:avLst/>
          </a:prstGeom>
          <a:solidFill>
            <a:srgbClr val="EEF1F3"/>
          </a:solidFill>
          <a:ln w="9525">
            <a:solidFill>
              <a:srgbClr val="CFD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43200" bIns="4320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 xmlns:a="http://schemas.openxmlformats.org/drawingml/2006/main">
        <p:nvSpPr>
          <p:cNvPr id="85" name="fig2-c1-priv-1"/>
          <p:cNvSpPr/>
          <p:nvPr/>
        </p:nvSpPr>
        <p:spPr>
          <a:xfrm>
            <a:off x="19025999" y="19303200"/>
            <a:ext cx="531000" cy="216000"/>
          </a:xfrm>
          <a:prstGeom prst="rect">
            <a:avLst/>
          </a:prstGeom>
          <a:solidFill>
            <a:srgbClr val="A6192E"/>
          </a:solidFill>
          <a:ln w="9525">
            <a:solidFill>
              <a:srgbClr val="CFD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 xmlns:a="http://schemas.openxmlformats.org/drawingml/2006/main">
        <p:nvSpPr>
          <p:cNvPr id="86" name="fig2-c1-priv-2"/>
          <p:cNvSpPr/>
          <p:nvPr/>
        </p:nvSpPr>
        <p:spPr>
          <a:xfrm>
            <a:off x="19628999" y="19303200"/>
            <a:ext cx="531000" cy="216000"/>
          </a:xfrm>
          <a:prstGeom prst="rect">
            <a:avLst/>
          </a:prstGeom>
          <a:solidFill>
            <a:srgbClr val="A6192E"/>
          </a:solidFill>
          <a:ln w="9525">
            <a:solidFill>
              <a:srgbClr val="CFD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 xmlns:a="http://schemas.openxmlformats.org/drawingml/2006/main">
        <p:nvSpPr>
          <p:cNvPr id="87" name="fig2-c1-priv-3"/>
          <p:cNvSpPr/>
          <p:nvPr/>
        </p:nvSpPr>
        <p:spPr>
          <a:xfrm>
            <a:off x="20232000" y="19303200"/>
            <a:ext cx="531000" cy="216000"/>
          </a:xfrm>
          <a:prstGeom prst="rect">
            <a:avLst/>
          </a:prstGeom>
          <a:solidFill>
            <a:srgbClr val="A6192E"/>
          </a:solidFill>
          <a:ln w="9525">
            <a:solidFill>
              <a:srgbClr val="CFD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 xmlns:a="http://schemas.openxmlformats.org/drawingml/2006/main">
        <p:nvSpPr>
          <p:cNvPr id="88" name="fig2-c1-priv-4"/>
          <p:cNvSpPr/>
          <p:nvPr/>
        </p:nvSpPr>
        <p:spPr>
          <a:xfrm>
            <a:off x="20834999" y="19303200"/>
            <a:ext cx="531000" cy="21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 xmlns:a="http://schemas.openxmlformats.org/drawingml/2006/main">
        <p:nvSpPr>
          <p:cNvPr id="89" name="fig2-c1-socbox"/>
          <p:cNvSpPr/>
          <p:nvPr/>
        </p:nvSpPr>
        <p:spPr>
          <a:xfrm>
            <a:off x="21744000" y="19152000"/>
            <a:ext cx="3096000" cy="522000"/>
          </a:xfrm>
          <a:prstGeom prst="rect">
            <a:avLst/>
          </a:prstGeom>
          <a:solidFill>
            <a:srgbClr val="EEF1F3"/>
          </a:solidFill>
          <a:ln w="9525">
            <a:solidFill>
              <a:srgbClr val="CFD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43200" bIns="4320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 xmlns:a="http://schemas.openxmlformats.org/drawingml/2006/main">
        <p:nvSpPr>
          <p:cNvPr id="90" name="fig2-c1-soc-1"/>
          <p:cNvSpPr/>
          <p:nvPr/>
        </p:nvSpPr>
        <p:spPr>
          <a:xfrm>
            <a:off x="22122000" y="19303200"/>
            <a:ext cx="531000" cy="216000"/>
          </a:xfrm>
          <a:prstGeom prst="rect">
            <a:avLst/>
          </a:prstGeom>
          <a:solidFill>
            <a:srgbClr val="006633"/>
          </a:solidFill>
          <a:ln w="9525">
            <a:solidFill>
              <a:srgbClr val="CFD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 xmlns:a="http://schemas.openxmlformats.org/drawingml/2006/main">
        <p:nvSpPr>
          <p:cNvPr id="91" name="fig2-c1-soc-2"/>
          <p:cNvSpPr/>
          <p:nvPr/>
        </p:nvSpPr>
        <p:spPr>
          <a:xfrm>
            <a:off x="22724999" y="19303200"/>
            <a:ext cx="531000" cy="216000"/>
          </a:xfrm>
          <a:prstGeom prst="rect">
            <a:avLst/>
          </a:prstGeom>
          <a:solidFill>
            <a:srgbClr val="006633"/>
          </a:solidFill>
          <a:ln w="9525">
            <a:solidFill>
              <a:srgbClr val="CFD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 xmlns:a="http://schemas.openxmlformats.org/drawingml/2006/main">
        <p:nvSpPr>
          <p:cNvPr id="92" name="fig2-c1-soc-3"/>
          <p:cNvSpPr/>
          <p:nvPr/>
        </p:nvSpPr>
        <p:spPr>
          <a:xfrm>
            <a:off x="23328000" y="19303200"/>
            <a:ext cx="531000" cy="21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 xmlns:a="http://schemas.openxmlformats.org/drawingml/2006/main">
        <p:nvSpPr>
          <p:cNvPr id="93" name="fig2-c1-soc-4"/>
          <p:cNvSpPr/>
          <p:nvPr/>
        </p:nvSpPr>
        <p:spPr>
          <a:xfrm>
            <a:off x="23930999" y="19303200"/>
            <a:ext cx="531000" cy="21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 xmlns:a="http://schemas.openxmlformats.org/drawingml/2006/main">
        <p:nvSpPr>
          <p:cNvPr id="94" name="fig2-c1-conf"/>
          <p:cNvSpPr/>
          <p:nvPr/>
        </p:nvSpPr>
        <p:spPr>
          <a:xfrm>
            <a:off x="24840000" y="19152000"/>
            <a:ext cx="4392000" cy="522000"/>
          </a:xfrm>
          <a:prstGeom prst="rect">
            <a:avLst/>
          </a:prstGeom>
          <a:solidFill>
            <a:srgbClr val="EEF1F3"/>
          </a:solidFill>
          <a:ln w="9525">
            <a:solidFill>
              <a:srgbClr val="CFD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8000" rIns="198000" tIns="118800" bIns="11880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56616B"/>
                </a:solidFill>
                <a:latin typeface="Calibri"/>
              </a:rPr>
              <a:t>←  Small conflict</a:t>
            </a:r>
          </a:p>
        </p:txBody>
      </p:sp>
      <p:sp xmlns:a="http://schemas.openxmlformats.org/drawingml/2006/main">
        <p:nvSpPr>
          <p:cNvPr id="95" name="fig2-c2-name"/>
          <p:cNvSpPr/>
          <p:nvPr/>
        </p:nvSpPr>
        <p:spPr>
          <a:xfrm>
            <a:off x="13680000" y="19674000"/>
            <a:ext cx="4968000" cy="522000"/>
          </a:xfrm>
          <a:prstGeom prst="rect">
            <a:avLst/>
          </a:prstGeom>
          <a:solidFill>
            <a:srgbClr val="EEF1F3"/>
          </a:solidFill>
          <a:ln w="9525">
            <a:solidFill>
              <a:srgbClr val="CFD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 tIns="86400" bIns="8640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12A33"/>
                </a:solidFill>
                <a:latin typeface="Calibri"/>
              </a:rPr>
              <a:t>②  Openness + imitation</a:t>
            </a:r>
          </a:p>
        </p:txBody>
      </p:sp>
      <p:sp xmlns:a="http://schemas.openxmlformats.org/drawingml/2006/main">
        <p:nvSpPr>
          <p:cNvPr id="96" name="fig2-c2-privbox"/>
          <p:cNvSpPr/>
          <p:nvPr/>
        </p:nvSpPr>
        <p:spPr>
          <a:xfrm>
            <a:off x="18648000" y="19674000"/>
            <a:ext cx="3096000" cy="522000"/>
          </a:xfrm>
          <a:prstGeom prst="rect">
            <a:avLst/>
          </a:prstGeom>
          <a:solidFill>
            <a:srgbClr val="EEF1F3"/>
          </a:solidFill>
          <a:ln w="9525">
            <a:solidFill>
              <a:srgbClr val="CFD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43200" bIns="4320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 xmlns:a="http://schemas.openxmlformats.org/drawingml/2006/main">
        <p:nvSpPr>
          <p:cNvPr id="97" name="fig2-c2-priv-1"/>
          <p:cNvSpPr/>
          <p:nvPr/>
        </p:nvSpPr>
        <p:spPr>
          <a:xfrm>
            <a:off x="19025999" y="19825200"/>
            <a:ext cx="531000" cy="216000"/>
          </a:xfrm>
          <a:prstGeom prst="rect">
            <a:avLst/>
          </a:prstGeom>
          <a:solidFill>
            <a:srgbClr val="A6192E"/>
          </a:solidFill>
          <a:ln w="9525">
            <a:solidFill>
              <a:srgbClr val="CFD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 xmlns:a="http://schemas.openxmlformats.org/drawingml/2006/main">
        <p:nvSpPr>
          <p:cNvPr id="98" name="fig2-c2-priv-2"/>
          <p:cNvSpPr/>
          <p:nvPr/>
        </p:nvSpPr>
        <p:spPr>
          <a:xfrm>
            <a:off x="19628999" y="19825200"/>
            <a:ext cx="531000" cy="216000"/>
          </a:xfrm>
          <a:prstGeom prst="rect">
            <a:avLst/>
          </a:prstGeom>
          <a:solidFill>
            <a:srgbClr val="A6192E"/>
          </a:solidFill>
          <a:ln w="9525">
            <a:solidFill>
              <a:srgbClr val="CFD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 xmlns:a="http://schemas.openxmlformats.org/drawingml/2006/main">
        <p:nvSpPr>
          <p:cNvPr id="99" name="fig2-c2-priv-3"/>
          <p:cNvSpPr/>
          <p:nvPr/>
        </p:nvSpPr>
        <p:spPr>
          <a:xfrm>
            <a:off x="20232000" y="19825200"/>
            <a:ext cx="531000" cy="21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 xmlns:a="http://schemas.openxmlformats.org/drawingml/2006/main">
        <p:nvSpPr>
          <p:cNvPr id="100" name="fig2-c2-priv-4"/>
          <p:cNvSpPr/>
          <p:nvPr/>
        </p:nvSpPr>
        <p:spPr>
          <a:xfrm>
            <a:off x="20834999" y="19825200"/>
            <a:ext cx="531000" cy="21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 xmlns:a="http://schemas.openxmlformats.org/drawingml/2006/main">
        <p:nvSpPr>
          <p:cNvPr id="101" name="fig2-c2-socbox"/>
          <p:cNvSpPr/>
          <p:nvPr/>
        </p:nvSpPr>
        <p:spPr>
          <a:xfrm>
            <a:off x="21744000" y="19674000"/>
            <a:ext cx="3096000" cy="522000"/>
          </a:xfrm>
          <a:prstGeom prst="rect">
            <a:avLst/>
          </a:prstGeom>
          <a:solidFill>
            <a:srgbClr val="EEF1F3"/>
          </a:solidFill>
          <a:ln w="9525">
            <a:solidFill>
              <a:srgbClr val="CFD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43200" bIns="4320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 xmlns:a="http://schemas.openxmlformats.org/drawingml/2006/main">
        <p:nvSpPr>
          <p:cNvPr id="102" name="fig2-c2-soc-1"/>
          <p:cNvSpPr/>
          <p:nvPr/>
        </p:nvSpPr>
        <p:spPr>
          <a:xfrm>
            <a:off x="22122000" y="19825200"/>
            <a:ext cx="531000" cy="216000"/>
          </a:xfrm>
          <a:prstGeom prst="rect">
            <a:avLst/>
          </a:prstGeom>
          <a:solidFill>
            <a:srgbClr val="006633"/>
          </a:solidFill>
          <a:ln w="9525">
            <a:solidFill>
              <a:srgbClr val="CFD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 xmlns:a="http://schemas.openxmlformats.org/drawingml/2006/main">
        <p:nvSpPr>
          <p:cNvPr id="103" name="fig2-c2-soc-2"/>
          <p:cNvSpPr/>
          <p:nvPr/>
        </p:nvSpPr>
        <p:spPr>
          <a:xfrm>
            <a:off x="22724999" y="19825200"/>
            <a:ext cx="531000" cy="216000"/>
          </a:xfrm>
          <a:prstGeom prst="rect">
            <a:avLst/>
          </a:prstGeom>
          <a:solidFill>
            <a:srgbClr val="006633"/>
          </a:solidFill>
          <a:ln w="9525">
            <a:solidFill>
              <a:srgbClr val="CFD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 xmlns:a="http://schemas.openxmlformats.org/drawingml/2006/main">
        <p:nvSpPr>
          <p:cNvPr id="104" name="fig2-c2-soc-3"/>
          <p:cNvSpPr/>
          <p:nvPr/>
        </p:nvSpPr>
        <p:spPr>
          <a:xfrm>
            <a:off x="23328000" y="19825200"/>
            <a:ext cx="531000" cy="216000"/>
          </a:xfrm>
          <a:prstGeom prst="rect">
            <a:avLst/>
          </a:prstGeom>
          <a:solidFill>
            <a:srgbClr val="006633"/>
          </a:solidFill>
          <a:ln w="9525">
            <a:solidFill>
              <a:srgbClr val="CFD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 xmlns:a="http://schemas.openxmlformats.org/drawingml/2006/main">
        <p:nvSpPr>
          <p:cNvPr id="105" name="fig2-c2-soc-4"/>
          <p:cNvSpPr/>
          <p:nvPr/>
        </p:nvSpPr>
        <p:spPr>
          <a:xfrm>
            <a:off x="23930999" y="19825200"/>
            <a:ext cx="531000" cy="21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 xmlns:a="http://schemas.openxmlformats.org/drawingml/2006/main">
        <p:nvSpPr>
          <p:cNvPr id="106" name="fig2-c2-conf"/>
          <p:cNvSpPr/>
          <p:nvPr/>
        </p:nvSpPr>
        <p:spPr>
          <a:xfrm>
            <a:off x="24840000" y="19674000"/>
            <a:ext cx="4392000" cy="522000"/>
          </a:xfrm>
          <a:prstGeom prst="rect">
            <a:avLst/>
          </a:prstGeom>
          <a:solidFill>
            <a:srgbClr val="EEF1F3"/>
          </a:solidFill>
          <a:ln w="9525">
            <a:solidFill>
              <a:srgbClr val="CFD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8000" rIns="198000" tIns="118800" bIns="11880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56616B"/>
                </a:solidFill>
                <a:latin typeface="Calibri"/>
              </a:rPr>
              <a:t>←  Small conflict</a:t>
            </a:r>
          </a:p>
        </p:txBody>
      </p:sp>
      <p:sp xmlns:a="http://schemas.openxmlformats.org/drawingml/2006/main">
        <p:nvSpPr>
          <p:cNvPr id="107" name="fig2-c3-name"/>
          <p:cNvSpPr/>
          <p:nvPr/>
        </p:nvSpPr>
        <p:spPr>
          <a:xfrm>
            <a:off x="13680000" y="20196000"/>
            <a:ext cx="4968000" cy="522000"/>
          </a:xfrm>
          <a:prstGeom prst="rect">
            <a:avLst/>
          </a:prstGeom>
          <a:solidFill>
            <a:srgbClr val="E6F0EA"/>
          </a:solidFill>
          <a:ln w="9525">
            <a:solidFill>
              <a:srgbClr val="CFD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 tIns="86400" bIns="8640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12A33"/>
                </a:solidFill>
                <a:latin typeface="Calibri"/>
              </a:rPr>
              <a:t>④  Openness + innovation</a:t>
            </a:r>
          </a:p>
        </p:txBody>
      </p:sp>
      <p:sp xmlns:a="http://schemas.openxmlformats.org/drawingml/2006/main">
        <p:nvSpPr>
          <p:cNvPr id="108" name="fig2-c3-privbox"/>
          <p:cNvSpPr/>
          <p:nvPr/>
        </p:nvSpPr>
        <p:spPr>
          <a:xfrm>
            <a:off x="18648000" y="20196000"/>
            <a:ext cx="3096000" cy="522000"/>
          </a:xfrm>
          <a:prstGeom prst="rect">
            <a:avLst/>
          </a:prstGeom>
          <a:solidFill>
            <a:srgbClr val="E6F0EA"/>
          </a:solidFill>
          <a:ln w="9525">
            <a:solidFill>
              <a:srgbClr val="CFD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43200" bIns="4320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 xmlns:a="http://schemas.openxmlformats.org/drawingml/2006/main">
        <p:nvSpPr>
          <p:cNvPr id="109" name="fig2-c3-priv-1"/>
          <p:cNvSpPr/>
          <p:nvPr/>
        </p:nvSpPr>
        <p:spPr>
          <a:xfrm>
            <a:off x="19025999" y="20347200"/>
            <a:ext cx="531000" cy="216000"/>
          </a:xfrm>
          <a:prstGeom prst="rect">
            <a:avLst/>
          </a:prstGeom>
          <a:solidFill>
            <a:srgbClr val="A6192E"/>
          </a:solidFill>
          <a:ln w="9525">
            <a:solidFill>
              <a:srgbClr val="CFD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 xmlns:a="http://schemas.openxmlformats.org/drawingml/2006/main">
        <p:nvSpPr>
          <p:cNvPr id="110" name="fig2-c3-priv-2"/>
          <p:cNvSpPr/>
          <p:nvPr/>
        </p:nvSpPr>
        <p:spPr>
          <a:xfrm>
            <a:off x="19628999" y="20347200"/>
            <a:ext cx="531000" cy="21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 xmlns:a="http://schemas.openxmlformats.org/drawingml/2006/main">
        <p:nvSpPr>
          <p:cNvPr id="111" name="fig2-c3-priv-3"/>
          <p:cNvSpPr/>
          <p:nvPr/>
        </p:nvSpPr>
        <p:spPr>
          <a:xfrm>
            <a:off x="20232000" y="20347200"/>
            <a:ext cx="531000" cy="21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 xmlns:a="http://schemas.openxmlformats.org/drawingml/2006/main">
        <p:nvSpPr>
          <p:cNvPr id="112" name="fig2-c3-priv-4"/>
          <p:cNvSpPr/>
          <p:nvPr/>
        </p:nvSpPr>
        <p:spPr>
          <a:xfrm>
            <a:off x="20834999" y="20347200"/>
            <a:ext cx="531000" cy="21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 xmlns:a="http://schemas.openxmlformats.org/drawingml/2006/main">
        <p:nvSpPr>
          <p:cNvPr id="113" name="fig2-c3-socbox"/>
          <p:cNvSpPr/>
          <p:nvPr/>
        </p:nvSpPr>
        <p:spPr>
          <a:xfrm>
            <a:off x="21744000" y="20196000"/>
            <a:ext cx="3096000" cy="522000"/>
          </a:xfrm>
          <a:prstGeom prst="rect">
            <a:avLst/>
          </a:prstGeom>
          <a:solidFill>
            <a:srgbClr val="E6F0EA"/>
          </a:solidFill>
          <a:ln w="9525">
            <a:solidFill>
              <a:srgbClr val="CFD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43200" bIns="4320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 xmlns:a="http://schemas.openxmlformats.org/drawingml/2006/main">
        <p:nvSpPr>
          <p:cNvPr id="114" name="fig2-c3-soc-1"/>
          <p:cNvSpPr/>
          <p:nvPr/>
        </p:nvSpPr>
        <p:spPr>
          <a:xfrm>
            <a:off x="22122000" y="20347200"/>
            <a:ext cx="531000" cy="216000"/>
          </a:xfrm>
          <a:prstGeom prst="rect">
            <a:avLst/>
          </a:prstGeom>
          <a:solidFill>
            <a:srgbClr val="006633"/>
          </a:solidFill>
          <a:ln w="9525">
            <a:solidFill>
              <a:srgbClr val="CFD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 xmlns:a="http://schemas.openxmlformats.org/drawingml/2006/main">
        <p:nvSpPr>
          <p:cNvPr id="115" name="fig2-c3-soc-2"/>
          <p:cNvSpPr/>
          <p:nvPr/>
        </p:nvSpPr>
        <p:spPr>
          <a:xfrm>
            <a:off x="22724999" y="20347200"/>
            <a:ext cx="531000" cy="216000"/>
          </a:xfrm>
          <a:prstGeom prst="rect">
            <a:avLst/>
          </a:prstGeom>
          <a:solidFill>
            <a:srgbClr val="006633"/>
          </a:solidFill>
          <a:ln w="9525">
            <a:solidFill>
              <a:srgbClr val="CFD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 xmlns:a="http://schemas.openxmlformats.org/drawingml/2006/main">
        <p:nvSpPr>
          <p:cNvPr id="116" name="fig2-c3-soc-3"/>
          <p:cNvSpPr/>
          <p:nvPr/>
        </p:nvSpPr>
        <p:spPr>
          <a:xfrm>
            <a:off x="23328000" y="20347200"/>
            <a:ext cx="531000" cy="216000"/>
          </a:xfrm>
          <a:prstGeom prst="rect">
            <a:avLst/>
          </a:prstGeom>
          <a:solidFill>
            <a:srgbClr val="006633"/>
          </a:solidFill>
          <a:ln w="9525">
            <a:solidFill>
              <a:srgbClr val="CFD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 xmlns:a="http://schemas.openxmlformats.org/drawingml/2006/main">
        <p:nvSpPr>
          <p:cNvPr id="117" name="fig2-c3-soc-4"/>
          <p:cNvSpPr/>
          <p:nvPr/>
        </p:nvSpPr>
        <p:spPr>
          <a:xfrm>
            <a:off x="23930999" y="20347200"/>
            <a:ext cx="531000" cy="216000"/>
          </a:xfrm>
          <a:prstGeom prst="rect">
            <a:avLst/>
          </a:prstGeom>
          <a:solidFill>
            <a:srgbClr val="006633"/>
          </a:solidFill>
          <a:ln w="9525">
            <a:solidFill>
              <a:srgbClr val="CFD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 xmlns:a="http://schemas.openxmlformats.org/drawingml/2006/main">
        <p:nvSpPr>
          <p:cNvPr id="118" name="fig2-c3-conf"/>
          <p:cNvSpPr/>
          <p:nvPr/>
        </p:nvSpPr>
        <p:spPr>
          <a:xfrm>
            <a:off x="24840000" y="20196000"/>
            <a:ext cx="4392000" cy="522000"/>
          </a:xfrm>
          <a:prstGeom prst="rect">
            <a:avLst/>
          </a:prstGeom>
          <a:solidFill>
            <a:srgbClr val="E6F0EA"/>
          </a:solidFill>
          <a:ln w="9525">
            <a:solidFill>
              <a:srgbClr val="CFD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8000" rIns="198000" tIns="118800" bIns="11880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06633"/>
                </a:solidFill>
                <a:latin typeface="Calibri"/>
              </a:rPr>
              <a:t>←  Largest conflict</a:t>
            </a:r>
          </a:p>
        </p:txBody>
      </p:sp>
      <p:sp xmlns:a="http://schemas.openxmlformats.org/drawingml/2006/main">
        <p:nvSpPr>
          <p:cNvPr id="119" name="fig2-legend"/>
          <p:cNvSpPr txBox="1"/>
          <p:nvPr/>
        </p:nvSpPr>
        <p:spPr>
          <a:xfrm>
            <a:off x="13680000" y="20754000"/>
            <a:ext cx="15552000" cy="34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6616B"/>
                </a:solidFill>
                <a:latin typeface="Calibri"/>
              </a:rPr>
              <a:t>Dark red = private desire · green = social desirability (more squares = more wanted).</a:t>
            </a:r>
          </a:p>
        </p:txBody>
      </p:sp>
      <p:sp xmlns:a="http://schemas.openxmlformats.org/drawingml/2006/main">
        <p:nvSpPr>
          <p:cNvPr id="120" name="fig2-ms-title"/>
          <p:cNvSpPr txBox="1"/>
          <p:nvPr/>
        </p:nvSpPr>
        <p:spPr>
          <a:xfrm>
            <a:off x="13680000" y="21132000"/>
            <a:ext cx="15552000" cy="468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3399"/>
                </a:solidFill>
                <a:latin typeface="Calibri"/>
              </a:rPr>
              <a:t>Three market states — the prize rate k decides which cell wins</a:t>
            </a:r>
          </a:p>
        </p:txBody>
      </p:sp>
      <p:sp xmlns:a="http://schemas.openxmlformats.org/drawingml/2006/main">
        <p:nvSpPr>
          <p:cNvPr id="121" name="fig2-mshdr-0"/>
          <p:cNvSpPr/>
          <p:nvPr/>
        </p:nvSpPr>
        <p:spPr>
          <a:xfrm>
            <a:off x="13680000" y="21600000"/>
            <a:ext cx="4031999" cy="468000"/>
          </a:xfrm>
          <a:prstGeom prst="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43200" bIns="4320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Market state</a:t>
            </a:r>
          </a:p>
        </p:txBody>
      </p:sp>
      <p:sp xmlns:a="http://schemas.openxmlformats.org/drawingml/2006/main">
        <p:nvSpPr>
          <p:cNvPr id="122" name="fig2-mshdr-1"/>
          <p:cNvSpPr/>
          <p:nvPr/>
        </p:nvSpPr>
        <p:spPr>
          <a:xfrm>
            <a:off x="17712000" y="21600000"/>
            <a:ext cx="3096000" cy="468000"/>
          </a:xfrm>
          <a:prstGeom prst="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43200" bIns="4320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Prize rate</a:t>
            </a:r>
          </a:p>
        </p:txBody>
      </p:sp>
      <p:sp xmlns:a="http://schemas.openxmlformats.org/drawingml/2006/main">
        <p:nvSpPr>
          <p:cNvPr id="123" name="fig2-mshdr-2"/>
          <p:cNvSpPr/>
          <p:nvPr/>
        </p:nvSpPr>
        <p:spPr>
          <a:xfrm>
            <a:off x="20808000" y="21600000"/>
            <a:ext cx="4392000" cy="468000"/>
          </a:xfrm>
          <a:prstGeom prst="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2000" rIns="162000" tIns="97200" bIns="9720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Composition of the market</a:t>
            </a:r>
          </a:p>
        </p:txBody>
      </p:sp>
      <p:sp xmlns:a="http://schemas.openxmlformats.org/drawingml/2006/main">
        <p:nvSpPr>
          <p:cNvPr id="124" name="fig2-mshdr-3"/>
          <p:cNvSpPr/>
          <p:nvPr/>
        </p:nvSpPr>
        <p:spPr>
          <a:xfrm>
            <a:off x="25200000" y="21600000"/>
            <a:ext cx="4031999" cy="468000"/>
          </a:xfrm>
          <a:prstGeom prst="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43200" bIns="4320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Outcome</a:t>
            </a:r>
          </a:p>
        </p:txBody>
      </p:sp>
      <p:sp xmlns:a="http://schemas.openxmlformats.org/drawingml/2006/main">
        <p:nvSpPr>
          <p:cNvPr id="125" name="fig2-ms0-0"/>
          <p:cNvSpPr/>
          <p:nvPr/>
        </p:nvSpPr>
        <p:spPr>
          <a:xfrm>
            <a:off x="13680000" y="22068000"/>
            <a:ext cx="4031999" cy="558000"/>
          </a:xfrm>
          <a:prstGeom prst="rect">
            <a:avLst/>
          </a:prstGeom>
          <a:solidFill>
            <a:srgbClr val="F8E8EA"/>
          </a:solidFill>
          <a:ln w="9525">
            <a:solidFill>
              <a:srgbClr val="CFD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64800" bIns="64800">
            <a:noAutofit/>
          </a:bodyPr>
          <a:lstStyle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12A33"/>
                </a:solidFill>
                <a:latin typeface="Calibri"/>
              </a:rPr>
              <a:t>State ①  all secrecy</a:t>
            </a:r>
          </a:p>
        </p:txBody>
      </p:sp>
      <p:sp xmlns:a="http://schemas.openxmlformats.org/drawingml/2006/main">
        <p:nvSpPr>
          <p:cNvPr id="126" name="fig2-ms0-1"/>
          <p:cNvSpPr/>
          <p:nvPr/>
        </p:nvSpPr>
        <p:spPr>
          <a:xfrm>
            <a:off x="17712000" y="22068000"/>
            <a:ext cx="3096000" cy="558000"/>
          </a:xfrm>
          <a:prstGeom prst="rect">
            <a:avLst/>
          </a:prstGeom>
          <a:solidFill>
            <a:srgbClr val="F8E8EA"/>
          </a:solidFill>
          <a:ln w="9525">
            <a:solidFill>
              <a:srgbClr val="CFD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64800" bIns="64800">
            <a:noAutofit/>
          </a:bodyPr>
          <a:lstStyle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12A33"/>
                </a:solidFill>
                <a:latin typeface="Calibri"/>
              </a:rPr>
              <a:t>too small for disclosure</a:t>
            </a:r>
          </a:p>
        </p:txBody>
      </p:sp>
      <p:sp xmlns:a="http://schemas.openxmlformats.org/drawingml/2006/main">
        <p:nvSpPr>
          <p:cNvPr id="127" name="fig2-ms0-2"/>
          <p:cNvSpPr/>
          <p:nvPr/>
        </p:nvSpPr>
        <p:spPr>
          <a:xfrm>
            <a:off x="20808000" y="22068000"/>
            <a:ext cx="4392000" cy="558000"/>
          </a:xfrm>
          <a:prstGeom prst="rect">
            <a:avLst/>
          </a:prstGeom>
          <a:solidFill>
            <a:srgbClr val="F8E8EA"/>
          </a:solidFill>
          <a:ln w="9525">
            <a:solidFill>
              <a:srgbClr val="CFD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2000" rIns="162000" tIns="97200" bIns="97200">
            <a:noAutofit/>
          </a:bodyPr>
          <a:lstStyle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12A33"/>
                </a:solidFill>
                <a:latin typeface="Calibri"/>
              </a:rPr>
              <a:t>① dominates if βφK is small</a:t>
            </a:r>
          </a:p>
        </p:txBody>
      </p:sp>
      <p:sp xmlns:a="http://schemas.openxmlformats.org/drawingml/2006/main">
        <p:nvSpPr>
          <p:cNvPr id="128" name="fig2-ms0-3"/>
          <p:cNvSpPr/>
          <p:nvPr/>
        </p:nvSpPr>
        <p:spPr>
          <a:xfrm>
            <a:off x="25200000" y="22068000"/>
            <a:ext cx="4031999" cy="558000"/>
          </a:xfrm>
          <a:prstGeom prst="rect">
            <a:avLst/>
          </a:prstGeom>
          <a:solidFill>
            <a:srgbClr val="F8E8EA"/>
          </a:solidFill>
          <a:ln w="9525">
            <a:solidFill>
              <a:srgbClr val="CFD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64800" bIns="64800">
            <a:noAutofit/>
          </a:bodyPr>
          <a:lstStyle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A6192E"/>
                </a:solidFill>
                <a:latin typeface="Calibri"/>
              </a:rPr>
              <a:t>monopoly price; no source</a:t>
            </a:r>
          </a:p>
        </p:txBody>
      </p:sp>
      <p:sp xmlns:a="http://schemas.openxmlformats.org/drawingml/2006/main">
        <p:nvSpPr>
          <p:cNvPr id="129" name="fig2-ms1-0"/>
          <p:cNvSpPr/>
          <p:nvPr/>
        </p:nvSpPr>
        <p:spPr>
          <a:xfrm>
            <a:off x="13680000" y="22626000"/>
            <a:ext cx="4031999" cy="558000"/>
          </a:xfrm>
          <a:prstGeom prst="rect">
            <a:avLst/>
          </a:prstGeom>
          <a:solidFill>
            <a:srgbClr val="F8E8EA"/>
          </a:solidFill>
          <a:ln w="9525">
            <a:solidFill>
              <a:srgbClr val="CFD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64800" bIns="64800">
            <a:noAutofit/>
          </a:bodyPr>
          <a:lstStyle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12A33"/>
                </a:solidFill>
                <a:latin typeface="Calibri"/>
              </a:rPr>
              <a:t>State ②  all imitation</a:t>
            </a:r>
          </a:p>
        </p:txBody>
      </p:sp>
      <p:sp xmlns:a="http://schemas.openxmlformats.org/drawingml/2006/main">
        <p:nvSpPr>
          <p:cNvPr id="130" name="fig2-ms1-1"/>
          <p:cNvSpPr/>
          <p:nvPr/>
        </p:nvSpPr>
        <p:spPr>
          <a:xfrm>
            <a:off x="17712000" y="22626000"/>
            <a:ext cx="3096000" cy="558000"/>
          </a:xfrm>
          <a:prstGeom prst="rect">
            <a:avLst/>
          </a:prstGeom>
          <a:solidFill>
            <a:srgbClr val="F8E8EA"/>
          </a:solidFill>
          <a:ln w="9525">
            <a:solidFill>
              <a:srgbClr val="CFD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64800" bIns="64800">
            <a:noAutofit/>
          </a:bodyPr>
          <a:lstStyle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12A33"/>
                </a:solidFill>
                <a:latin typeface="Calibri"/>
              </a:rPr>
              <a:t>disclosure, not innovation</a:t>
            </a:r>
          </a:p>
        </p:txBody>
      </p:sp>
      <p:sp xmlns:a="http://schemas.openxmlformats.org/drawingml/2006/main">
        <p:nvSpPr>
          <p:cNvPr id="131" name="fig2-ms1-2"/>
          <p:cNvSpPr/>
          <p:nvPr/>
        </p:nvSpPr>
        <p:spPr>
          <a:xfrm>
            <a:off x="20808000" y="22626000"/>
            <a:ext cx="4392000" cy="558000"/>
          </a:xfrm>
          <a:prstGeom prst="rect">
            <a:avLst/>
          </a:prstGeom>
          <a:solidFill>
            <a:srgbClr val="F8E8EA"/>
          </a:solidFill>
          <a:ln w="9525">
            <a:solidFill>
              <a:srgbClr val="CFD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2000" rIns="162000" tIns="97200" bIns="97200">
            <a:noAutofit/>
          </a:bodyPr>
          <a:lstStyle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12A33"/>
                </a:solidFill>
                <a:latin typeface="Calibri"/>
              </a:rPr>
              <a:t>② dominates — nobody innovates</a:t>
            </a:r>
          </a:p>
        </p:txBody>
      </p:sp>
      <p:sp xmlns:a="http://schemas.openxmlformats.org/drawingml/2006/main">
        <p:nvSpPr>
          <p:cNvPr id="132" name="fig2-ms1-3"/>
          <p:cNvSpPr/>
          <p:nvPr/>
        </p:nvSpPr>
        <p:spPr>
          <a:xfrm>
            <a:off x="25200000" y="22626000"/>
            <a:ext cx="4031999" cy="558000"/>
          </a:xfrm>
          <a:prstGeom prst="rect">
            <a:avLst/>
          </a:prstGeom>
          <a:solidFill>
            <a:srgbClr val="F8E8EA"/>
          </a:solidFill>
          <a:ln w="9525">
            <a:solidFill>
              <a:srgbClr val="CFD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64800" bIns="64800">
            <a:noAutofit/>
          </a:bodyPr>
          <a:lstStyle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A6192E"/>
                </a:solidFill>
                <a:latin typeface="Calibri"/>
              </a:rPr>
              <a:t>no source is ever built</a:t>
            </a:r>
          </a:p>
        </p:txBody>
      </p:sp>
      <p:sp xmlns:a="http://schemas.openxmlformats.org/drawingml/2006/main">
        <p:nvSpPr>
          <p:cNvPr id="133" name="fig2-ms2-0"/>
          <p:cNvSpPr/>
          <p:nvPr/>
        </p:nvSpPr>
        <p:spPr>
          <a:xfrm>
            <a:off x="13680000" y="23184000"/>
            <a:ext cx="4031999" cy="558000"/>
          </a:xfrm>
          <a:prstGeom prst="rect">
            <a:avLst/>
          </a:prstGeom>
          <a:solidFill>
            <a:srgbClr val="E6F0EA"/>
          </a:solidFill>
          <a:ln w="9525">
            <a:solidFill>
              <a:srgbClr val="CFD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64800" bIns="64800">
            <a:noAutofit/>
          </a:bodyPr>
          <a:lstStyle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12A33"/>
                </a:solidFill>
                <a:latin typeface="Calibri"/>
              </a:rPr>
              <a:t>State ③  healthy</a:t>
            </a:r>
          </a:p>
        </p:txBody>
      </p:sp>
      <p:sp xmlns:a="http://schemas.openxmlformats.org/drawingml/2006/main">
        <p:nvSpPr>
          <p:cNvPr id="134" name="fig2-ms2-1"/>
          <p:cNvSpPr/>
          <p:nvPr/>
        </p:nvSpPr>
        <p:spPr>
          <a:xfrm>
            <a:off x="17712000" y="23184000"/>
            <a:ext cx="3096000" cy="558000"/>
          </a:xfrm>
          <a:prstGeom prst="rect">
            <a:avLst/>
          </a:prstGeom>
          <a:solidFill>
            <a:srgbClr val="E6F0EA"/>
          </a:solidFill>
          <a:ln w="9525">
            <a:solidFill>
              <a:srgbClr val="CFD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64800" bIns="64800">
            <a:noAutofit/>
          </a:bodyPr>
          <a:lstStyle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12A33"/>
                </a:solidFill>
                <a:latin typeface="Calibri"/>
              </a:rPr>
              <a:t>pays for both</a:t>
            </a:r>
          </a:p>
        </p:txBody>
      </p:sp>
      <p:sp xmlns:a="http://schemas.openxmlformats.org/drawingml/2006/main">
        <p:nvSpPr>
          <p:cNvPr id="135" name="fig2-ms2-2"/>
          <p:cNvSpPr/>
          <p:nvPr/>
        </p:nvSpPr>
        <p:spPr>
          <a:xfrm>
            <a:off x="20808000" y="23184000"/>
            <a:ext cx="4392000" cy="558000"/>
          </a:xfrm>
          <a:prstGeom prst="rect">
            <a:avLst/>
          </a:prstGeom>
          <a:solidFill>
            <a:srgbClr val="E6F0EA"/>
          </a:solidFill>
          <a:ln w="9525">
            <a:solidFill>
              <a:srgbClr val="CFD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2000" rIns="162000" tIns="97200" bIns="97200">
            <a:noAutofit/>
          </a:bodyPr>
          <a:lstStyle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12A33"/>
                </a:solidFill>
                <a:latin typeface="Calibri"/>
              </a:rPr>
              <a:t>④ wins; some secrecy survives</a:t>
            </a:r>
          </a:p>
        </p:txBody>
      </p:sp>
      <p:sp xmlns:a="http://schemas.openxmlformats.org/drawingml/2006/main">
        <p:nvSpPr>
          <p:cNvPr id="136" name="fig2-ms2-3"/>
          <p:cNvSpPr/>
          <p:nvPr/>
        </p:nvSpPr>
        <p:spPr>
          <a:xfrm>
            <a:off x="25200000" y="23184000"/>
            <a:ext cx="4031999" cy="558000"/>
          </a:xfrm>
          <a:prstGeom prst="rect">
            <a:avLst/>
          </a:prstGeom>
          <a:solidFill>
            <a:srgbClr val="E6F0EA"/>
          </a:solidFill>
          <a:ln w="9525">
            <a:solidFill>
              <a:srgbClr val="CFD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64800" bIns="64800">
            <a:noAutofit/>
          </a:bodyPr>
          <a:lstStyle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06633"/>
                </a:solidFill>
                <a:latin typeface="Calibri"/>
              </a:rPr>
              <a:t>fair price and a live source</a:t>
            </a:r>
          </a:p>
        </p:txBody>
      </p:sp>
      <p:pic xmlns:a="http://schemas.openxmlformats.org/drawingml/2006/main" xmlns:r="http://schemas.openxmlformats.org/officeDocument/2006/relationships">
        <p:nvPicPr>
          <p:cNvPr id="137" name="qr-hf" descr="qr_h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70000" y="28188000"/>
            <a:ext cx="1062000" cy="106200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>
        <p:nvPicPr>
          <p:cNvPr id="138" name="qr-github" descr="qr_githu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58000" y="28188000"/>
            <a:ext cx="1062000" cy="1062000"/>
          </a:xfrm>
          <a:prstGeom prst="rect">
            <a:avLst/>
          </a:prstGeom>
        </p:spPr>
      </p:pic>
      <p:graphicFrame>
        <p:nvGraphicFramePr>
          <p:cNvPr id="900" name="poster-table2"/>
          <p:cNvGraphicFramePr/>
          <p:nvPr/>
        </p:nvGraphicFramePr>
        <p:xfrm xmlns:a="http://schemas.openxmlformats.org/drawingml/2006/main">
          <a:off x="1333500" y="26873200"/>
          <a:ext cx="11049000" cy="793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00000"/>
                <a:gridCol w="3724500"/>
                <a:gridCol w="3724500"/>
              </a:tblGrid>
              <a:tr h="158750">
                <a:tc>
                  <a:txBody>
                    <a:bodyPr/>
                    <a:lstStyle/>
                    <a:p>
                      <a:pPr algn="l"/>
                      <a:r>
                        <a:rPr lang="en-US" sz="1300" b="1">
                          <a:solidFill>
                            <a:srgbClr val="003399"/>
                          </a:solidFill>
                          <a:latin typeface="Calibri"/>
                        </a:rPr>
                        <a:t>reward rule</a:t>
                      </a:r>
                    </a:p>
                  </a:txBody>
                  <a:tcPr marT="0" marB="0" marL="45720" marR="45720">
                    <a:lnL w="9525" cap="flat" cmpd="sng" algn="ctr">
                      <a:solidFill>
                        <a:srgbClr val="D4DCE7"/>
                      </a:solidFill>
                    </a:lnL>
                    <a:lnR w="9525" cap="flat" cmpd="sng" algn="ctr">
                      <a:solidFill>
                        <a:srgbClr val="D4DCE7"/>
                      </a:solidFill>
                    </a:lnR>
                    <a:lnT w="9525" cap="flat" cmpd="sng" algn="ctr">
                      <a:solidFill>
                        <a:srgbClr val="D4DCE7"/>
                      </a:solidFill>
                    </a:lnT>
                    <a:lnB w="9525" cap="flat" cmpd="sng" algn="ctr">
                      <a:solidFill>
                        <a:srgbClr val="D4DCE7"/>
                      </a:solidFill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>
                          <a:solidFill>
                            <a:srgbClr val="003399"/>
                          </a:solidFill>
                          <a:latin typeface="Calibri"/>
                        </a:rPr>
                        <a:t>(a) no motive, βφK = 0</a:t>
                      </a:r>
                    </a:p>
                  </a:txBody>
                  <a:tcPr marT="0" marB="0" marL="45720" marR="45720">
                    <a:lnL w="9525" cap="flat" cmpd="sng" algn="ctr">
                      <a:solidFill>
                        <a:srgbClr val="D4DCE7"/>
                      </a:solidFill>
                    </a:lnL>
                    <a:lnR w="9525" cap="flat" cmpd="sng" algn="ctr">
                      <a:solidFill>
                        <a:srgbClr val="D4DCE7"/>
                      </a:solidFill>
                    </a:lnR>
                    <a:lnT w="9525" cap="flat" cmpd="sng" algn="ctr">
                      <a:solidFill>
                        <a:srgbClr val="D4DCE7"/>
                      </a:solidFill>
                    </a:lnT>
                    <a:lnB w="9525" cap="flat" cmpd="sng" algn="ctr">
                      <a:solidFill>
                        <a:srgbClr val="D4DCE7"/>
                      </a:solidFill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>
                          <a:solidFill>
                            <a:srgbClr val="003399"/>
                          </a:solidFill>
                          <a:latin typeface="Calibri"/>
                        </a:rPr>
                        <a:t>(b) motive on, βφK = 19.98</a:t>
                      </a:r>
                    </a:p>
                  </a:txBody>
                  <a:tcPr marT="0" marB="0" marL="45720" marR="45720">
                    <a:lnL w="9525" cap="flat" cmpd="sng" algn="ctr">
                      <a:solidFill>
                        <a:srgbClr val="D4DCE7"/>
                      </a:solidFill>
                    </a:lnL>
                    <a:lnR w="9525" cap="flat" cmpd="sng" algn="ctr">
                      <a:solidFill>
                        <a:srgbClr val="D4DCE7"/>
                      </a:solidFill>
                    </a:lnR>
                    <a:lnT w="9525" cap="flat" cmpd="sng" algn="ctr">
                      <a:solidFill>
                        <a:srgbClr val="D4DCE7"/>
                      </a:solidFill>
                    </a:lnT>
                    <a:lnB w="9525" cap="flat" cmpd="sng" algn="ctr">
                      <a:solidFill>
                        <a:srgbClr val="D4DCE7"/>
                      </a:solidFill>
                    </a:lnB>
                    <a:solidFill>
                      <a:srgbClr val="EEF3FF"/>
                    </a:solidFill>
                  </a:tcPr>
                </a:tc>
              </a:tr>
              <a:tr h="158750">
                <a:tc>
                  <a:txBody>
                    <a:bodyPr/>
                    <a:lstStyle/>
                    <a:p>
                      <a:pPr algn="l"/>
                      <a:r>
                        <a:rPr lang="en-US" sz="1250" b="0">
                          <a:solidFill>
                            <a:srgbClr val="212A33"/>
                          </a:solidFill>
                          <a:latin typeface="Calibri"/>
                        </a:rPr>
                        <a:t>none, k = 0</a:t>
                      </a:r>
                    </a:p>
                  </a:txBody>
                  <a:tcPr marT="0" marB="0" marL="45720" marR="45720">
                    <a:lnL w="9525" cap="flat" cmpd="sng" algn="ctr">
                      <a:solidFill>
                        <a:srgbClr val="D4DCE7"/>
                      </a:solidFill>
                    </a:lnL>
                    <a:lnR w="9525" cap="flat" cmpd="sng" algn="ctr">
                      <a:solidFill>
                        <a:srgbClr val="D4DCE7"/>
                      </a:solidFill>
                    </a:lnR>
                    <a:lnT w="9525" cap="flat" cmpd="sng" algn="ctr">
                      <a:solidFill>
                        <a:srgbClr val="D4DCE7"/>
                      </a:solidFill>
                    </a:lnT>
                    <a:lnB w="9525" cap="flat" cmpd="sng" algn="ctr">
                      <a:solidFill>
                        <a:srgbClr val="D4DC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 b="0">
                          <a:solidFill>
                            <a:srgbClr val="212A33"/>
                          </a:solidFill>
                          <a:latin typeface="Calibri"/>
                        </a:rPr>
                        <a:t>.96/.00/.04/.00 ①</a:t>
                      </a:r>
                    </a:p>
                  </a:txBody>
                  <a:tcPr marT="0" marB="0" marL="45720" marR="45720">
                    <a:lnL w="9525" cap="flat" cmpd="sng" algn="ctr">
                      <a:solidFill>
                        <a:srgbClr val="D4DCE7"/>
                      </a:solidFill>
                    </a:lnL>
                    <a:lnR w="9525" cap="flat" cmpd="sng" algn="ctr">
                      <a:solidFill>
                        <a:srgbClr val="D4DCE7"/>
                      </a:solidFill>
                    </a:lnR>
                    <a:lnT w="9525" cap="flat" cmpd="sng" algn="ctr">
                      <a:solidFill>
                        <a:srgbClr val="D4DCE7"/>
                      </a:solidFill>
                    </a:lnT>
                    <a:lnB w="9525" cap="flat" cmpd="sng" algn="ctr">
                      <a:solidFill>
                        <a:srgbClr val="D4DC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 b="0">
                          <a:solidFill>
                            <a:srgbClr val="212A33"/>
                          </a:solidFill>
                          <a:latin typeface="Calibri"/>
                        </a:rPr>
                        <a:t>.28/.68/.01/.03 ②</a:t>
                      </a:r>
                    </a:p>
                  </a:txBody>
                  <a:tcPr marT="0" marB="0" marL="45720" marR="45720">
                    <a:lnL w="9525" cap="flat" cmpd="sng" algn="ctr">
                      <a:solidFill>
                        <a:srgbClr val="D4DCE7"/>
                      </a:solidFill>
                    </a:lnL>
                    <a:lnR w="9525" cap="flat" cmpd="sng" algn="ctr">
                      <a:solidFill>
                        <a:srgbClr val="D4DCE7"/>
                      </a:solidFill>
                    </a:lnR>
                    <a:lnT w="9525" cap="flat" cmpd="sng" algn="ctr">
                      <a:solidFill>
                        <a:srgbClr val="D4DCE7"/>
                      </a:solidFill>
                    </a:lnT>
                    <a:lnB w="9525" cap="flat" cmpd="sng" algn="ctr">
                      <a:solidFill>
                        <a:srgbClr val="D4DCE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58750">
                <a:tc>
                  <a:txBody>
                    <a:bodyPr/>
                    <a:lstStyle/>
                    <a:p>
                      <a:pPr algn="l"/>
                      <a:r>
                        <a:rPr lang="en-US" sz="1250" b="0">
                          <a:solidFill>
                            <a:srgbClr val="212A33"/>
                          </a:solidFill>
                          <a:latin typeface="Calibri"/>
                        </a:rPr>
                        <a:t>openness, R = 20</a:t>
                      </a:r>
                    </a:p>
                  </a:txBody>
                  <a:tcPr marT="0" marB="0" marL="45720" marR="45720">
                    <a:lnL w="9525" cap="flat" cmpd="sng" algn="ctr">
                      <a:solidFill>
                        <a:srgbClr val="D4DCE7"/>
                      </a:solidFill>
                    </a:lnL>
                    <a:lnR w="9525" cap="flat" cmpd="sng" algn="ctr">
                      <a:solidFill>
                        <a:srgbClr val="D4DCE7"/>
                      </a:solidFill>
                    </a:lnR>
                    <a:lnT w="9525" cap="flat" cmpd="sng" algn="ctr">
                      <a:solidFill>
                        <a:srgbClr val="D4DCE7"/>
                      </a:solidFill>
                    </a:lnT>
                    <a:lnB w="9525" cap="flat" cmpd="sng" algn="ctr">
                      <a:solidFill>
                        <a:srgbClr val="D4DC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 b="0">
                          <a:solidFill>
                            <a:srgbClr val="212A33"/>
                          </a:solidFill>
                          <a:latin typeface="Calibri"/>
                        </a:rPr>
                        <a:t>.11/.85/.00/.04 ②</a:t>
                      </a:r>
                    </a:p>
                  </a:txBody>
                  <a:tcPr marT="0" marB="0" marL="45720" marR="45720">
                    <a:lnL w="9525" cap="flat" cmpd="sng" algn="ctr">
                      <a:solidFill>
                        <a:srgbClr val="D4DCE7"/>
                      </a:solidFill>
                    </a:lnL>
                    <a:lnR w="9525" cap="flat" cmpd="sng" algn="ctr">
                      <a:solidFill>
                        <a:srgbClr val="D4DCE7"/>
                      </a:solidFill>
                    </a:lnR>
                    <a:lnT w="9525" cap="flat" cmpd="sng" algn="ctr">
                      <a:solidFill>
                        <a:srgbClr val="D4DCE7"/>
                      </a:solidFill>
                    </a:lnT>
                    <a:lnB w="9525" cap="flat" cmpd="sng" algn="ctr">
                      <a:solidFill>
                        <a:srgbClr val="D4DC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 b="0">
                          <a:solidFill>
                            <a:srgbClr val="212A33"/>
                          </a:solidFill>
                          <a:latin typeface="Calibri"/>
                        </a:rPr>
                        <a:t>.01/.95/.00/.04 ②</a:t>
                      </a:r>
                    </a:p>
                  </a:txBody>
                  <a:tcPr marT="0" marB="0" marL="45720" marR="45720">
                    <a:lnL w="9525" cap="flat" cmpd="sng" algn="ctr">
                      <a:solidFill>
                        <a:srgbClr val="D4DCE7"/>
                      </a:solidFill>
                    </a:lnL>
                    <a:lnR w="9525" cap="flat" cmpd="sng" algn="ctr">
                      <a:solidFill>
                        <a:srgbClr val="D4DCE7"/>
                      </a:solidFill>
                    </a:lnR>
                    <a:lnT w="9525" cap="flat" cmpd="sng" algn="ctr">
                      <a:solidFill>
                        <a:srgbClr val="D4DCE7"/>
                      </a:solidFill>
                    </a:lnT>
                    <a:lnB w="9525" cap="flat" cmpd="sng" algn="ctr">
                      <a:solidFill>
                        <a:srgbClr val="D4DCE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58750">
                <a:tc>
                  <a:txBody>
                    <a:bodyPr/>
                    <a:lstStyle/>
                    <a:p>
                      <a:pPr algn="l"/>
                      <a:r>
                        <a:rPr lang="en-US" sz="1250" b="0">
                          <a:solidFill>
                            <a:srgbClr val="212A33"/>
                          </a:solidFill>
                          <a:latin typeface="Calibri"/>
                        </a:rPr>
                        <a:t>indexed, k = 4</a:t>
                      </a:r>
                    </a:p>
                  </a:txBody>
                  <a:tcPr marT="0" marB="0" marL="45720" marR="45720">
                    <a:lnL w="9525" cap="flat" cmpd="sng" algn="ctr">
                      <a:solidFill>
                        <a:srgbClr val="D4DCE7"/>
                      </a:solidFill>
                    </a:lnL>
                    <a:lnR w="9525" cap="flat" cmpd="sng" algn="ctr">
                      <a:solidFill>
                        <a:srgbClr val="D4DCE7"/>
                      </a:solidFill>
                    </a:lnR>
                    <a:lnT w="9525" cap="flat" cmpd="sng" algn="ctr">
                      <a:solidFill>
                        <a:srgbClr val="D4DCE7"/>
                      </a:solidFill>
                    </a:lnT>
                    <a:lnB w="9525" cap="flat" cmpd="sng" algn="ctr">
                      <a:solidFill>
                        <a:srgbClr val="D4DC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 b="0">
                          <a:solidFill>
                            <a:srgbClr val="212A33"/>
                          </a:solidFill>
                          <a:latin typeface="Calibri"/>
                        </a:rPr>
                        <a:t>.35/.00/.01/.64 ③</a:t>
                      </a:r>
                    </a:p>
                  </a:txBody>
                  <a:tcPr marT="0" marB="0" marL="45720" marR="45720">
                    <a:lnL w="9525" cap="flat" cmpd="sng" algn="ctr">
                      <a:solidFill>
                        <a:srgbClr val="D4DCE7"/>
                      </a:solidFill>
                    </a:lnL>
                    <a:lnR w="9525" cap="flat" cmpd="sng" algn="ctr">
                      <a:solidFill>
                        <a:srgbClr val="D4DCE7"/>
                      </a:solidFill>
                    </a:lnR>
                    <a:lnT w="9525" cap="flat" cmpd="sng" algn="ctr">
                      <a:solidFill>
                        <a:srgbClr val="D4DCE7"/>
                      </a:solidFill>
                    </a:lnT>
                    <a:lnB w="9525" cap="flat" cmpd="sng" algn="ctr">
                      <a:solidFill>
                        <a:srgbClr val="D4DC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 b="0">
                          <a:solidFill>
                            <a:srgbClr val="212A33"/>
                          </a:solidFill>
                          <a:latin typeface="Calibri"/>
                        </a:rPr>
                        <a:t>.03/.02/.00/.95 ③</a:t>
                      </a:r>
                    </a:p>
                  </a:txBody>
                  <a:tcPr marT="0" marB="0" marL="45720" marR="45720">
                    <a:lnL w="9525" cap="flat" cmpd="sng" algn="ctr">
                      <a:solidFill>
                        <a:srgbClr val="D4DCE7"/>
                      </a:solidFill>
                    </a:lnL>
                    <a:lnR w="9525" cap="flat" cmpd="sng" algn="ctr">
                      <a:solidFill>
                        <a:srgbClr val="D4DCE7"/>
                      </a:solidFill>
                    </a:lnR>
                    <a:lnT w="9525" cap="flat" cmpd="sng" algn="ctr">
                      <a:solidFill>
                        <a:srgbClr val="D4DCE7"/>
                      </a:solidFill>
                    </a:lnT>
                    <a:lnB w="9525" cap="flat" cmpd="sng" algn="ctr">
                      <a:solidFill>
                        <a:srgbClr val="D4DCE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58750">
                <a:tc>
                  <a:txBody>
                    <a:bodyPr/>
                    <a:lstStyle/>
                    <a:p>
                      <a:pPr algn="l"/>
                      <a:r>
                        <a:rPr lang="en-US" sz="1250" b="0">
                          <a:solidFill>
                            <a:srgbClr val="212A33"/>
                          </a:solidFill>
                          <a:latin typeface="Calibri"/>
                        </a:rPr>
                        <a:t>indexed, capped, k = 12</a:t>
                      </a:r>
                    </a:p>
                  </a:txBody>
                  <a:tcPr marT="0" marB="0" marL="45720" marR="45720">
                    <a:lnL w="9525" cap="flat" cmpd="sng" algn="ctr">
                      <a:solidFill>
                        <a:srgbClr val="D4DCE7"/>
                      </a:solidFill>
                    </a:lnL>
                    <a:lnR w="9525" cap="flat" cmpd="sng" algn="ctr">
                      <a:solidFill>
                        <a:srgbClr val="D4DCE7"/>
                      </a:solidFill>
                    </a:lnR>
                    <a:lnT w="9525" cap="flat" cmpd="sng" algn="ctr">
                      <a:solidFill>
                        <a:srgbClr val="D4DCE7"/>
                      </a:solidFill>
                    </a:lnT>
                    <a:lnB w="9525" cap="flat" cmpd="sng" algn="ctr">
                      <a:solidFill>
                        <a:srgbClr val="D4DC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 b="0">
                          <a:solidFill>
                            <a:srgbClr val="212A33"/>
                          </a:solidFill>
                          <a:latin typeface="Calibri"/>
                        </a:rPr>
                        <a:t>.42/.54/.02/.03 ②</a:t>
                      </a:r>
                    </a:p>
                  </a:txBody>
                  <a:tcPr marT="0" marB="0" marL="45720" marR="45720">
                    <a:lnL w="9525" cap="flat" cmpd="sng" algn="ctr">
                      <a:solidFill>
                        <a:srgbClr val="D4DCE7"/>
                      </a:solidFill>
                    </a:lnL>
                    <a:lnR w="9525" cap="flat" cmpd="sng" algn="ctr">
                      <a:solidFill>
                        <a:srgbClr val="D4DCE7"/>
                      </a:solidFill>
                    </a:lnR>
                    <a:lnT w="9525" cap="flat" cmpd="sng" algn="ctr">
                      <a:solidFill>
                        <a:srgbClr val="D4DCE7"/>
                      </a:solidFill>
                    </a:lnT>
                    <a:lnB w="9525" cap="flat" cmpd="sng" algn="ctr">
                      <a:solidFill>
                        <a:srgbClr val="D4DC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 b="0">
                          <a:solidFill>
                            <a:srgbClr val="212A33"/>
                          </a:solidFill>
                          <a:latin typeface="Calibri"/>
                        </a:rPr>
                        <a:t>.03/.93/.00/.05 ②</a:t>
                      </a:r>
                    </a:p>
                  </a:txBody>
                  <a:tcPr marT="0" marB="0" marL="45720" marR="45720">
                    <a:lnL w="9525" cap="flat" cmpd="sng" algn="ctr">
                      <a:solidFill>
                        <a:srgbClr val="D4DCE7"/>
                      </a:solidFill>
                    </a:lnL>
                    <a:lnR w="9525" cap="flat" cmpd="sng" algn="ctr">
                      <a:solidFill>
                        <a:srgbClr val="D4DCE7"/>
                      </a:solidFill>
                    </a:lnR>
                    <a:lnT w="9525" cap="flat" cmpd="sng" algn="ctr">
                      <a:solidFill>
                        <a:srgbClr val="D4DCE7"/>
                      </a:solidFill>
                    </a:lnT>
                    <a:lnB w="9525" cap="flat" cmpd="sng" algn="ctr">
                      <a:solidFill>
                        <a:srgbClr val="D4DCE7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3982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2026-09-21T06:28:50.4470000Z</dcterms:created>
  <dcterms:modified xsi:type="dcterms:W3CDTF">2026-09-21T06:28:50.4470000Z</dcterms:modified>
</coreProperties>
</file>