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9c0d654973449a6" Type="http://schemas.openxmlformats.org/officeDocument/2006/relationships/officeDocument" Target="ppt/presentation.xml"/><Relationship Id="Raf8646115b7a4a14" Type="http://schemas.openxmlformats.org/officeDocument/2006/relationships/extended-properties" Target="docProps/app.xml"/><Relationship Id="Rc227d6a1c0b24116"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290f120eac894cd0"/>
  </p:sldMasterIdLst>
  <p:notesMasterIdLst>
    <p:notesMasterId xmlns:r="http://schemas.openxmlformats.org/officeDocument/2006/relationships" r:id="R27e337629b6841b0"/>
  </p:notesMasterIdLst>
  <p:sldIdLst>
    <p:sldId xmlns:r="http://schemas.openxmlformats.org/officeDocument/2006/relationships" id="256" r:id="Rad379daf77304c3b"/>
  </p:sldIdLst>
  <p:sldSz cx="42804000" cy="3027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44ae248ea714d10" Type="http://schemas.openxmlformats.org/officeDocument/2006/relationships/theme" Target="theme/theme1.xml"/><Relationship Id="R27e337629b6841b0" Type="http://schemas.openxmlformats.org/officeDocument/2006/relationships/notesMaster" Target="notesMasters/notesMaster1.xml"/><Relationship Id="R290f120eac894cd0" Type="http://schemas.openxmlformats.org/officeDocument/2006/relationships/slideMaster" Target="slideMasters/slideMaster1.xml"/><Relationship Id="Ra8d6af2a90744aa4" Type="http://schemas.openxmlformats.org/officeDocument/2006/relationships/presProps" Target="presProps.xml"/><Relationship Id="Rad379daf77304c3b" Type="http://schemas.openxmlformats.org/officeDocument/2006/relationships/slide" Target="slides/slide1.xml"/><Relationship Id="Rba6de4ca7eb249e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c4211df3fc30440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f273ef237f84647" Type="http://schemas.openxmlformats.org/officeDocument/2006/relationships/notesMaster" Target="../notesMasters/notesMaster1.xml"/><Relationship Id="Rc70b6bb2cd28494c" Type="http://schemas.openxmlformats.org/officeDocument/2006/relationships/slide" Target="../slides/slide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COMSCI/ECON 206 PS2 clean A0 poster template.</a:t>
            </a:r>
          </a:p>
          <a:p xmlns:a="http://schemas.openxmlformats.org/drawingml/2006/main">
            <a:r>
              <a:t>Brand guide: https://dku-web-admissions.s3.cn-north-1.amazonaws.com.cn/dkumain/wp-content/uploads/mainsite/2022/05/brand-guide-compressed_2021.pdf, linked from https://www.dukekunshan.edu.cn/media/. Guide pp. 5, 6, 12, 14, and 15 establish logo clear space/proportions, unchanged logo artwork, application colors #003399 and #006633 plus white, and Calibri as the office system font when InterstatePlus cannot be used. Official logo asset: https://www.dukekunshan.edu.cn/wp-content/uploads/2021/08/large_dku-Logo.png.</a:t>
            </a:r>
          </a:p>
          <a:p xmlns:a="http://schemas.openxmlformats.org/drawingml/2006/main">
            <a:r>
              <a:t>Calibri is specified in the editable PowerPoint. The exported PDF uses Carlito, a metric-compatible open-source substitute because Calibri is unavailable in the export environment. Re-export from PowerPoint with Calibri for institution-font-exact output.</a:t>
            </a:r>
          </a:p>
          <a:p xmlns:a="http://schemas.openxmlformats.org/drawingml/2006/main">
            <a:r>
              <a:t>Clean and annotated versions share all element positions. Keep A0 landscape 1189 x 841 mm, 100% print scale. Text and figure/QR placeholders are editable; preserve the embedded logo unchanged and keep at least half its height as clear space. Instructor belongs below authors, not in the author list. Replace all placeholders with actual work; distinguish observed results, inferences, and planned tests. QR codes are optional but full public URLs and tested access are required. References must be full and traceable; acknowledgments must name actual contributions and AI assistance. Sep 28: symposium, peer evaluation and real-world case impacts. Sep 30: final update. The PS1-style paper, LaTeX, and learning pathway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6604d2b0929458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dfef0d23db94c8a" Type="http://schemas.openxmlformats.org/officeDocument/2006/relationships/theme" Target="theme/theme2.xml"/><Relationship Id="Rb72baf7da2724bc2"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2baf7da2724b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9c1a31083f534aaa" Type="http://schemas.openxmlformats.org/officeDocument/2006/relationships/notesSlide" Target="../notesSlides/notesSlide1.xml"/><Relationship Id="Re47b6f5e6f7c46e5" Type="http://schemas.openxmlformats.org/officeDocument/2006/relationships/slideLayout" Target="../slideLayouts/slideLayout1.xml"/><Relationship Id="Re598f34444bc47b7" Type="http://schemas.openxmlformats.org/officeDocument/2006/relationships/image" Target="../media/image.png"/><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top-brand-rule">
            <a:extLst xmlns:a="http://schemas.openxmlformats.org/drawingml/2006/main">
              <a:ext uri="{FF2B5EF4-FFF2-40B4-BE49-F238E27FC236}">
                <a16:creationId xmlns:a16="http://schemas.microsoft.com/office/drawing/2014/main" id="{FDACD238-30EA-433B-B9A8-2AB270625A83}"/>
              </a:ext>
            </a:extLst>
          </p:cNvPr>
          <p:cNvSpPr>
            <a:spLocks xmlns:a="http://schemas.openxmlformats.org/drawingml/2006/main" noGrp="1"/>
          </p:cNvSpPr>
          <p:nvPr/>
        </p:nvSpPr>
        <p:spPr>
          <a:xfrm xmlns:a="http://schemas.openxmlformats.org/drawingml/2006/main">
            <a:off x="0" y="0"/>
            <a:ext cx="42804000" cy="228600"/>
          </a:xfrm>
          <a:prstGeom xmlns:a="http://schemas.openxmlformats.org/drawingml/2006/main" prst="rect">
            <a:avLst/>
          </a:prstGeom>
          <a:solidFill xmlns:a="http://schemas.openxmlformats.org/drawingml/2006/main">
            <a:srgbClr val="003399"/>
          </a:solidFill>
          <a:ln xmlns:a="http://schemas.openxmlformats.org/drawingml/2006/main" w="0">
            <a:noFill/>
            <a:prstDash val="solid"/>
          </a:ln>
        </p:spPr>
      </p:sp>
      <p:sp>
        <p:nvSpPr>
          <p:cNvPr id="2" name="course-line">
            <a:extLst xmlns:a="http://schemas.openxmlformats.org/drawingml/2006/main">
              <a:ext uri="{FF2B5EF4-FFF2-40B4-BE49-F238E27FC236}">
                <a16:creationId xmlns:a16="http://schemas.microsoft.com/office/drawing/2014/main" id="{5806B552-CE06-4C40-BA14-45983C2DB289}"/>
              </a:ext>
            </a:extLst>
          </p:cNvPr>
          <p:cNvSpPr>
            <a:spLocks xmlns:a="http://schemas.openxmlformats.org/drawingml/2006/main" noGrp="1"/>
          </p:cNvSpPr>
          <p:nvPr/>
        </p:nvSpPr>
        <p:spPr>
          <a:xfrm xmlns:a="http://schemas.openxmlformats.org/drawingml/2006/main">
            <a:off x="1333500" y="781050"/>
            <a:ext cx="2886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2775" b="1">
                <a:solidFill>
                  <a:srgbClr val="003399"/>
                </a:solidFill>
                <a:latin typeface="Calibri"/>
                <a:ea typeface="Calibri"/>
                <a:cs typeface="Calibri"/>
              </a:defRPr>
            </a:pPr>
            <a:r>
              <a:rPr sz="2775" b="1">
                <a:solidFill>
                  <a:srgbClr val="003399"/>
                </a:solidFill>
                <a:latin typeface="Calibri"/>
              </a:rPr>
              <a:t>COMSCI / ECON 206   |   PS2 RESEARCH SYMPOSIUM   |   FALL 2026</a:t>
            </a:r>
          </a:p>
        </p:txBody>
      </p:sp>
      <p:sp>
        <p:nvSpPr>
          <p:cNvPr id="3" name="version">
            <a:extLst xmlns:a="http://schemas.openxmlformats.org/drawingml/2006/main">
              <a:ext uri="{FF2B5EF4-FFF2-40B4-BE49-F238E27FC236}">
                <a16:creationId xmlns:a16="http://schemas.microsoft.com/office/drawing/2014/main" id="{05588AA4-5EDB-4475-A143-90877DB14160}"/>
              </a:ext>
            </a:extLst>
          </p:cNvPr>
          <p:cNvSpPr>
            <a:spLocks xmlns:a="http://schemas.openxmlformats.org/drawingml/2006/main" noGrp="1"/>
          </p:cNvSpPr>
          <p:nvPr/>
        </p:nvSpPr>
        <p:spPr>
          <a:xfrm xmlns:a="http://schemas.openxmlformats.org/drawingml/2006/main">
            <a:off x="31623120" y="5903999"/>
            <a:ext cx="9810720" cy="37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r">
              <a:lnSpc>
                <a:spcPct val="100000"/>
              </a:lnSpc>
              <a:spcBef>
                <a:spcPts val="0"/>
              </a:spcBef>
              <a:spcAft>
                <a:spcPts val="0"/>
              </a:spcAft>
              <a:defRPr sz="2100" b="1">
                <a:solidFill>
                  <a:srgbClr val="006633"/>
                </a:solidFill>
                <a:latin typeface="Calibri"/>
                <a:ea typeface="Calibri"/>
                <a:cs typeface="Calibri"/>
              </a:defRPr>
            </a:pPr>
            <a:r>
              <a:rPr sz="2100" b="1">
                <a:solidFill>
                  <a:srgbClr val="006633"/>
                </a:solidFill>
                <a:latin typeface="Calibri"/>
              </a:rPr>
              <a:t>PS2 · CAPABILITY-TRANSFER OPENNESS</a:t>
            </a:r>
          </a:p>
        </p:txBody>
      </p:sp>
      <p:sp>
        <p:nvSpPr>
          <p:cNvPr id="4" name="project-title">
            <a:extLst xmlns:a="http://schemas.openxmlformats.org/drawingml/2006/main">
              <a:ext uri="{FF2B5EF4-FFF2-40B4-BE49-F238E27FC236}">
                <a16:creationId xmlns:a16="http://schemas.microsoft.com/office/drawing/2014/main" id="{B66A5B7F-804A-4F30-B6A0-3C5C2AB4C437}"/>
              </a:ext>
            </a:extLst>
          </p:cNvPr>
          <p:cNvSpPr>
            <a:spLocks xmlns:a="http://schemas.openxmlformats.org/drawingml/2006/main" noGrp="1"/>
          </p:cNvSpPr>
          <p:nvPr/>
        </p:nvSpPr>
        <p:spPr>
          <a:xfrm xmlns:a="http://schemas.openxmlformats.org/drawingml/2006/main">
            <a:off x="1333500" y="1733550"/>
            <a:ext cx="2914650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95000"/>
              </a:lnSpc>
              <a:spcBef>
                <a:spcPts val="0"/>
              </a:spcBef>
              <a:spcAft>
                <a:spcPts val="0"/>
              </a:spcAft>
              <a:defRPr sz="9450" b="1">
                <a:solidFill>
                  <a:srgbClr val="003399"/>
                </a:solidFill>
                <a:latin typeface="Calibri"/>
                <a:ea typeface="Calibri"/>
                <a:cs typeface="Calibri"/>
              </a:defRPr>
            </a:pPr>
            <a:r>
              <a:rPr sz="8400" b="1">
                <a:solidFill>
                  <a:srgbClr val="003399"/>
                </a:solidFill>
                <a:latin typeface="Calibri"/>
              </a:rPr>
              <a:t>Pay for Training, Not for Openness:</a:t>
            </a:r>
          </a:p>
          <a:p xmlns:a="http://schemas.openxmlformats.org/drawingml/2006/main">
            <a:pPr algn="l">
              <a:lnSpc>
                <a:spcPct val="95000"/>
              </a:lnSpc>
              <a:spcBef>
                <a:spcPts val="0"/>
              </a:spcBef>
              <a:spcAft>
                <a:spcPts val="0"/>
              </a:spcAft>
            </a:pPr>
            <a:r>
              <a:rPr sz="8400" b="1">
                <a:solidFill>
                  <a:srgbClr val="003399"/>
                </a:solidFill>
                <a:latin typeface="Calibri"/>
              </a:rPr>
              <a:t>Reward Design for Original and Distilled AI Models</a:t>
            </a:r>
          </a:p>
        </p:txBody>
      </p:sp>
      <p:sp>
        <p:nvSpPr>
          <p:cNvPr id="5" name="authors">
            <a:extLst xmlns:a="http://schemas.openxmlformats.org/drawingml/2006/main">
              <a:ext uri="{FF2B5EF4-FFF2-40B4-BE49-F238E27FC236}">
                <a16:creationId xmlns:a16="http://schemas.microsoft.com/office/drawing/2014/main" id="{439A7EDB-36D0-4D9A-9F53-6704B96A144F}"/>
              </a:ext>
            </a:extLst>
          </p:cNvPr>
          <p:cNvSpPr>
            <a:spLocks xmlns:a="http://schemas.openxmlformats.org/drawingml/2006/main" noGrp="1"/>
          </p:cNvSpPr>
          <p:nvPr/>
        </p:nvSpPr>
        <p:spPr>
          <a:xfrm xmlns:a="http://schemas.openxmlformats.org/drawingml/2006/main">
            <a:off x="1333500" y="4457700"/>
            <a:ext cx="2857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4050" b="1">
                <a:solidFill>
                  <a:srgbClr val="212A33"/>
                </a:solidFill>
                <a:latin typeface="Calibri"/>
                <a:ea typeface="Calibri"/>
                <a:cs typeface="Calibri"/>
              </a:defRPr>
            </a:pPr>
            <a:r>
              <a:rPr sz="4050" b="1">
                <a:solidFill>
                  <a:srgbClr val="212A33"/>
                </a:solidFill>
                <a:latin typeface="Calibri"/>
              </a:rPr>
              <a:t>Zhengjun He, Yichen Shen  |  Team FP4</a:t>
            </a:r>
          </a:p>
        </p:txBody>
      </p:sp>
      <p:sp>
        <p:nvSpPr>
          <p:cNvPr id="6" name="course-instructor">
            <a:extLst xmlns:a="http://schemas.openxmlformats.org/drawingml/2006/main">
              <a:ext uri="{FF2B5EF4-FFF2-40B4-BE49-F238E27FC236}">
                <a16:creationId xmlns:a16="http://schemas.microsoft.com/office/drawing/2014/main" id="{E0620329-B4C6-41DE-A2DD-7C1BAB05722F}"/>
              </a:ext>
            </a:extLst>
          </p:cNvPr>
          <p:cNvSpPr>
            <a:spLocks xmlns:a="http://schemas.openxmlformats.org/drawingml/2006/main" noGrp="1"/>
          </p:cNvSpPr>
          <p:nvPr/>
        </p:nvSpPr>
        <p:spPr>
          <a:xfrm xmlns:a="http://schemas.openxmlformats.org/drawingml/2006/main">
            <a:off x="1333500" y="5229225"/>
            <a:ext cx="2857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000" b="0">
                <a:solidFill>
                  <a:srgbClr val="212A33"/>
                </a:solidFill>
                <a:latin typeface="Calibri"/>
                <a:ea typeface="Calibri"/>
                <a:cs typeface="Calibri"/>
              </a:defRPr>
            </a:pPr>
            <a:r>
              <a:rPr sz="3000" b="0">
                <a:solidFill>
                  <a:srgbClr val="212A33"/>
                </a:solidFill>
                <a:latin typeface="Calibri"/>
              </a:rPr>
              <a:t>Course instructor: Professor Luyao Zhang</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e598f34444bc47b7"/>
          <a:stretch xmlns:a="http://schemas.openxmlformats.org/drawingml/2006/main"/>
        </p:blipFill>
        <p:spPr>
          <a:xfrm xmlns:a="http://schemas.openxmlformats.org/drawingml/2006/main">
            <a:off x="32575500" y="2190750"/>
            <a:ext cx="8096250" cy="2595818"/>
          </a:xfrm>
          <a:prstGeom xmlns:a="http://schemas.openxmlformats.org/drawingml/2006/main" prst="rect">
            <a:avLst/>
          </a:prstGeom>
        </p:spPr>
      </p:pic>
      <p:sp>
        <p:nvSpPr>
          <p:cNvPr id="8" name="takeaway-band">
            <a:extLst xmlns:a="http://schemas.openxmlformats.org/drawingml/2006/main">
              <a:ext uri="{FF2B5EF4-FFF2-40B4-BE49-F238E27FC236}">
                <a16:creationId xmlns:a16="http://schemas.microsoft.com/office/drawing/2014/main" id="{E5C59819-8AE8-4F07-93AA-7B6F5A9A66D5}"/>
              </a:ext>
            </a:extLst>
          </p:cNvPr>
          <p:cNvSpPr>
            <a:spLocks xmlns:a="http://schemas.openxmlformats.org/drawingml/2006/main" noGrp="1"/>
          </p:cNvSpPr>
          <p:nvPr/>
        </p:nvSpPr>
        <p:spPr>
          <a:xfrm xmlns:a="http://schemas.openxmlformats.org/drawingml/2006/main">
            <a:off x="0" y="6572250"/>
            <a:ext cx="42804000" cy="2143125"/>
          </a:xfrm>
          <a:prstGeom xmlns:a="http://schemas.openxmlformats.org/drawingml/2006/main" prst="rect">
            <a:avLst/>
          </a:prstGeom>
          <a:solidFill xmlns:a="http://schemas.openxmlformats.org/drawingml/2006/main">
            <a:srgbClr val="003399"/>
          </a:solidFill>
          <a:ln xmlns:a="http://schemas.openxmlformats.org/drawingml/2006/main" w="0">
            <a:noFill/>
            <a:prstDash val="solid"/>
          </a:ln>
        </p:spPr>
      </p:sp>
      <p:sp>
        <p:nvSpPr>
          <p:cNvPr id="9" name="takeaway-label">
            <a:extLst xmlns:a="http://schemas.openxmlformats.org/drawingml/2006/main">
              <a:ext uri="{FF2B5EF4-FFF2-40B4-BE49-F238E27FC236}">
                <a16:creationId xmlns:a16="http://schemas.microsoft.com/office/drawing/2014/main" id="{701690AD-D64E-4607-AE56-414773E6FFD1}"/>
              </a:ext>
            </a:extLst>
          </p:cNvPr>
          <p:cNvSpPr>
            <a:spLocks xmlns:a="http://schemas.openxmlformats.org/drawingml/2006/main" noGrp="1"/>
          </p:cNvSpPr>
          <p:nvPr/>
        </p:nvSpPr>
        <p:spPr>
          <a:xfrm xmlns:a="http://schemas.openxmlformats.org/drawingml/2006/main">
            <a:off x="1333500" y="72390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2700" b="1">
                <a:solidFill>
                  <a:srgbClr val="FFFFFF"/>
                </a:solidFill>
                <a:latin typeface="Calibri"/>
                <a:ea typeface="Calibri"/>
                <a:cs typeface="Calibri"/>
              </a:defRPr>
            </a:pPr>
            <a:r>
              <a:rPr sz="2700" b="1">
                <a:solidFill>
                  <a:srgbClr val="FFFFFF"/>
                </a:solidFill>
                <a:latin typeface="Calibri"/>
              </a:rPr>
              <a:t>KEY MESSAGE</a:t>
            </a:r>
          </a:p>
        </p:txBody>
      </p:sp>
      <p:sp>
        <p:nvSpPr>
          <p:cNvPr id="10" name="takeaway">
            <a:extLst xmlns:a="http://schemas.openxmlformats.org/drawingml/2006/main">
              <a:ext uri="{FF2B5EF4-FFF2-40B4-BE49-F238E27FC236}">
                <a16:creationId xmlns:a16="http://schemas.microsoft.com/office/drawing/2014/main" id="{83EFFE95-83CD-498B-99EF-83DF06C3C922}"/>
              </a:ext>
            </a:extLst>
          </p:cNvPr>
          <p:cNvSpPr>
            <a:spLocks xmlns:a="http://schemas.openxmlformats.org/drawingml/2006/main" noGrp="1"/>
          </p:cNvSpPr>
          <p:nvPr/>
        </p:nvSpPr>
        <p:spPr>
          <a:xfrm xmlns:a="http://schemas.openxmlformats.org/drawingml/2006/main">
            <a:off x="6477000" y="7000875"/>
            <a:ext cx="34993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Autofit/>
          </a:bodyPr>
          <a:lstStyle xmlns:a="http://schemas.openxmlformats.org/drawingml/2006/main"/>
          <a:p xmlns:a="http://schemas.openxmlformats.org/drawingml/2006/main">
            <a:pPr algn="l">
              <a:lnSpc>
                <a:spcPct val="100000"/>
              </a:lnSpc>
              <a:spcBef>
                <a:spcPts val="0"/>
              </a:spcBef>
              <a:spcAft>
                <a:spcPts val="0"/>
              </a:spcAft>
              <a:defRPr sz="4425" b="1">
                <a:solidFill>
                  <a:srgbClr val="FFFFFF"/>
                </a:solidFill>
                <a:latin typeface="Calibri"/>
                <a:ea typeface="Calibri"/>
                <a:cs typeface="Calibri"/>
              </a:defRPr>
            </a:pPr>
            <a:r>
              <a:rPr sz="4200" b="0">
                <a:solidFill>
                  <a:srgbClr val="FFFFFF"/>
                </a:solidFill>
                <a:latin typeface="Calibri"/>
              </a:rPr>
              <a:t>Private and social rankings are exact reverses: the developer's best move is society's worst. So markets rest on secrecy, or fill with open copies, unless the prize is paid per unit of </a:t>
            </a:r>
            <a:r>
              <a:rPr sz="4200" b="1">
                <a:solidFill>
                  <a:srgbClr val="FFFFFF"/>
                </a:solidFill>
                <a:latin typeface="Calibri"/>
              </a:rPr>
              <a:t>training compute</a:t>
            </a:r>
            <a:r>
              <a:rPr sz="4200" b="0">
                <a:solidFill>
                  <a:srgbClr val="FFFFFF"/>
                </a:solidFill>
                <a:latin typeface="Calibri"/>
              </a:rPr>
              <a:t>, not for </a:t>
            </a:r>
            <a:r>
              <a:rPr sz="4200" b="1">
                <a:solidFill>
                  <a:srgbClr val="FFFFFF"/>
                </a:solidFill>
                <a:latin typeface="Calibri"/>
              </a:rPr>
              <a:t>openness</a:t>
            </a:r>
            <a:r>
              <a:rPr sz="4200" b="0">
                <a:solidFill>
                  <a:srgbClr val="FFFFFF"/>
                </a:solidFill>
                <a:latin typeface="Calibri"/>
              </a:rPr>
              <a:t> alone.</a:t>
            </a:r>
          </a:p>
        </p:txBody>
      </p:sp>
      <p:sp>
        <p:nvSpPr>
          <p:cNvPr id="11" name="question-model-title">
            <a:extLst xmlns:a="http://schemas.openxmlformats.org/drawingml/2006/main">
              <a:ext uri="{FF2B5EF4-FFF2-40B4-BE49-F238E27FC236}">
                <a16:creationId xmlns:a16="http://schemas.microsoft.com/office/drawing/2014/main" id="{CD5C4DFB-E23C-429C-B167-B9CF4889CB3B}"/>
              </a:ext>
            </a:extLst>
          </p:cNvPr>
          <p:cNvSpPr>
            <a:spLocks xmlns:a="http://schemas.openxmlformats.org/drawingml/2006/main" noGrp="1"/>
          </p:cNvSpPr>
          <p:nvPr/>
        </p:nvSpPr>
        <p:spPr>
          <a:xfrm xmlns:a="http://schemas.openxmlformats.org/drawingml/2006/main">
            <a:off x="1333500" y="9525000"/>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4650" b="1">
                <a:solidFill>
                  <a:srgbClr val="003399"/>
                </a:solidFill>
                <a:latin typeface="Calibri"/>
                <a:ea typeface="Calibri"/>
                <a:cs typeface="Calibri"/>
              </a:defRPr>
            </a:pPr>
            <a:r>
              <a:rPr sz="4650" b="1">
                <a:solidFill>
                  <a:srgbClr val="003399"/>
                </a:solidFill>
                <a:latin typeface="Calibri"/>
              </a:rPr>
              <a:t>01   Question &amp; model</a:t>
            </a:r>
          </a:p>
        </p:txBody>
      </p:sp>
      <p:sp>
        <p:nvSpPr>
          <p:cNvPr id="12" name="question-model-title-rule">
            <a:extLst xmlns:a="http://schemas.openxmlformats.org/drawingml/2006/main">
              <a:ext uri="{FF2B5EF4-FFF2-40B4-BE49-F238E27FC236}">
                <a16:creationId xmlns:a16="http://schemas.microsoft.com/office/drawing/2014/main" id="{F81F4A35-5377-44CB-941D-4B8D9F26180B}"/>
              </a:ext>
            </a:extLst>
          </p:cNvPr>
          <p:cNvSpPr>
            <a:spLocks xmlns:a="http://schemas.openxmlformats.org/drawingml/2006/main" noGrp="1"/>
          </p:cNvSpPr>
          <p:nvPr/>
        </p:nvSpPr>
        <p:spPr>
          <a:xfrm xmlns:a="http://schemas.openxmlformats.org/drawingml/2006/main">
            <a:off x="1333500" y="10506075"/>
            <a:ext cx="11049000"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13" name="research-question-heading">
            <a:extLst xmlns:a="http://schemas.openxmlformats.org/drawingml/2006/main">
              <a:ext uri="{FF2B5EF4-FFF2-40B4-BE49-F238E27FC236}">
                <a16:creationId xmlns:a16="http://schemas.microsoft.com/office/drawing/2014/main" id="{4190E777-F9CF-4131-93FB-BBFC74FF79EA}"/>
              </a:ext>
            </a:extLst>
          </p:cNvPr>
          <p:cNvSpPr>
            <a:spLocks xmlns:a="http://schemas.openxmlformats.org/drawingml/2006/main" noGrp="1"/>
          </p:cNvSpPr>
          <p:nvPr/>
        </p:nvSpPr>
        <p:spPr>
          <a:xfrm xmlns:a="http://schemas.openxmlformats.org/drawingml/2006/main">
            <a:off x="1333500" y="11144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Research question &amp; verified gap</a:t>
            </a:r>
          </a:p>
        </p:txBody>
      </p:sp>
      <p:sp>
        <p:nvSpPr>
          <p:cNvPr id="14" name="research-question">
            <a:extLst xmlns:a="http://schemas.openxmlformats.org/drawingml/2006/main">
              <a:ext uri="{FF2B5EF4-FFF2-40B4-BE49-F238E27FC236}">
                <a16:creationId xmlns:a16="http://schemas.microsoft.com/office/drawing/2014/main" id="{76FF89C4-3045-4C47-A236-4952EAA04A98}"/>
              </a:ext>
            </a:extLst>
          </p:cNvPr>
          <p:cNvSpPr>
            <a:spLocks xmlns:a="http://schemas.openxmlformats.org/drawingml/2006/main" noGrp="1"/>
          </p:cNvSpPr>
          <p:nvPr/>
        </p:nvSpPr>
        <p:spPr>
          <a:xfrm xmlns:a="http://schemas.openxmlformats.org/drawingml/2006/main">
            <a:off x="1333500" y="11906250"/>
            <a:ext cx="11049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2000"/>
              </a:lnSpc>
              <a:spcBef>
                <a:spcPts val="0"/>
              </a:spcBef>
              <a:spcAft>
                <a:spcPts val="900"/>
              </a:spcAft>
              <a:defRPr sz="3300" b="0">
                <a:solidFill>
                  <a:srgbClr val="212A33"/>
                </a:solidFill>
                <a:latin typeface="Calibri"/>
                <a:ea typeface="Calibri"/>
                <a:cs typeface="Calibri"/>
              </a:defRPr>
            </a:pPr>
            <a:r>
              <a:rPr sz="2170" b="1">
                <a:solidFill>
                  <a:srgbClr val="212A33"/>
                </a:solidFill>
                <a:latin typeface="Calibri"/>
              </a:rPr>
              <a:t>Q  </a:t>
            </a:r>
            <a:r>
              <a:rPr sz="2170" b="0">
                <a:solidFill>
                  <a:srgbClr val="212A33"/>
                </a:solidFill>
                <a:latin typeface="Calibri"/>
              </a:rPr>
              <a:t>A developer may imitate (distil) or innovate (train from scratch), and may release the result under secrecy or openness. Which of the four does it choose — and does society want the same?</a:t>
            </a:r>
          </a:p>
          <a:p xmlns:a="http://schemas.openxmlformats.org/drawingml/2006/main">
            <a:pPr algn="l">
              <a:lnSpc>
                <a:spcPct val="102000"/>
              </a:lnSpc>
              <a:spcBef>
                <a:spcPts val="0"/>
              </a:spcBef>
              <a:spcAft>
                <a:spcPts val="900"/>
              </a:spcAft>
              <a:defRPr sz="3300" b="0">
                <a:solidFill>
                  <a:srgbClr val="212A33"/>
                </a:solidFill>
                <a:latin typeface="Calibri"/>
                <a:ea typeface="Calibri"/>
                <a:cs typeface="Calibri"/>
              </a:defRPr>
            </a:pPr>
            <a:r>
              <a:rPr sz="2170" b="1">
                <a:solidFill>
                  <a:srgbClr val="212A33"/>
                </a:solidFill>
                <a:latin typeface="Calibri"/>
              </a:rPr>
              <a:t>Gap  </a:t>
            </a:r>
            <a:r>
              <a:rPr sz="2170" b="0">
                <a:solidFill>
                  <a:srgbClr val="212A33"/>
                </a:solidFill>
                <a:latin typeface="Calibri"/>
              </a:rPr>
              <a:t>Rules that reward openness reward it as such (Qiu et al. 2025), and stay silent on whether a model was originally trained or merely imitated. That silence is where the incentive breaks.</a:t>
            </a:r>
          </a:p>
          <a:p xmlns:a="http://schemas.openxmlformats.org/drawingml/2006/main">
            <a:pPr algn="l">
              <a:lnSpc>
                <a:spcPct val="102000"/>
              </a:lnSpc>
              <a:spcBef>
                <a:spcPts val="0"/>
              </a:spcBef>
              <a:spcAft>
                <a:spcPts val="900"/>
              </a:spcAft>
              <a:defRPr sz="3300" b="0">
                <a:solidFill>
                  <a:srgbClr val="212A33"/>
                </a:solidFill>
                <a:latin typeface="Calibri"/>
                <a:ea typeface="Calibri"/>
                <a:cs typeface="Calibri"/>
              </a:defRPr>
            </a:pPr>
            <a:r>
              <a:rPr sz="2170" b="1">
                <a:solidFill>
                  <a:srgbClr val="212A33"/>
                </a:solidFill>
                <a:latin typeface="Calibri"/>
              </a:rPr>
              <a:t>Why it matters  </a:t>
            </a:r>
            <a:r>
              <a:rPr sz="2170" b="0">
                <a:solidFill>
                  <a:srgbClr val="212A33"/>
                </a:solidFill>
                <a:latin typeface="Calibri"/>
              </a:rPr>
              <a:t>A prize that pays for openness alone pays the imitator, not the innovator.</a:t>
            </a:r>
          </a:p>
        </p:txBody>
      </p:sp>
      <p:sp>
        <p:nvSpPr>
          <p:cNvPr id="15" name="model-heading">
            <a:extLst xmlns:a="http://schemas.openxmlformats.org/drawingml/2006/main">
              <a:ext uri="{FF2B5EF4-FFF2-40B4-BE49-F238E27FC236}">
                <a16:creationId xmlns:a16="http://schemas.microsoft.com/office/drawing/2014/main" id="{19910E6B-D44C-401D-8E76-04691CDB9EA9}"/>
              </a:ext>
            </a:extLst>
          </p:cNvPr>
          <p:cNvSpPr>
            <a:spLocks xmlns:a="http://schemas.openxmlformats.org/drawingml/2006/main" noGrp="1"/>
          </p:cNvSpPr>
          <p:nvPr/>
        </p:nvSpPr>
        <p:spPr>
          <a:xfrm xmlns:a="http://schemas.openxmlformats.org/drawingml/2006/main">
            <a:off x="1333500" y="151447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Strategic model &amp; foundations</a:t>
            </a:r>
          </a:p>
        </p:txBody>
      </p:sp>
      <p:sp>
        <p:nvSpPr>
          <p:cNvPr id="16" name="model">
            <a:extLst xmlns:a="http://schemas.openxmlformats.org/drawingml/2006/main">
              <a:ext uri="{FF2B5EF4-FFF2-40B4-BE49-F238E27FC236}">
                <a16:creationId xmlns:a16="http://schemas.microsoft.com/office/drawing/2014/main" id="{BD93B7B7-C6A1-4C6C-8B07-9664A884A221}"/>
              </a:ext>
            </a:extLst>
          </p:cNvPr>
          <p:cNvSpPr>
            <a:spLocks xmlns:a="http://schemas.openxmlformats.org/drawingml/2006/main" noGrp="1"/>
          </p:cNvSpPr>
          <p:nvPr/>
        </p:nvSpPr>
        <p:spPr>
          <a:xfrm xmlns:a="http://schemas.openxmlformats.org/drawingml/2006/main">
            <a:off x="1333500" y="15906750"/>
            <a:ext cx="11049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1980" b="1">
                <a:solidFill>
                  <a:srgbClr val="212A33"/>
                </a:solidFill>
                <a:latin typeface="Calibri"/>
              </a:rPr>
              <a:t>Players  </a:t>
            </a:r>
            <a:r>
              <a:rPr sz="1980" b="0">
                <a:solidFill>
                  <a:srgbClr val="212A33"/>
                </a:solidFill>
                <a:latin typeface="Calibri"/>
              </a:rPr>
              <a:t>one developer chooses sourcing (imitate or innovate) and release (secrecy or openness).</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1980" b="1">
                <a:solidFill>
                  <a:srgbClr val="212A33"/>
                </a:solidFill>
                <a:latin typeface="Calibri"/>
              </a:rPr>
              <a:t>Payoffs  </a:t>
            </a:r>
            <a:r>
              <a:rPr sz="1980" b="0">
                <a:solidFill>
                  <a:srgbClr val="212A33"/>
                </a:solidFill>
                <a:latin typeface="Calibri"/>
              </a:rPr>
              <a:t>four cells (Figure 1): secrecy keeps the monopoly profit; a release earns a prize on its compute and loses the edge.</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1980" b="1">
                <a:solidFill>
                  <a:srgbClr val="212A33"/>
                </a:solidFill>
                <a:latin typeface="Calibri"/>
              </a:rPr>
              <a:t>Solution concept  </a:t>
            </a:r>
            <a:r>
              <a:rPr sz="1980" b="0">
                <a:solidFill>
                  <a:srgbClr val="212A33"/>
                </a:solidFill>
                <a:latin typeface="Calibri"/>
              </a:rPr>
              <a:t>Nash equilibrium, set against society's ranking.</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1980" b="1">
                <a:solidFill>
                  <a:srgbClr val="212A33"/>
                </a:solidFill>
                <a:latin typeface="Calibri"/>
              </a:rPr>
              <a:t>Assumptions  </a:t>
            </a:r>
            <a:r>
              <a:rPr sz="1980" b="0">
                <a:solidFill>
                  <a:srgbClr val="212A33"/>
                </a:solidFill>
                <a:latin typeface="Calibri"/>
              </a:rPr>
              <a:t>innovation costs more and uses more compute than imitation; the prize rate k is paid per unit of compute E.</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1980" b="1">
                <a:solidFill>
                  <a:srgbClr val="212A33"/>
                </a:solidFill>
                <a:latin typeface="Calibri"/>
              </a:rPr>
              <a:t>Notation  </a:t>
            </a:r>
            <a:r>
              <a:rPr sz="1980" b="0">
                <a:solidFill>
                  <a:srgbClr val="212A33"/>
                </a:solidFill>
                <a:latin typeface="Calibri"/>
              </a:rPr>
              <a:t>C</a:t>
            </a:r>
            <a:r>
              <a:rPr sz="1980" b="1" baseline="-25000">
                <a:solidFill>
                  <a:srgbClr val="212A33"/>
                </a:solidFill>
                <a:latin typeface="Calibri"/>
              </a:rPr>
              <a:t>d</a:t>
            </a:r>
            <a:r>
              <a:rPr sz="1980" b="0">
                <a:solidFill>
                  <a:srgbClr val="212A33"/>
                </a:solidFill>
                <a:latin typeface="Calibri"/>
              </a:rPr>
              <a:t>, E</a:t>
            </a:r>
            <a:r>
              <a:rPr sz="1980" b="1" baseline="-25000">
                <a:solidFill>
                  <a:srgbClr val="212A33"/>
                </a:solidFill>
                <a:latin typeface="Calibri"/>
              </a:rPr>
              <a:t>d</a:t>
            </a:r>
            <a:r>
              <a:rPr sz="1980" b="0">
                <a:solidFill>
                  <a:srgbClr val="212A33"/>
                </a:solidFill>
                <a:latin typeface="Calibri"/>
              </a:rPr>
              <a:t> = cost and compute of imitation · C</a:t>
            </a:r>
            <a:r>
              <a:rPr sz="1980" b="1" baseline="-25000">
                <a:solidFill>
                  <a:srgbClr val="212A33"/>
                </a:solidFill>
                <a:latin typeface="Calibri"/>
              </a:rPr>
              <a:t>n</a:t>
            </a:r>
            <a:r>
              <a:rPr sz="1980" b="0">
                <a:solidFill>
                  <a:srgbClr val="212A33"/>
                </a:solidFill>
                <a:latin typeface="Calibri"/>
              </a:rPr>
              <a:t>, E</a:t>
            </a:r>
            <a:r>
              <a:rPr sz="1980" b="1" baseline="-25000">
                <a:solidFill>
                  <a:srgbClr val="212A33"/>
                </a:solidFill>
                <a:latin typeface="Calibri"/>
              </a:rPr>
              <a:t>n</a:t>
            </a:r>
            <a:r>
              <a:rPr sz="1980" b="0">
                <a:solidFill>
                  <a:srgbClr val="212A33"/>
                </a:solidFill>
                <a:latin typeface="Calibri"/>
              </a:rPr>
              <a:t> = cost and compute of innovation · k = prize per unit of E · L = loss from disclosure · π = monopoly profit kept under secrecy.</a:t>
            </a:r>
          </a:p>
        </p:txBody>
      </p:sp>
      <p:sp>
        <p:nvSpPr>
          <p:cNvPr id="17" name="lenses-heading">
            <a:extLst xmlns:a="http://schemas.openxmlformats.org/drawingml/2006/main">
              <a:ext uri="{FF2B5EF4-FFF2-40B4-BE49-F238E27FC236}">
                <a16:creationId xmlns:a16="http://schemas.microsoft.com/office/drawing/2014/main" id="{DAFBC93E-B2F0-417F-9381-A98FDF506C48}"/>
              </a:ext>
            </a:extLst>
          </p:cNvPr>
          <p:cNvSpPr>
            <a:spLocks xmlns:a="http://schemas.openxmlformats.org/drawingml/2006/main" noGrp="1"/>
          </p:cNvSpPr>
          <p:nvPr/>
        </p:nvSpPr>
        <p:spPr>
          <a:xfrm xmlns:a="http://schemas.openxmlformats.org/drawingml/2006/main">
            <a:off x="1333500" y="19526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Three complementary lenses</a:t>
            </a:r>
          </a:p>
        </p:txBody>
      </p:sp>
      <p:sp>
        <p:nvSpPr>
          <p:cNvPr id="18" name="lenses">
            <a:extLst xmlns:a="http://schemas.openxmlformats.org/drawingml/2006/main">
              <a:ext uri="{FF2B5EF4-FFF2-40B4-BE49-F238E27FC236}">
                <a16:creationId xmlns:a16="http://schemas.microsoft.com/office/drawing/2014/main" id="{E2BAF178-74E4-4DFF-A2BB-763467E733E6}"/>
              </a:ext>
            </a:extLst>
          </p:cNvPr>
          <p:cNvSpPr>
            <a:spLocks xmlns:a="http://schemas.openxmlformats.org/drawingml/2006/main" noGrp="1"/>
          </p:cNvSpPr>
          <p:nvPr/>
        </p:nvSpPr>
        <p:spPr>
          <a:xfrm xmlns:a="http://schemas.openxmlformats.org/drawingml/2006/main">
            <a:off x="1333500" y="20288250"/>
            <a:ext cx="11049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400" b="1">
                <a:solidFill>
                  <a:srgbClr val="212A33"/>
                </a:solidFill>
                <a:latin typeface="Calibri"/>
              </a:rPr>
              <a:t>Game theory  </a:t>
            </a:r>
            <a:r>
              <a:rPr sz="2400" b="0">
                <a:solidFill>
                  <a:srgbClr val="212A33"/>
                </a:solidFill>
                <a:latin typeface="Calibri"/>
              </a:rPr>
              <a:t>left alone, the best response is secrecy plus imitation — the cheap way to keep the monopoly price.</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400" b="1">
                <a:solidFill>
                  <a:srgbClr val="212A33"/>
                </a:solidFill>
                <a:latin typeface="Calibri"/>
              </a:rPr>
              <a:t>Social choice  </a:t>
            </a:r>
            <a:r>
              <a:rPr sz="2400" b="0">
                <a:solidFill>
                  <a:srgbClr val="212A33"/>
                </a:solidFill>
                <a:latin typeface="Calibri"/>
              </a:rPr>
              <a:t>society ranks openness plus innovation best and secrecy plus imitation worst; the two orders are exact reverses.</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400" b="1">
                <a:solidFill>
                  <a:srgbClr val="212A33"/>
                </a:solidFill>
                <a:latin typeface="Calibri"/>
              </a:rPr>
              <a:t>Mechanism design  </a:t>
            </a:r>
            <a:r>
              <a:rPr sz="2400" b="0">
                <a:solidFill>
                  <a:srgbClr val="212A33"/>
                </a:solidFill>
                <a:latin typeface="Calibri"/>
              </a:rPr>
              <a:t>a prize paid for openness alone rewards the imitator more than the innovator, who paid more to get there; paid per unit of compute it separates them.</a:t>
            </a:r>
          </a:p>
        </p:txBody>
      </p:sp>
      <p:sp>
        <p:nvSpPr>
          <p:cNvPr id="19" name="auction-heading">
            <a:extLst xmlns:a="http://schemas.openxmlformats.org/drawingml/2006/main">
              <a:ext uri="{FF2B5EF4-FFF2-40B4-BE49-F238E27FC236}">
                <a16:creationId xmlns:a16="http://schemas.microsoft.com/office/drawing/2014/main" id="{0A85FF4E-C110-48A1-8567-A06DAC93CC6E}"/>
              </a:ext>
            </a:extLst>
          </p:cNvPr>
          <p:cNvSpPr>
            <a:spLocks xmlns:a="http://schemas.openxmlformats.org/drawingml/2006/main" noGrp="1"/>
          </p:cNvSpPr>
          <p:nvPr/>
        </p:nvSpPr>
        <p:spPr>
          <a:xfrm xmlns:a="http://schemas.openxmlformats.org/drawingml/2006/main">
            <a:off x="1333500" y="229044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Auction or allocation comparison</a:t>
            </a:r>
          </a:p>
        </p:txBody>
      </p:sp>
      <p:sp>
        <p:nvSpPr>
          <p:cNvPr id="20" name="auction">
            <a:extLst xmlns:a="http://schemas.openxmlformats.org/drawingml/2006/main">
              <a:ext uri="{FF2B5EF4-FFF2-40B4-BE49-F238E27FC236}">
                <a16:creationId xmlns:a16="http://schemas.microsoft.com/office/drawing/2014/main" id="{182900A4-D41C-4FC8-8D3B-A44A8758AC89}"/>
              </a:ext>
            </a:extLst>
          </p:cNvPr>
          <p:cNvSpPr>
            <a:spLocks xmlns:a="http://schemas.openxmlformats.org/drawingml/2006/main" noGrp="1"/>
          </p:cNvSpPr>
          <p:nvPr/>
        </p:nvSpPr>
        <p:spPr>
          <a:xfrm xmlns:a="http://schemas.openxmlformats.org/drawingml/2006/main">
            <a:off x="1333500" y="23666450"/>
            <a:ext cx="11049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150" b="0">
                <a:solidFill>
                  <a:srgbClr val="212A33"/>
                </a:solidFill>
                <a:latin typeface="Calibri"/>
                <a:ea typeface="Calibri"/>
                <a:cs typeface="Calibri"/>
              </a:defRPr>
            </a:pPr>
            <a:r>
              <a:rPr sz="2060" b="0">
                <a:solidFill>
                  <a:srgbClr val="212A33"/>
                </a:solidFill>
                <a:latin typeface="Calibri"/>
              </a:rPr>
              <a:t>The prize is an </a:t>
            </a:r>
            <a:r>
              <a:rPr sz="2060" b="1">
                <a:solidFill>
                  <a:srgbClr val="212A33"/>
                </a:solidFill>
                <a:latin typeface="Calibri"/>
              </a:rPr>
              <a:t>all-pay auction</a:t>
            </a:r>
            <a:r>
              <a:rPr sz="2060" b="0">
                <a:solidFill>
                  <a:srgbClr val="212A33"/>
                </a:solidFill>
                <a:latin typeface="Calibri"/>
              </a:rPr>
              <a:t> (Baye et al. 1996): E is the bid, all bidders pay, the top E wins.</a:t>
            </a:r>
          </a:p>
          <a:p xmlns:a="http://schemas.openxmlformats.org/drawingml/2006/main">
            <a:pPr algn="l">
              <a:lnSpc>
                <a:spcPct val="100000"/>
              </a:lnSpc>
              <a:spcBef>
                <a:spcPts val="0"/>
              </a:spcBef>
              <a:spcAft>
                <a:spcPts val="600"/>
              </a:spcAft>
              <a:defRPr sz="3150" b="0">
                <a:solidFill>
                  <a:srgbClr val="212A33"/>
                </a:solidFill>
                <a:latin typeface="Calibri"/>
                <a:ea typeface="Calibri"/>
                <a:cs typeface="Calibri"/>
              </a:defRPr>
            </a:pPr>
            <a:r>
              <a:rPr sz="2060" b="1">
                <a:solidFill>
                  <a:srgbClr val="212A33"/>
                </a:solidFill>
                <a:latin typeface="Calibri"/>
              </a:rPr>
              <a:t>Rule A — flat prize  </a:t>
            </a:r>
            <a:r>
              <a:rPr sz="2060" b="0">
                <a:solidFill>
                  <a:srgbClr val="212A33"/>
                </a:solidFill>
                <a:latin typeface="Calibri"/>
              </a:rPr>
              <a:t>an openness-only prize pays both open cells the same, so innovation never wins.</a:t>
            </a:r>
          </a:p>
          <a:p xmlns:a="http://schemas.openxmlformats.org/drawingml/2006/main">
            <a:pPr algn="l">
              <a:lnSpc>
                <a:spcPct val="100000"/>
              </a:lnSpc>
              <a:spcBef>
                <a:spcPts val="0"/>
              </a:spcBef>
              <a:spcAft>
                <a:spcPts val="600"/>
              </a:spcAft>
              <a:defRPr sz="3150" b="0">
                <a:solidFill>
                  <a:srgbClr val="212A33"/>
                </a:solidFill>
                <a:latin typeface="Calibri"/>
                <a:ea typeface="Calibri"/>
                <a:cs typeface="Calibri"/>
              </a:defRPr>
            </a:pPr>
            <a:r>
              <a:rPr sz="2060" b="1">
                <a:solidFill>
                  <a:srgbClr val="212A33"/>
                </a:solidFill>
                <a:latin typeface="Calibri"/>
              </a:rPr>
              <a:t>Rule B — prize per unit of compute  </a:t>
            </a:r>
            <a:r>
              <a:rPr sz="2060" b="0">
                <a:solidFill>
                  <a:srgbClr val="212A33"/>
                </a:solidFill>
                <a:latin typeface="Calibri"/>
              </a:rPr>
              <a:t>two conditions: a firm discloses only if kE</a:t>
            </a:r>
            <a:r>
              <a:rPr baseline="-25000" sz="2060" b="0">
                <a:solidFill>
                  <a:srgbClr val="212A33"/>
                </a:solidFill>
                <a:latin typeface="Calibri"/>
              </a:rPr>
              <a:t>d</a:t>
            </a:r>
            <a:r>
              <a:rPr sz="2060" b="0">
                <a:solidFill>
                  <a:srgbClr val="212A33"/>
                </a:solidFill>
                <a:latin typeface="Calibri"/>
              </a:rPr>
              <a:t> &gt; L + π − βφK, and innovates only if k(E</a:t>
            </a:r>
            <a:r>
              <a:rPr baseline="-25000" sz="2060" b="0">
                <a:solidFill>
                  <a:srgbClr val="212A33"/>
                </a:solidFill>
                <a:latin typeface="Calibri"/>
              </a:rPr>
              <a:t>n</a:t>
            </a:r>
            <a:r>
              <a:rPr sz="2060" b="0">
                <a:solidFill>
                  <a:srgbClr val="212A33"/>
                </a:solidFill>
                <a:latin typeface="Calibri"/>
              </a:rPr>
              <a:t> − E</a:t>
            </a:r>
            <a:r>
              <a:rPr baseline="-25000" sz="2060" b="0">
                <a:solidFill>
                  <a:srgbClr val="212A33"/>
                </a:solidFill>
                <a:latin typeface="Calibri"/>
              </a:rPr>
              <a:t>d</a:t>
            </a:r>
            <a:r>
              <a:rPr sz="2060" b="0">
                <a:solidFill>
                  <a:srgbClr val="212A33"/>
                </a:solidFill>
                <a:latin typeface="Calibri"/>
              </a:rPr>
              <a:t>) &gt; C</a:t>
            </a:r>
            <a:r>
              <a:rPr baseline="-25000" sz="2060" b="0">
                <a:solidFill>
                  <a:srgbClr val="212A33"/>
                </a:solidFill>
                <a:latin typeface="Calibri"/>
              </a:rPr>
              <a:t>n</a:t>
            </a:r>
            <a:r>
              <a:rPr sz="2060" b="0">
                <a:solidFill>
                  <a:srgbClr val="212A33"/>
                </a:solidFill>
                <a:latin typeface="Calibri"/>
              </a:rPr>
              <a:t> − C</a:t>
            </a:r>
            <a:r>
              <a:rPr baseline="-25000" sz="2060" b="0">
                <a:solidFill>
                  <a:srgbClr val="212A33"/>
                </a:solidFill>
                <a:latin typeface="Calibri"/>
              </a:rPr>
              <a:t>d</a:t>
            </a:r>
            <a:r>
              <a:rPr sz="2060" b="0">
                <a:solidFill>
                  <a:srgbClr val="212A33"/>
                </a:solidFill>
                <a:latin typeface="Calibri"/>
              </a:rPr>
              <a:t>.</a:t>
            </a:r>
          </a:p>
          <a:p xmlns:a="http://schemas.openxmlformats.org/drawingml/2006/main">
            <a:pPr algn="l">
              <a:lnSpc>
                <a:spcPct val="100000"/>
              </a:lnSpc>
              <a:spcBef>
                <a:spcPts val="0"/>
              </a:spcBef>
              <a:spcAft>
                <a:spcPts val="600"/>
              </a:spcAft>
              <a:defRPr sz="3150" b="0">
                <a:solidFill>
                  <a:srgbClr val="212A33"/>
                </a:solidFill>
                <a:latin typeface="Calibri"/>
                <a:ea typeface="Calibri"/>
                <a:cs typeface="Calibri"/>
              </a:defRPr>
            </a:pPr>
            <a:r>
              <a:rPr sz="2060" b="1">
                <a:solidFill>
                  <a:srgbClr val="212A33"/>
                </a:solidFill>
                <a:latin typeface="Calibri"/>
              </a:rPr>
              <a:t>Where the all-pay analogy bites  </a:t>
            </a:r>
            <a:r>
              <a:rPr sz="2060" b="0">
                <a:solidFill>
                  <a:srgbClr val="212A33"/>
                </a:solidFill>
                <a:latin typeface="Calibri"/>
              </a:rPr>
              <a:t>the bid is real compute, verifiable only by audit, so over-reporting pays.</a:t>
            </a:r>
          </a:p>
          <a:p xmlns:a="http://schemas.openxmlformats.org/drawingml/2006/main">
            <a:pPr algn="l">
              <a:lnSpc>
                <a:spcPct val="100000"/>
              </a:lnSpc>
              <a:spcBef>
                <a:spcPts val="0"/>
              </a:spcBef>
              <a:spcAft>
                <a:spcPts val="600"/>
              </a:spcAft>
              <a:defRPr sz="3150" b="0">
                <a:solidFill>
                  <a:srgbClr val="212A33"/>
                </a:solidFill>
                <a:latin typeface="Calibri"/>
                <a:ea typeface="Calibri"/>
                <a:cs typeface="Calibri"/>
              </a:defRPr>
            </a:pPr>
            <a:r>
              <a:rPr sz="2060" b="1">
                <a:solidFill>
                  <a:srgbClr val="212A33"/>
                </a:solidFill>
                <a:latin typeface="Calibri"/>
              </a:rPr>
              <a:t>Future share  </a:t>
            </a:r>
            <a:r>
              <a:rPr sz="2060" b="0">
                <a:solidFill>
                  <a:srgbClr val="212A33"/>
                </a:solidFill>
                <a:latin typeface="Calibri"/>
              </a:rPr>
              <a:t>with a strong motive firms open with no prize, but they open copies (fresh run: seed 206):</a:t>
            </a:r>
          </a:p>
        </p:txBody>
      </p:sp>
      <p:sp>
        <p:nvSpPr>
          <p:cNvPr id="21" name="design-evidence-title">
            <a:extLst xmlns:a="http://schemas.openxmlformats.org/drawingml/2006/main">
              <a:ext uri="{FF2B5EF4-FFF2-40B4-BE49-F238E27FC236}">
                <a16:creationId xmlns:a16="http://schemas.microsoft.com/office/drawing/2014/main" id="{5BD8C5A5-8D38-4D0E-9168-5677F645D725}"/>
              </a:ext>
            </a:extLst>
          </p:cNvPr>
          <p:cNvSpPr>
            <a:spLocks xmlns:a="http://schemas.openxmlformats.org/drawingml/2006/main" noGrp="1"/>
          </p:cNvSpPr>
          <p:nvPr/>
        </p:nvSpPr>
        <p:spPr>
          <a:xfrm xmlns:a="http://schemas.openxmlformats.org/drawingml/2006/main">
            <a:off x="13335000" y="9525000"/>
            <a:ext cx="16134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4650" b="1">
                <a:solidFill>
                  <a:srgbClr val="003399"/>
                </a:solidFill>
                <a:latin typeface="Calibri"/>
                <a:ea typeface="Calibri"/>
                <a:cs typeface="Calibri"/>
              </a:defRPr>
            </a:pPr>
            <a:r>
              <a:rPr sz="4650" b="1">
                <a:solidFill>
                  <a:srgbClr val="003399"/>
                </a:solidFill>
                <a:latin typeface="Calibri"/>
              </a:rPr>
              <a:t>02   Design &amp; evidence</a:t>
            </a:r>
          </a:p>
        </p:txBody>
      </p:sp>
      <p:sp>
        <p:nvSpPr>
          <p:cNvPr id="22" name="design-evidence-title-rule">
            <a:extLst xmlns:a="http://schemas.openxmlformats.org/drawingml/2006/main">
              <a:ext uri="{FF2B5EF4-FFF2-40B4-BE49-F238E27FC236}">
                <a16:creationId xmlns:a16="http://schemas.microsoft.com/office/drawing/2014/main" id="{3074EA74-1821-4014-8E91-ECC3F7A887C1}"/>
              </a:ext>
            </a:extLst>
          </p:cNvPr>
          <p:cNvSpPr>
            <a:spLocks xmlns:a="http://schemas.openxmlformats.org/drawingml/2006/main" noGrp="1"/>
          </p:cNvSpPr>
          <p:nvPr/>
        </p:nvSpPr>
        <p:spPr>
          <a:xfrm xmlns:a="http://schemas.openxmlformats.org/drawingml/2006/main">
            <a:off x="13335000" y="10506075"/>
            <a:ext cx="16134000"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23" name="research-design-area">
            <a:extLst xmlns:a="http://schemas.openxmlformats.org/drawingml/2006/main">
              <a:ext uri="{FF2B5EF4-FFF2-40B4-BE49-F238E27FC236}">
                <a16:creationId xmlns:a16="http://schemas.microsoft.com/office/drawing/2014/main" id="{6BFB0873-E93B-425C-B20A-BE7D9281AAB2}"/>
              </a:ext>
            </a:extLst>
          </p:cNvPr>
          <p:cNvSpPr>
            <a:spLocks xmlns:a="http://schemas.openxmlformats.org/drawingml/2006/main" noGrp="1"/>
          </p:cNvSpPr>
          <p:nvPr/>
        </p:nvSpPr>
        <p:spPr>
          <a:xfrm xmlns:a="http://schemas.openxmlformats.org/drawingml/2006/main">
            <a:off x="13335000" y="11144250"/>
            <a:ext cx="16134000" cy="4667250"/>
          </a:xfrm>
          <a:prstGeom xmlns:a="http://schemas.openxmlformats.org/drawingml/2006/main" prst="rect">
            <a:avLst/>
          </a:prstGeom>
          <a:solidFill xmlns:a="http://schemas.openxmlformats.org/drawingml/2006/main">
            <a:srgbClr val="F4F6F7"/>
          </a:solidFill>
          <a:ln xmlns:a="http://schemas.openxmlformats.org/drawingml/2006/main" w="19050">
            <a:solidFill>
              <a:srgbClr val="CFD5D9"/>
            </a:solidFill>
            <a:prstDash val="solid"/>
          </a:ln>
        </p:spPr>
      </p:sp>
      <p:sp>
        <p:nvSpPr>
          <p:cNvPr id="24" name="research-design-label">
            <a:extLst xmlns:a="http://schemas.openxmlformats.org/drawingml/2006/main">
              <a:ext uri="{FF2B5EF4-FFF2-40B4-BE49-F238E27FC236}">
                <a16:creationId xmlns:a16="http://schemas.microsoft.com/office/drawing/2014/main" id="{8126654C-9B1A-4166-BD33-50CD41EA22A1}"/>
              </a:ext>
            </a:extLst>
          </p:cNvPr>
          <p:cNvSpPr>
            <a:spLocks xmlns:a="http://schemas.openxmlformats.org/drawingml/2006/main" noGrp="1"/>
          </p:cNvSpPr>
          <p:nvPr/>
        </p:nvSpPr>
        <p:spPr>
          <a:xfrm xmlns:a="http://schemas.openxmlformats.org/drawingml/2006/main">
            <a:off x="13680000" y="11268000"/>
            <a:ext cx="14895720" cy="52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600" b="1">
                <a:solidFill>
                  <a:srgbClr val="003399"/>
                </a:solidFill>
                <a:latin typeface="Calibri"/>
                <a:ea typeface="Calibri"/>
                <a:cs typeface="Calibri"/>
              </a:defRPr>
            </a:pPr>
            <a:r>
              <a:rPr sz="3000" b="1">
                <a:solidFill>
                  <a:srgbClr val="003399"/>
                </a:solidFill>
                <a:latin typeface="Calibri"/>
              </a:rPr>
              <a:t>Figure 1 — the four strategy combinations</a:t>
            </a:r>
          </a:p>
        </p:txBody>
      </p:sp>
      <p:sp>
        <p:nvSpPr>
          <p:cNvPr id="26" name="design-caption">
            <a:extLst xmlns:a="http://schemas.openxmlformats.org/drawingml/2006/main">
              <a:ext uri="{FF2B5EF4-FFF2-40B4-BE49-F238E27FC236}">
                <a16:creationId xmlns:a16="http://schemas.microsoft.com/office/drawing/2014/main" id="{70CF347C-1901-4936-A975-9657C3531241}"/>
              </a:ext>
            </a:extLst>
          </p:cNvPr>
          <p:cNvSpPr>
            <a:spLocks xmlns:a="http://schemas.openxmlformats.org/drawingml/2006/main" noGrp="1"/>
          </p:cNvSpPr>
          <p:nvPr/>
        </p:nvSpPr>
        <p:spPr>
          <a:xfrm xmlns:a="http://schemas.openxmlformats.org/drawingml/2006/main">
            <a:off x="13335000" y="16097250"/>
            <a:ext cx="16134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2000"/>
              </a:lnSpc>
              <a:spcBef>
                <a:spcPts val="0"/>
              </a:spcBef>
              <a:spcAft>
                <a:spcPts val="0"/>
              </a:spcAft>
              <a:defRPr sz="2850" b="0">
                <a:solidFill>
                  <a:srgbClr val="56616B"/>
                </a:solidFill>
                <a:latin typeface="Calibri"/>
                <a:ea typeface="Calibri"/>
                <a:cs typeface="Calibri"/>
              </a:defRPr>
            </a:pPr>
            <a:r>
              <a:rPr sz="1900" b="1">
                <a:solidFill>
                  <a:srgbClr val="56616B"/>
                </a:solidFill>
                <a:latin typeface="Calibri"/>
              </a:rPr>
              <a:t>Figure 1.  </a:t>
            </a:r>
            <a:r>
              <a:rPr sz="1900" b="0">
                <a:solidFill>
                  <a:srgbClr val="56616B"/>
                </a:solidFill>
                <a:latin typeface="Calibri"/>
              </a:rPr>
              <a:t>The strategy space is a 2 × 2 — sourcing (imitate or innovate) × release (secrecy or openness) — with each cell's payoff. Secrecy plus imitation keeps the monopoly price cheaply, which is why it dominates privately; openness plus innovation is the only cell that creates a reusable source, and it is the most expensive. Cells recomputed in </a:t>
            </a:r>
            <a:r>
              <a:rPr sz="1900" b="1">
                <a:solidFill>
                  <a:srgbClr val="56616B"/>
                </a:solidFill>
                <a:latin typeface="Calibri"/>
              </a:rPr>
              <a:t>verify_k.py</a:t>
            </a:r>
            <a:r>
              <a:rPr sz="1900" b="0">
                <a:solidFill>
                  <a:srgbClr val="56616B"/>
                </a:solidFill>
                <a:latin typeface="Calibri"/>
              </a:rPr>
              <a:t>.</a:t>
            </a:r>
            <a:r>
              <a:rPr sz="1900" b="0">
                <a:solidFill>
                  <a:srgbClr val="56616B"/>
                </a:solidFill>
                <a:latin typeface="Calibri"/>
              </a:rPr>
              <a:t> An open release also keeps the future market share it buys, βφK — the discounted value of the external contributions an open model attracts.</a:t>
            </a:r>
          </a:p>
        </p:txBody>
      </p:sp>
      <p:sp>
        <p:nvSpPr>
          <p:cNvPr id="27" name="main-result-area">
            <a:extLst xmlns:a="http://schemas.openxmlformats.org/drawingml/2006/main">
              <a:ext uri="{FF2B5EF4-FFF2-40B4-BE49-F238E27FC236}">
                <a16:creationId xmlns:a16="http://schemas.microsoft.com/office/drawing/2014/main" id="{AF352E9D-B9F1-4E49-9DC0-059C3E7F7E02}"/>
              </a:ext>
            </a:extLst>
          </p:cNvPr>
          <p:cNvSpPr>
            <a:spLocks xmlns:a="http://schemas.openxmlformats.org/drawingml/2006/main" noGrp="1"/>
          </p:cNvSpPr>
          <p:nvPr/>
        </p:nvSpPr>
        <p:spPr>
          <a:xfrm xmlns:a="http://schemas.openxmlformats.org/drawingml/2006/main">
            <a:off x="13335000" y="17621250"/>
            <a:ext cx="16134000" cy="6286500"/>
          </a:xfrm>
          <a:prstGeom xmlns:a="http://schemas.openxmlformats.org/drawingml/2006/main" prst="rect">
            <a:avLst/>
          </a:prstGeom>
          <a:solidFill xmlns:a="http://schemas.openxmlformats.org/drawingml/2006/main">
            <a:srgbClr val="F4F6F7"/>
          </a:solidFill>
          <a:ln xmlns:a="http://schemas.openxmlformats.org/drawingml/2006/main" w="19050">
            <a:solidFill>
              <a:srgbClr val="CFD5D9"/>
            </a:solidFill>
            <a:prstDash val="solid"/>
          </a:ln>
        </p:spPr>
      </p:sp>
      <p:sp>
        <p:nvSpPr>
          <p:cNvPr id="28" name="main-result-label">
            <a:extLst xmlns:a="http://schemas.openxmlformats.org/drawingml/2006/main">
              <a:ext uri="{FF2B5EF4-FFF2-40B4-BE49-F238E27FC236}">
                <a16:creationId xmlns:a16="http://schemas.microsoft.com/office/drawing/2014/main" id="{A95FDDB5-DC34-4CBB-B5F4-3B143142A5A8}"/>
              </a:ext>
            </a:extLst>
          </p:cNvPr>
          <p:cNvSpPr>
            <a:spLocks xmlns:a="http://schemas.openxmlformats.org/drawingml/2006/main" noGrp="1"/>
          </p:cNvSpPr>
          <p:nvPr/>
        </p:nvSpPr>
        <p:spPr>
          <a:xfrm xmlns:a="http://schemas.openxmlformats.org/drawingml/2006/main">
            <a:off x="13680000" y="17640000"/>
            <a:ext cx="15552000" cy="46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600" b="1">
                <a:solidFill>
                  <a:srgbClr val="003399"/>
                </a:solidFill>
                <a:latin typeface="Calibri"/>
                <a:ea typeface="Calibri"/>
                <a:cs typeface="Calibri"/>
              </a:defRPr>
            </a:pPr>
            <a:r>
              <a:rPr sz="3000" b="1">
                <a:solidFill>
                  <a:srgbClr val="003399"/>
                </a:solidFill>
                <a:latin typeface="Calibri"/>
              </a:rPr>
              <a:t>Figure 2 — private desire vs. social desirability</a:t>
            </a:r>
          </a:p>
        </p:txBody>
      </p:sp>
      <p:sp>
        <p:nvSpPr>
          <p:cNvPr id="30" name="result-caption">
            <a:extLst xmlns:a="http://schemas.openxmlformats.org/drawingml/2006/main">
              <a:ext uri="{FF2B5EF4-FFF2-40B4-BE49-F238E27FC236}">
                <a16:creationId xmlns:a16="http://schemas.microsoft.com/office/drawing/2014/main" id="{C7A388AE-9A9C-4C69-A215-69F12E632900}"/>
              </a:ext>
            </a:extLst>
          </p:cNvPr>
          <p:cNvSpPr>
            <a:spLocks xmlns:a="http://schemas.openxmlformats.org/drawingml/2006/main" noGrp="1"/>
          </p:cNvSpPr>
          <p:nvPr/>
        </p:nvSpPr>
        <p:spPr>
          <a:xfrm xmlns:a="http://schemas.openxmlformats.org/drawingml/2006/main">
            <a:off x="13335000" y="24241125"/>
            <a:ext cx="161340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075" b="0">
                <a:solidFill>
                  <a:srgbClr val="212A33"/>
                </a:solidFill>
                <a:latin typeface="Calibri"/>
                <a:ea typeface="Calibri"/>
                <a:cs typeface="Calibri"/>
              </a:defRPr>
            </a:pPr>
            <a:r>
              <a:rPr sz="2000" b="1">
                <a:solidFill>
                  <a:srgbClr val="212A33"/>
                </a:solidFill>
                <a:latin typeface="Calibri"/>
              </a:rPr>
              <a:t>Figure 2.  </a:t>
            </a:r>
            <a:r>
              <a:rPr sz="2000" b="0">
                <a:solidFill>
                  <a:srgbClr val="212A33"/>
                </a:solidFill>
                <a:latin typeface="Calibri"/>
              </a:rPr>
              <a:t>The private order (①&gt; ③&gt; ②&gt; ④) and the social order (④&gt; ②&gt; ③&gt; ①) are exact mirror images: the developer's favourite is society's least wanted. The private order holds while π + L &gt; C</a:t>
            </a:r>
            <a:r>
              <a:rPr baseline="-25000" sz="2000" b="0">
                <a:solidFill>
                  <a:srgbClr val="212A33"/>
                </a:solidFill>
                <a:latin typeface="Calibri"/>
              </a:rPr>
              <a:t>n</a:t>
            </a:r>
            <a:r>
              <a:rPr sz="2000" b="0">
                <a:solidFill>
                  <a:srgbClr val="212A33"/>
                </a:solidFill>
                <a:latin typeface="Calibri"/>
              </a:rPr>
              <a:t> − C</a:t>
            </a:r>
            <a:r>
              <a:rPr baseline="-25000" sz="2000" b="0">
                <a:solidFill>
                  <a:srgbClr val="212A33"/>
                </a:solidFill>
                <a:latin typeface="Calibri"/>
              </a:rPr>
              <a:t>d</a:t>
            </a:r>
            <a:r>
              <a:rPr sz="2000" b="0">
                <a:solidFill>
                  <a:srgbClr val="212A33"/>
                </a:solidFill>
                <a:latin typeface="Calibri"/>
              </a:rPr>
              <a:t> — what secrecy keeps, plus what disclosure loses, must outweigh the extra cost of innovating.</a:t>
            </a:r>
          </a:p>
          <a:p xmlns:a="http://schemas.openxmlformats.org/drawingml/2006/main">
            <a:pPr algn="l">
              <a:lnSpc>
                <a:spcPct val="100000"/>
              </a:lnSpc>
              <a:spcBef>
                <a:spcPts val="0"/>
              </a:spcBef>
              <a:spcAft>
                <a:spcPts val="600"/>
              </a:spcAft>
              <a:defRPr sz="3075" b="0">
                <a:solidFill>
                  <a:srgbClr val="212A33"/>
                </a:solidFill>
                <a:latin typeface="Calibri"/>
                <a:ea typeface="Calibri"/>
                <a:cs typeface="Calibri"/>
              </a:defRPr>
            </a:pPr>
            <a:r>
              <a:rPr sz="2000" b="1">
                <a:solidFill>
                  <a:srgbClr val="212A33"/>
                </a:solidFill>
                <a:latin typeface="Calibri"/>
              </a:rPr>
              <a:t>Interpretation.  </a:t>
            </a:r>
            <a:r>
              <a:rPr sz="2000" b="0">
                <a:solidFill>
                  <a:srgbClr val="212A33"/>
                </a:solidFill>
                <a:latin typeface="Calibri"/>
              </a:rPr>
              <a:t>A prize too small buys no disclosure; one that pays for openness but not for cost buys copies, not capability; only a prize covering both keeps a live source.</a:t>
            </a:r>
          </a:p>
          <a:p xmlns:a="http://schemas.openxmlformats.org/drawingml/2006/main">
            <a:pPr algn="l">
              <a:lnSpc>
                <a:spcPct val="100000"/>
              </a:lnSpc>
              <a:spcBef>
                <a:spcPts val="0"/>
              </a:spcBef>
              <a:spcAft>
                <a:spcPts val="600"/>
              </a:spcAft>
              <a:defRPr sz="3075" b="0">
                <a:solidFill>
                  <a:srgbClr val="212A33"/>
                </a:solidFill>
                <a:latin typeface="Calibri"/>
                <a:ea typeface="Calibri"/>
                <a:cs typeface="Calibri"/>
              </a:defRPr>
            </a:pPr>
            <a:r>
              <a:rPr sz="2000" b="1">
                <a:solidFill>
                  <a:srgbClr val="212A33"/>
                </a:solidFill>
                <a:latin typeface="Calibri"/>
              </a:rPr>
              <a:t>Verification.  </a:t>
            </a:r>
            <a:r>
              <a:rPr sz="2000" b="0">
                <a:solidFill>
                  <a:srgbClr val="212A33"/>
                </a:solidFill>
                <a:latin typeface="Calibri"/>
              </a:rPr>
              <a:t>Cells and states are recomputed from scratch in the checker, independently of the symbolic derivation; an interactive page lets a reader move the parameters and watch the winning cell flip.</a:t>
            </a:r>
          </a:p>
          <a:p xmlns:a="http://schemas.openxmlformats.org/drawingml/2006/main">
            <a:pPr algn="l">
              <a:lnSpc>
                <a:spcPct val="100000"/>
              </a:lnSpc>
              <a:spcBef>
                <a:spcPts val="0"/>
              </a:spcBef>
              <a:spcAft>
                <a:spcPts val="600"/>
              </a:spcAft>
              <a:defRPr sz="3075" b="0">
                <a:solidFill>
                  <a:srgbClr val="212A33"/>
                </a:solidFill>
                <a:latin typeface="Calibri"/>
                <a:ea typeface="Calibri"/>
                <a:cs typeface="Calibri"/>
              </a:defRPr>
            </a:pPr>
            <a:r>
              <a:rPr sz="2000" b="1">
                <a:solidFill>
                  <a:srgbClr val="212A33"/>
                </a:solidFill>
                <a:latin typeface="Calibri"/>
              </a:rPr>
              <a:t>Runs.  </a:t>
            </a:r>
            <a:r>
              <a:rPr sz="2000" b="0">
                <a:solidFill>
                  <a:srgbClr val="212A33"/>
                </a:solidFill>
                <a:latin typeface="Calibri"/>
              </a:rPr>
              <a:t>Paying for openness alone fills the market with imitation and dries up the sources; paying per unit of compute turns it back to original release (sources: 0.04 → 0.95); capping the prize undoes that, and with the future-share motive opening pays only for m ∈ (0.101, 1.519). Fresh run: seed 206. Copying a copy adds no capability, so mutual imitation burns compute while capability decays — yet some imitation is still efficient, because it stops every firm from re-deriving the same result. Parameters are illustrative, not estimated.</a:t>
            </a:r>
          </a:p>
        </p:txBody>
      </p:sp>
      <p:sp>
        <p:nvSpPr>
          <p:cNvPr id="31" name="impact-title">
            <a:extLst xmlns:a="http://schemas.openxmlformats.org/drawingml/2006/main">
              <a:ext uri="{FF2B5EF4-FFF2-40B4-BE49-F238E27FC236}">
                <a16:creationId xmlns:a16="http://schemas.microsoft.com/office/drawing/2014/main" id="{7974BDE9-47C8-4976-9EB0-1D99D2AD436D}"/>
              </a:ext>
            </a:extLst>
          </p:cNvPr>
          <p:cNvSpPr>
            <a:spLocks xmlns:a="http://schemas.openxmlformats.org/drawingml/2006/main" noGrp="1"/>
          </p:cNvSpPr>
          <p:nvPr/>
        </p:nvSpPr>
        <p:spPr>
          <a:xfrm xmlns:a="http://schemas.openxmlformats.org/drawingml/2006/main">
            <a:off x="30421500" y="9525000"/>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4650" b="1">
                <a:solidFill>
                  <a:srgbClr val="003399"/>
                </a:solidFill>
                <a:latin typeface="Calibri"/>
                <a:ea typeface="Calibri"/>
                <a:cs typeface="Calibri"/>
              </a:defRPr>
            </a:pPr>
            <a:r>
              <a:rPr sz="4650" b="1">
                <a:solidFill>
                  <a:srgbClr val="003399"/>
                </a:solidFill>
                <a:latin typeface="Calibri"/>
              </a:rPr>
              <a:t>03   Impact &amp; dialogue</a:t>
            </a:r>
          </a:p>
        </p:txBody>
      </p:sp>
      <p:sp>
        <p:nvSpPr>
          <p:cNvPr id="32" name="impact-title-rule">
            <a:extLst xmlns:a="http://schemas.openxmlformats.org/drawingml/2006/main">
              <a:ext uri="{FF2B5EF4-FFF2-40B4-BE49-F238E27FC236}">
                <a16:creationId xmlns:a16="http://schemas.microsoft.com/office/drawing/2014/main" id="{92EF0681-32CB-4E92-B477-91FDD7DB084E}"/>
              </a:ext>
            </a:extLst>
          </p:cNvPr>
          <p:cNvSpPr>
            <a:spLocks xmlns:a="http://schemas.openxmlformats.org/drawingml/2006/main" noGrp="1"/>
          </p:cNvSpPr>
          <p:nvPr/>
        </p:nvSpPr>
        <p:spPr>
          <a:xfrm xmlns:a="http://schemas.openxmlformats.org/drawingml/2006/main">
            <a:off x="30421500" y="10506075"/>
            <a:ext cx="11049000"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33" name="real-world-heading">
            <a:extLst xmlns:a="http://schemas.openxmlformats.org/drawingml/2006/main">
              <a:ext uri="{FF2B5EF4-FFF2-40B4-BE49-F238E27FC236}">
                <a16:creationId xmlns:a16="http://schemas.microsoft.com/office/drawing/2014/main" id="{8D7A544D-17E0-43AC-A769-0DC992E2E072}"/>
              </a:ext>
            </a:extLst>
          </p:cNvPr>
          <p:cNvSpPr>
            <a:spLocks xmlns:a="http://schemas.openxmlformats.org/drawingml/2006/main" noGrp="1"/>
          </p:cNvSpPr>
          <p:nvPr/>
        </p:nvSpPr>
        <p:spPr>
          <a:xfrm xmlns:a="http://schemas.openxmlformats.org/drawingml/2006/main">
            <a:off x="30421500" y="11144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Practical impact: a real-world case</a:t>
            </a:r>
          </a:p>
        </p:txBody>
      </p:sp>
      <p:sp>
        <p:nvSpPr>
          <p:cNvPr id="34" name="real-world">
            <a:extLst xmlns:a="http://schemas.openxmlformats.org/drawingml/2006/main">
              <a:ext uri="{FF2B5EF4-FFF2-40B4-BE49-F238E27FC236}">
                <a16:creationId xmlns:a16="http://schemas.microsoft.com/office/drawing/2014/main" id="{2199F087-3016-48E4-80F0-4F875A71FCDD}"/>
              </a:ext>
            </a:extLst>
          </p:cNvPr>
          <p:cNvSpPr>
            <a:spLocks xmlns:a="http://schemas.openxmlformats.org/drawingml/2006/main" noGrp="1"/>
          </p:cNvSpPr>
          <p:nvPr/>
        </p:nvSpPr>
        <p:spPr>
          <a:xfrm xmlns:a="http://schemas.openxmlformats.org/drawingml/2006/main">
            <a:off x="30421500" y="11906250"/>
            <a:ext cx="11049000" cy="3571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120" b="1">
                <a:solidFill>
                  <a:srgbClr val="212A33"/>
                </a:solidFill>
                <a:latin typeface="Calibri"/>
              </a:rPr>
              <a:t>Case  </a:t>
            </a:r>
            <a:r>
              <a:rPr sz="2120" b="0">
                <a:solidFill>
                  <a:srgbClr val="212A33"/>
                </a:solidFill>
                <a:latin typeface="Calibri"/>
              </a:rPr>
              <a:t>an agency that pays for open-weight models, such as a national compute subsidy, without asking whether the model was trained or copied.</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120" b="1">
                <a:solidFill>
                  <a:srgbClr val="212A33"/>
                </a:solidFill>
                <a:latin typeface="Calibri"/>
              </a:rPr>
              <a:t>Decision informed  </a:t>
            </a:r>
            <a:r>
              <a:rPr sz="2120" b="0">
                <a:solidFill>
                  <a:srgbClr val="212A33"/>
                </a:solidFill>
                <a:latin typeface="Calibri"/>
              </a:rPr>
              <a:t>index the payment to training compute, not to openness: openness alone is cheap to satisfy by imitating.</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120" b="1">
                <a:solidFill>
                  <a:srgbClr val="212A33"/>
                </a:solidFill>
                <a:latin typeface="Calibri"/>
              </a:rPr>
              <a:t>Who gains, who bears risk  </a:t>
            </a:r>
            <a:r>
              <a:rPr sz="2120" b="0">
                <a:solidFill>
                  <a:srgbClr val="212A33"/>
                </a:solidFill>
                <a:latin typeface="Calibri"/>
              </a:rPr>
              <a:t>innovators gain; imitators lose a payment they never earned; users gain a live source instead of a copy of a copy.</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120" b="1">
                <a:solidFill>
                  <a:srgbClr val="212A33"/>
                </a:solidFill>
                <a:latin typeface="Calibri"/>
              </a:rPr>
              <a:t>Feasibility  </a:t>
            </a:r>
            <a:r>
              <a:rPr sz="2120" b="0">
                <a:solidFill>
                  <a:srgbClr val="212A33"/>
                </a:solidFill>
                <a:latin typeface="Calibri"/>
              </a:rPr>
              <a:t>training compute is auditable from training records.</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120" b="1">
                <a:solidFill>
                  <a:srgbClr val="212A33"/>
                </a:solidFill>
                <a:latin typeface="Calibri"/>
              </a:rPr>
              <a:t>Challenge route  </a:t>
            </a:r>
            <a:r>
              <a:rPr sz="2120" b="0">
                <a:solidFill>
                  <a:srgbClr val="212A33"/>
                </a:solidFill>
                <a:latin typeface="Calibri"/>
              </a:rPr>
              <a:t>compute is a contested proxy for capability; the prize rate is a political choice.</a:t>
            </a:r>
          </a:p>
        </p:txBody>
      </p:sp>
      <p:sp>
        <p:nvSpPr>
          <p:cNvPr id="35" name="interdisciplinary-heading">
            <a:extLst xmlns:a="http://schemas.openxmlformats.org/drawingml/2006/main">
              <a:ext uri="{FF2B5EF4-FFF2-40B4-BE49-F238E27FC236}">
                <a16:creationId xmlns:a16="http://schemas.microsoft.com/office/drawing/2014/main" id="{1E996ED0-A32A-4617-8E65-E6ED026E62D8}"/>
              </a:ext>
            </a:extLst>
          </p:cNvPr>
          <p:cNvSpPr>
            <a:spLocks xmlns:a="http://schemas.openxmlformats.org/drawingml/2006/main" noGrp="1"/>
          </p:cNvSpPr>
          <p:nvPr/>
        </p:nvSpPr>
        <p:spPr>
          <a:xfrm xmlns:a="http://schemas.openxmlformats.org/drawingml/2006/main">
            <a:off x="30421500" y="1581150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Interdisciplinary evidence</a:t>
            </a:r>
          </a:p>
        </p:txBody>
      </p:sp>
      <p:sp>
        <p:nvSpPr>
          <p:cNvPr id="36" name="interdisciplinary">
            <a:extLst xmlns:a="http://schemas.openxmlformats.org/drawingml/2006/main">
              <a:ext uri="{FF2B5EF4-FFF2-40B4-BE49-F238E27FC236}">
                <a16:creationId xmlns:a16="http://schemas.microsoft.com/office/drawing/2014/main" id="{91D1D813-AECB-4965-9667-285D2DDCB3E4}"/>
              </a:ext>
            </a:extLst>
          </p:cNvPr>
          <p:cNvSpPr>
            <a:spLocks xmlns:a="http://schemas.openxmlformats.org/drawingml/2006/main" noGrp="1"/>
          </p:cNvSpPr>
          <p:nvPr/>
        </p:nvSpPr>
        <p:spPr>
          <a:xfrm xmlns:a="http://schemas.openxmlformats.org/drawingml/2006/main">
            <a:off x="30421500" y="16573500"/>
            <a:ext cx="11049000" cy="523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Economics — mechanism design  </a:t>
            </a:r>
            <a:r>
              <a:rPr sz="2200" b="0">
                <a:solidFill>
                  <a:srgbClr val="212A33"/>
                </a:solidFill>
                <a:latin typeface="Calibri"/>
              </a:rPr>
              <a:t>the rank reversal shows the market cannot self-select openness plus innovation, so a per-unit prize restores the incentive (Nalebuff &amp; Stiglitz 1983).</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Computer science — machine learning  </a:t>
            </a:r>
            <a:r>
              <a:rPr sz="2200" b="0">
                <a:solidFill>
                  <a:srgbClr val="212A33"/>
                </a:solidFill>
                <a:latin typeface="Calibri"/>
              </a:rPr>
              <a:t>imitation is a standard, low-cost technique, so openness is cheap to fake, while training compute is measurable and can serve as the index. Copying is cheap but never free, so imitation still belongs in an efficient mix.</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Boundary on the claim  </a:t>
            </a:r>
            <a:r>
              <a:rPr sz="2200" b="0">
                <a:solidFill>
                  <a:srgbClr val="212A33"/>
                </a:solidFill>
                <a:latin typeface="Calibri"/>
              </a:rPr>
              <a:t>one representative developer; compute treated as verifiable; no multi-firm race.</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Integration  </a:t>
            </a:r>
            <a:r>
              <a:rPr sz="2200" b="0">
                <a:solidFill>
                  <a:srgbClr val="212A33"/>
                </a:solidFill>
                <a:latin typeface="Calibri"/>
              </a:rPr>
              <a:t>cheap copying breaks the economics; measurable compute repairs it.</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Artifacts  </a:t>
            </a:r>
            <a:r>
              <a:rPr sz="2200" b="0">
                <a:solidFill>
                  <a:srgbClr val="212A33"/>
                </a:solidFill>
                <a:latin typeface="Calibri"/>
              </a:rPr>
              <a:t>the symbolic derivation, a zero-dependency recheck, an interactive game, the repository.</a:t>
            </a:r>
          </a:p>
        </p:txBody>
      </p:sp>
      <p:sp>
        <p:nvSpPr>
          <p:cNvPr id="37" name="limits-heading">
            <a:extLst xmlns:a="http://schemas.openxmlformats.org/drawingml/2006/main">
              <a:ext uri="{FF2B5EF4-FFF2-40B4-BE49-F238E27FC236}">
                <a16:creationId xmlns:a16="http://schemas.microsoft.com/office/drawing/2014/main" id="{68ADFBED-634F-4EFD-A437-EF921500A3B3}"/>
              </a:ext>
            </a:extLst>
          </p:cNvPr>
          <p:cNvSpPr>
            <a:spLocks xmlns:a="http://schemas.openxmlformats.org/drawingml/2006/main" noGrp="1"/>
          </p:cNvSpPr>
          <p:nvPr/>
        </p:nvSpPr>
        <p:spPr>
          <a:xfrm xmlns:a="http://schemas.openxmlformats.org/drawingml/2006/main">
            <a:off x="30421500" y="22193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Limitations &amp; next test</a:t>
            </a:r>
          </a:p>
        </p:txBody>
      </p:sp>
      <p:sp>
        <p:nvSpPr>
          <p:cNvPr id="38" name="limits">
            <a:extLst xmlns:a="http://schemas.openxmlformats.org/drawingml/2006/main">
              <a:ext uri="{FF2B5EF4-FFF2-40B4-BE49-F238E27FC236}">
                <a16:creationId xmlns:a16="http://schemas.microsoft.com/office/drawing/2014/main" id="{B297720D-E873-4F17-88AF-AF30E5F69FD6}"/>
              </a:ext>
            </a:extLst>
          </p:cNvPr>
          <p:cNvSpPr>
            <a:spLocks xmlns:a="http://schemas.openxmlformats.org/drawingml/2006/main" noGrp="1"/>
          </p:cNvSpPr>
          <p:nvPr/>
        </p:nvSpPr>
        <p:spPr>
          <a:xfrm xmlns:a="http://schemas.openxmlformats.org/drawingml/2006/main">
            <a:off x="30421500" y="22955250"/>
            <a:ext cx="1104900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Main limitation  </a:t>
            </a:r>
            <a:r>
              <a:rPr sz="2200" b="0">
                <a:solidFill>
                  <a:srgbClr val="212A33"/>
                </a:solidFill>
                <a:latin typeface="Calibri"/>
              </a:rPr>
              <a:t>single-firm and static: it shows where the market settles, not how fast.</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Next test  </a:t>
            </a:r>
            <a:r>
              <a:rPr sz="2200" b="0">
                <a:solidFill>
                  <a:srgbClr val="212A33"/>
                </a:solidFill>
                <a:latin typeface="Calibri"/>
              </a:rPr>
              <a:t>add a rival and a cost of detecting imitation, and check whether open innovation survives when training compute must be measured imperfectly.</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Question for reviewers  </a:t>
            </a:r>
            <a:r>
              <a:rPr sz="2200" b="0">
                <a:solidFill>
                  <a:srgbClr val="212A33"/>
                </a:solidFill>
                <a:latin typeface="Calibri"/>
              </a:rPr>
              <a:t>if reported compute can be inflated, does the per-unit prize collapse back into all-imitation?</a:t>
            </a:r>
          </a:p>
        </p:txBody>
      </p:sp>
      <p:sp>
        <p:nvSpPr>
          <p:cNvPr id="39" name="dates">
            <a:extLst xmlns:a="http://schemas.openxmlformats.org/drawingml/2006/main">
              <a:ext uri="{FF2B5EF4-FFF2-40B4-BE49-F238E27FC236}">
                <a16:creationId xmlns:a16="http://schemas.microsoft.com/office/drawing/2014/main" id="{EA157D18-CC9B-4A0B-91A5-3BE26B8F384A}"/>
              </a:ext>
            </a:extLst>
          </p:cNvPr>
          <p:cNvSpPr>
            <a:spLocks xmlns:a="http://schemas.openxmlformats.org/drawingml/2006/main" noGrp="1"/>
          </p:cNvSpPr>
          <p:nvPr/>
        </p:nvSpPr>
        <p:spPr>
          <a:xfrm xmlns:a="http://schemas.openxmlformats.org/drawingml/2006/main">
            <a:off x="30421500" y="25812750"/>
            <a:ext cx="1104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300"/>
              </a:spcAft>
              <a:defRPr sz="2550" b="1">
                <a:solidFill>
                  <a:srgbClr val="006633"/>
                </a:solidFill>
                <a:latin typeface="Calibri"/>
                <a:ea typeface="Calibri"/>
                <a:cs typeface="Calibri"/>
              </a:defRPr>
            </a:pPr>
            <a:r>
              <a:rPr sz="2550" b="1">
                <a:solidFill>
                  <a:srgbClr val="006633"/>
                </a:solidFill>
                <a:latin typeface="Calibri"/>
              </a:rPr>
              <a:t>SEP 28  Symposium, peer evaluation &amp; case impact</a:t>
            </a:r>
          </a:p>
          <a:p xmlns:a="http://schemas.openxmlformats.org/drawingml/2006/main">
            <a:pPr algn="l">
              <a:lnSpc>
                <a:spcPct val="100000"/>
              </a:lnSpc>
              <a:spcBef>
                <a:spcPts val="0"/>
              </a:spcBef>
              <a:spcAft>
                <a:spcPts val="300"/>
              </a:spcAft>
            </a:pPr>
            <a:r>
              <a:rPr sz="2550" b="1">
                <a:solidFill>
                  <a:srgbClr val="006633"/>
                </a:solidFill>
                <a:latin typeface="Calibri"/>
              </a:rPr>
              <a:t>SEP 30  Final update</a:t>
            </a:r>
          </a:p>
        </p:txBody>
      </p:sp>
      <p:sp>
        <p:nvSpPr>
          <p:cNvPr id="40" name="footer-rule">
            <a:extLst xmlns:a="http://schemas.openxmlformats.org/drawingml/2006/main">
              <a:ext uri="{FF2B5EF4-FFF2-40B4-BE49-F238E27FC236}">
                <a16:creationId xmlns:a16="http://schemas.microsoft.com/office/drawing/2014/main" id="{24CE48EC-E121-4C2A-81BE-8C70F6F42833}"/>
              </a:ext>
            </a:extLst>
          </p:cNvPr>
          <p:cNvSpPr>
            <a:spLocks xmlns:a="http://schemas.openxmlformats.org/drawingml/2006/main" noGrp="1"/>
          </p:cNvSpPr>
          <p:nvPr/>
        </p:nvSpPr>
        <p:spPr>
          <a:xfrm xmlns:a="http://schemas.openxmlformats.org/drawingml/2006/main">
            <a:off x="1333500" y="27527250"/>
            <a:ext cx="40137000"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41" name="ack-heading">
            <a:extLst xmlns:a="http://schemas.openxmlformats.org/drawingml/2006/main">
              <a:ext uri="{FF2B5EF4-FFF2-40B4-BE49-F238E27FC236}">
                <a16:creationId xmlns:a16="http://schemas.microsoft.com/office/drawing/2014/main" id="{CC1B0A45-EEBC-4636-8C8B-F880435533DE}"/>
              </a:ext>
            </a:extLst>
          </p:cNvPr>
          <p:cNvSpPr>
            <a:spLocks xmlns:a="http://schemas.openxmlformats.org/drawingml/2006/main" noGrp="1"/>
          </p:cNvSpPr>
          <p:nvPr/>
        </p:nvSpPr>
        <p:spPr>
          <a:xfrm xmlns:a="http://schemas.openxmlformats.org/drawingml/2006/main">
            <a:off x="1333500" y="2781300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3375" b="1">
                <a:solidFill>
                  <a:srgbClr val="003399"/>
                </a:solidFill>
                <a:latin typeface="Calibri"/>
                <a:ea typeface="Calibri"/>
                <a:cs typeface="Calibri"/>
              </a:defRPr>
            </a:pPr>
            <a:r>
              <a:rPr sz="3375" b="1">
                <a:solidFill>
                  <a:srgbClr val="003399"/>
                </a:solidFill>
                <a:latin typeface="Calibri"/>
                <a:ea typeface="Calibri"/>
                <a:cs typeface="Calibri"/>
              </a:rPr>
              <a:t>Acknowledgments</a:t>
            </a:r>
          </a:p>
        </p:txBody>
      </p:sp>
      <p:sp>
        <p:nvSpPr>
          <p:cNvPr id="42" name="ack">
            <a:extLst xmlns:a="http://schemas.openxmlformats.org/drawingml/2006/main">
              <a:ext uri="{FF2B5EF4-FFF2-40B4-BE49-F238E27FC236}">
                <a16:creationId xmlns:a16="http://schemas.microsoft.com/office/drawing/2014/main" id="{1C589FA2-42B8-4C7A-9C87-A446B7866781}"/>
              </a:ext>
            </a:extLst>
          </p:cNvPr>
          <p:cNvSpPr>
            <a:spLocks xmlns:a="http://schemas.openxmlformats.org/drawingml/2006/main" noGrp="1"/>
          </p:cNvSpPr>
          <p:nvPr/>
        </p:nvSpPr>
        <p:spPr>
          <a:xfrm xmlns:a="http://schemas.openxmlformats.org/drawingml/2006/main">
            <a:off x="1333500" y="28479750"/>
            <a:ext cx="110490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2400" b="0">
                <a:solidFill>
                  <a:srgbClr val="212A33"/>
                </a:solidFill>
                <a:latin typeface="Calibri"/>
                <a:ea typeface="Calibri"/>
                <a:cs typeface="Calibri"/>
              </a:defRPr>
            </a:pPr>
            <a:r>
              <a:rPr sz="1900" b="0">
                <a:solidFill>
                  <a:srgbClr val="212A33"/>
                </a:solidFill>
                <a:latin typeface="Calibri"/>
              </a:rPr>
              <a:t>Thanks to Professor Luyao Zhang and the COMSCI / ECON 206 teaching team, and to our PS2 reviewers. All modelling choices and claims are the authors' own. </a:t>
            </a:r>
            <a:r>
              <a:rPr sz="1900" b="1">
                <a:solidFill>
                  <a:srgbClr val="212A33"/>
                </a:solidFill>
                <a:latin typeface="Calibri"/>
              </a:rPr>
              <a:t>AI assistance:  </a:t>
            </a:r>
            <a:r>
              <a:rPr sz="1900" b="0">
                <a:solidFill>
                  <a:srgbClr val="212A33"/>
                </a:solidFill>
                <a:latin typeface="Calibri"/>
              </a:rPr>
              <a:t>DeepSeek Harness was used for literature verification and layout; every cited source was resolved live.</a:t>
            </a:r>
          </a:p>
        </p:txBody>
      </p:sp>
      <p:sp>
        <p:nvSpPr>
          <p:cNvPr id="43" name="references-heading">
            <a:extLst xmlns:a="http://schemas.openxmlformats.org/drawingml/2006/main">
              <a:ext uri="{FF2B5EF4-FFF2-40B4-BE49-F238E27FC236}">
                <a16:creationId xmlns:a16="http://schemas.microsoft.com/office/drawing/2014/main" id="{E7EA3AAE-744F-4F03-A737-D3056A093795}"/>
              </a:ext>
            </a:extLst>
          </p:cNvPr>
          <p:cNvSpPr>
            <a:spLocks xmlns:a="http://schemas.openxmlformats.org/drawingml/2006/main" noGrp="1"/>
          </p:cNvSpPr>
          <p:nvPr/>
        </p:nvSpPr>
        <p:spPr>
          <a:xfrm xmlns:a="http://schemas.openxmlformats.org/drawingml/2006/main">
            <a:off x="13335000" y="27813000"/>
            <a:ext cx="1419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3375" b="1">
                <a:solidFill>
                  <a:srgbClr val="003399"/>
                </a:solidFill>
                <a:latin typeface="Calibri"/>
                <a:ea typeface="Calibri"/>
                <a:cs typeface="Calibri"/>
              </a:defRPr>
            </a:pPr>
            <a:r>
              <a:rPr sz="3375" b="1">
                <a:solidFill>
                  <a:srgbClr val="003399"/>
                </a:solidFill>
                <a:latin typeface="Calibri"/>
                <a:ea typeface="Calibri"/>
                <a:cs typeface="Calibri"/>
              </a:rPr>
              <a:t>Selected references</a:t>
            </a:r>
          </a:p>
        </p:txBody>
      </p:sp>
      <p:sp>
        <p:nvSpPr>
          <p:cNvPr id="44" name="references">
            <a:extLst xmlns:a="http://schemas.openxmlformats.org/drawingml/2006/main">
              <a:ext uri="{FF2B5EF4-FFF2-40B4-BE49-F238E27FC236}">
                <a16:creationId xmlns:a16="http://schemas.microsoft.com/office/drawing/2014/main" id="{0ECEF328-5F03-4179-A929-2458DB1F400F}"/>
              </a:ext>
            </a:extLst>
          </p:cNvPr>
          <p:cNvSpPr>
            <a:spLocks xmlns:a="http://schemas.openxmlformats.org/drawingml/2006/main" noGrp="1"/>
          </p:cNvSpPr>
          <p:nvPr/>
        </p:nvSpPr>
        <p:spPr>
          <a:xfrm xmlns:a="http://schemas.openxmlformats.org/drawingml/2006/main">
            <a:off x="13335120" y="28479600"/>
            <a:ext cx="16704000" cy="1285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98000"/>
              </a:lnSpc>
              <a:spcBef>
                <a:spcPts val="0"/>
              </a:spcBef>
              <a:spcAft>
                <a:spcPts val="200"/>
              </a:spcAft>
              <a:defRPr sz="2400" b="0">
                <a:solidFill>
                  <a:srgbClr val="212A33"/>
                </a:solidFill>
                <a:latin typeface="Calibri"/>
                <a:ea typeface="Calibri"/>
                <a:cs typeface="Calibri"/>
              </a:defRPr>
            </a:pPr>
            <a:r>
              <a:rPr sz="1400" b="1">
                <a:solidFill>
                  <a:srgbClr val="212A33"/>
                </a:solidFill>
                <a:latin typeface="Calibri"/>
              </a:rPr>
              <a:t>[1] </a:t>
            </a:r>
            <a:r>
              <a:rPr sz="1400" b="0">
                <a:solidFill>
                  <a:srgbClr val="212A33"/>
                </a:solidFill>
                <a:latin typeface="Calibri"/>
              </a:rPr>
              <a:t>Habibi, M. (2025). Open Sourcing GPTs: Economics of Open Sourcing Advanced AI Models. arXiv:2501.11581</a:t>
            </a:r>
          </a:p>
          <a:p xmlns:a="http://schemas.openxmlformats.org/drawingml/2006/main">
            <a:pPr algn="l">
              <a:lnSpc>
                <a:spcPct val="98000"/>
              </a:lnSpc>
              <a:spcBef>
                <a:spcPts val="0"/>
              </a:spcBef>
              <a:spcAft>
                <a:spcPts val="200"/>
              </a:spcAft>
              <a:defRPr sz="2400" b="0">
                <a:solidFill>
                  <a:srgbClr val="212A33"/>
                </a:solidFill>
                <a:latin typeface="Calibri"/>
                <a:ea typeface="Calibri"/>
                <a:cs typeface="Calibri"/>
              </a:defRPr>
            </a:pPr>
            <a:r>
              <a:rPr sz="1400" b="1">
                <a:solidFill>
                  <a:srgbClr val="212A33"/>
                </a:solidFill>
                <a:latin typeface="Calibri"/>
              </a:rPr>
              <a:t>[2] </a:t>
            </a:r>
            <a:r>
              <a:rPr sz="1400" b="0">
                <a:solidFill>
                  <a:srgbClr val="212A33"/>
                </a:solidFill>
                <a:latin typeface="Calibri"/>
              </a:rPr>
              <a:t>Xu, F., Wang, X., Chen, W. &amp; Xie, K. (2025). The Economics of AI Foundation Models: Openness, Competition, and Governance. arXiv:2510.15200</a:t>
            </a:r>
          </a:p>
          <a:p xmlns:a="http://schemas.openxmlformats.org/drawingml/2006/main">
            <a:pPr algn="l">
              <a:lnSpc>
                <a:spcPct val="98000"/>
              </a:lnSpc>
              <a:spcBef>
                <a:spcPts val="0"/>
              </a:spcBef>
              <a:spcAft>
                <a:spcPts val="200"/>
              </a:spcAft>
              <a:defRPr sz="2400" b="0">
                <a:solidFill>
                  <a:srgbClr val="212A33"/>
                </a:solidFill>
                <a:latin typeface="Calibri"/>
                <a:ea typeface="Calibri"/>
                <a:cs typeface="Calibri"/>
              </a:defRPr>
            </a:pPr>
            <a:r>
              <a:rPr sz="1400" b="1">
                <a:solidFill>
                  <a:srgbClr val="212A33"/>
                </a:solidFill>
                <a:latin typeface="Calibri"/>
              </a:rPr>
              <a:t>[3] </a:t>
            </a:r>
            <a:r>
              <a:rPr sz="1400" b="0">
                <a:solidFill>
                  <a:srgbClr val="212A33"/>
                </a:solidFill>
                <a:latin typeface="Calibri"/>
              </a:rPr>
              <a:t>Nalebuff, B. &amp; Stiglitz, J. (1983). Prizes and Incentives: Towards a General Theory of Compensation and Competition. Bell Journal of Economics 14(1), 21–43.</a:t>
            </a:r>
          </a:p>
          <a:p xmlns:a="http://schemas.openxmlformats.org/drawingml/2006/main">
            <a:pPr algn="l">
              <a:lnSpc>
                <a:spcPct val="98000"/>
              </a:lnSpc>
              <a:spcBef>
                <a:spcPts val="0"/>
              </a:spcBef>
              <a:spcAft>
                <a:spcPts val="200"/>
              </a:spcAft>
              <a:defRPr sz="2400" b="0">
                <a:solidFill>
                  <a:srgbClr val="212A33"/>
                </a:solidFill>
                <a:latin typeface="Calibri"/>
                <a:ea typeface="Calibri"/>
                <a:cs typeface="Calibri"/>
              </a:defRPr>
            </a:pPr>
            <a:r>
              <a:rPr sz="1400" b="1">
                <a:solidFill>
                  <a:srgbClr val="212A33"/>
                </a:solidFill>
                <a:latin typeface="Calibri"/>
              </a:rPr>
              <a:t>[4] </a:t>
            </a:r>
            <a:r>
              <a:rPr sz="1400" b="0">
                <a:solidFill>
                  <a:srgbClr val="212A33"/>
                </a:solidFill>
                <a:latin typeface="Calibri"/>
              </a:rPr>
              <a:t>Baye, M. R., Kovenock, D. &amp; de Vries, C. G. (1996). The All-Pay Auction with Complete Information. Economic Theory 8(2), 291–305.</a:t>
            </a:r>
          </a:p>
          <a:p xmlns:a="http://schemas.openxmlformats.org/drawingml/2006/main">
            <a:pPr algn="l">
              <a:lnSpc>
                <a:spcPct val="98000"/>
              </a:lnSpc>
              <a:spcBef>
                <a:spcPts val="0"/>
              </a:spcBef>
              <a:spcAft>
                <a:spcPts val="200"/>
              </a:spcAft>
              <a:defRPr sz="2400" b="0">
                <a:solidFill>
                  <a:srgbClr val="212A33"/>
                </a:solidFill>
                <a:latin typeface="Calibri"/>
                <a:ea typeface="Calibri"/>
                <a:cs typeface="Calibri"/>
              </a:defRPr>
            </a:pPr>
            <a:r>
              <a:rPr sz="1400" b="1">
                <a:solidFill>
                  <a:srgbClr val="212A33"/>
                </a:solidFill>
                <a:latin typeface="Calibri"/>
              </a:rPr>
              <a:t>[5] </a:t>
            </a:r>
            <a:r>
              <a:rPr sz="1400" b="0">
                <a:solidFill>
                  <a:srgbClr val="212A33"/>
                </a:solidFill>
                <a:latin typeface="Calibri"/>
              </a:rPr>
              <a:t>Qiu, T., Laufer, B., Kleinberg, J. &amp; Heidari, H. (2025). Modeling the Economic Impacts of AI Openness Regulation. NeurIPS 2025.</a:t>
            </a:r>
          </a:p>
        </p:txBody>
      </p:sp>
      <p:sp>
        <p:nvSpPr>
          <p:cNvPr id="45" name="access-heading">
            <a:extLst xmlns:a="http://schemas.openxmlformats.org/drawingml/2006/main">
              <a:ext uri="{FF2B5EF4-FFF2-40B4-BE49-F238E27FC236}">
                <a16:creationId xmlns:a16="http://schemas.microsoft.com/office/drawing/2014/main" id="{49F540C3-5DD7-4CE8-9BCD-20A72A498083}"/>
              </a:ext>
            </a:extLst>
          </p:cNvPr>
          <p:cNvSpPr>
            <a:spLocks xmlns:a="http://schemas.openxmlformats.org/drawingml/2006/main" noGrp="1"/>
          </p:cNvSpPr>
          <p:nvPr/>
        </p:nvSpPr>
        <p:spPr>
          <a:xfrm xmlns:a="http://schemas.openxmlformats.org/drawingml/2006/main">
            <a:off x="30421500" y="27813000"/>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2400" b="1">
                <a:solidFill>
                  <a:srgbClr val="003399"/>
                </a:solidFill>
                <a:latin typeface="Calibri"/>
                <a:ea typeface="Calibri"/>
                <a:cs typeface="Calibri"/>
              </a:defRPr>
            </a:pPr>
            <a:r>
              <a:rPr sz="2400" b="1">
                <a:solidFill>
                  <a:srgbClr val="003399"/>
                </a:solidFill>
                <a:latin typeface="Calibri"/>
                <a:ea typeface="Calibri"/>
                <a:cs typeface="Calibri"/>
              </a:rPr>
              <a:t>OPEN MATERIALS</a:t>
            </a:r>
          </a:p>
        </p:txBody>
      </p:sp>
      <p:sp>
        <p:nvSpPr>
          <p:cNvPr id="46" name="access-links">
            <a:extLst xmlns:a="http://schemas.openxmlformats.org/drawingml/2006/main">
              <a:ext uri="{FF2B5EF4-FFF2-40B4-BE49-F238E27FC236}">
                <a16:creationId xmlns:a16="http://schemas.microsoft.com/office/drawing/2014/main" id="{35C264DA-792D-48F7-AE3C-F21A5E9ADD8F}"/>
              </a:ext>
            </a:extLst>
          </p:cNvPr>
          <p:cNvSpPr>
            <a:spLocks xmlns:a="http://schemas.openxmlformats.org/drawingml/2006/main" noGrp="1"/>
          </p:cNvSpPr>
          <p:nvPr/>
        </p:nvSpPr>
        <p:spPr>
          <a:xfrm xmlns:a="http://schemas.openxmlformats.org/drawingml/2006/main">
            <a:off x="30421500" y="283845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300"/>
              </a:spcAft>
              <a:defRPr sz="2325" b="0">
                <a:solidFill>
                  <a:srgbClr val="212A33"/>
                </a:solidFill>
                <a:latin typeface="Calibri"/>
                <a:ea typeface="Calibri"/>
                <a:cs typeface="Calibri"/>
              </a:defRPr>
            </a:pPr>
            <a:r>
              <a:rPr sz="1520" b="1">
                <a:solidFill>
                  <a:srgbClr val="212A33"/>
                </a:solidFill>
                <a:latin typeface="Calibri"/>
              </a:rPr>
              <a:t>Hugging Face:  </a:t>
            </a:r>
            <a:r>
              <a:rPr sz="1520" b="0">
                <a:solidFill>
                  <a:srgbClr val="212A33"/>
                </a:solidFill>
                <a:latin typeface="Calibri"/>
              </a:rPr>
              <a:t>huggingface.co/spaces/dku-comsci-econ206-2026/FP4_PS2</a:t>
            </a:r>
          </a:p>
          <a:p xmlns:a="http://schemas.openxmlformats.org/drawingml/2006/main">
            <a:pPr algn="l">
              <a:lnSpc>
                <a:spcPct val="100000"/>
              </a:lnSpc>
              <a:spcBef>
                <a:spcPts val="0"/>
              </a:spcBef>
              <a:spcAft>
                <a:spcPts val="300"/>
              </a:spcAft>
            </a:pPr>
            <a:r>
              <a:rPr sz="1520" b="1">
                <a:solidFill>
                  <a:srgbClr val="212A33"/>
                </a:solidFill>
                <a:latin typeface="Calibri"/>
              </a:rPr>
              <a:t>GitHub:  </a:t>
            </a:r>
            <a:r>
              <a:rPr sz="1520" b="0">
                <a:solidFill>
                  <a:srgbClr val="212A33"/>
                </a:solidFill>
                <a:latin typeface="Calibri"/>
              </a:rPr>
              <a:t>github.com/dku-comsci-econ206-Autumn2026/PS2-FP4-CapabilityTransfer</a:t>
            </a:r>
          </a:p>
          <a:p xmlns:a="http://schemas.openxmlformats.org/drawingml/2006/main">
            <a:pPr algn="l">
              <a:lnSpc>
                <a:spcPct val="100000"/>
              </a:lnSpc>
              <a:spcBef>
                <a:spcPts val="0"/>
              </a:spcBef>
              <a:spcAft>
                <a:spcPts val="300"/>
              </a:spcAft>
            </a:pPr>
            <a:r>
              <a:rPr sz="1520" b="0">
                <a:solidFill>
                  <a:srgbClr val="C00000"/>
                </a:solidFill>
                <a:latin typeface="Calibri"/>
              </a:rPr>
              <a:t>Commit 【填：最终 commit】</a:t>
            </a:r>
            <a:r>
              <a:rPr sz="1520" b="0">
                <a:solidFill>
                  <a:srgbClr val="212A33"/>
                </a:solidFill>
                <a:latin typeface="Calibri"/>
              </a:rPr>
              <a:t>  ·  MIT licence  ·  scan to run the Prize Rate Game</a:t>
            </a:r>
          </a:p>
        </p:txBody>
      </p:sp>
      <p:sp>
        <p:nvSpPr>
          <p:cNvPr id="51" name="format-note">
            <a:extLst xmlns:a="http://schemas.openxmlformats.org/drawingml/2006/main">
              <a:ext uri="{FF2B5EF4-FFF2-40B4-BE49-F238E27FC236}">
                <a16:creationId xmlns:a16="http://schemas.microsoft.com/office/drawing/2014/main" id="{49DEC60E-E378-41A7-B1C9-EC4712C55A58}"/>
              </a:ext>
            </a:extLst>
          </p:cNvPr>
          <p:cNvSpPr>
            <a:spLocks xmlns:a="http://schemas.openxmlformats.org/drawingml/2006/main" noGrp="1"/>
          </p:cNvSpPr>
          <p:nvPr/>
        </p:nvSpPr>
        <p:spPr>
          <a:xfrm xmlns:a="http://schemas.openxmlformats.org/drawingml/2006/main">
            <a:off x="1333500" y="29813250"/>
            <a:ext cx="4013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1950" b="0">
                <a:solidFill>
                  <a:srgbClr val="56616B"/>
                </a:solidFill>
                <a:latin typeface="Calibri"/>
                <a:ea typeface="Calibri"/>
                <a:cs typeface="Calibri"/>
              </a:defRPr>
            </a:pPr>
            <a:r>
              <a:rPr sz="1950" b="0">
                <a:solidFill>
                  <a:srgbClr val="56616B"/>
                </a:solidFill>
                <a:latin typeface="Calibri"/>
              </a:rPr>
              <a:t>A0 landscape · editable PPTX + PDF · training compute E is measured in FLOP.</a:t>
            </a:r>
          </a:p>
        </p:txBody>
      </p:sp>
      <p:sp xmlns:a="http://schemas.openxmlformats.org/drawingml/2006/main">
        <p:nvSpPr>
          <p:cNvPr id="59" name="fig1-colhdr-1"/>
          <p:cNvSpPr/>
          <p:nvPr/>
        </p:nvSpPr>
        <p:spPr>
          <a:xfrm>
            <a:off x="15084000" y="11880000"/>
            <a:ext cx="7074000"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xmlns:a="http://schemas.openxmlformats.org/drawingml/2006/main">
            <a:pPr algn="ctr">
              <a:lnSpc>
                <a:spcPct val="100000"/>
              </a:lnSpc>
              <a:spcBef>
                <a:spcPts val="0"/>
              </a:spcBef>
              <a:spcAft>
                <a:spcPts val="0"/>
              </a:spcAft>
            </a:pPr>
            <a:r>
              <a:rPr sz="2400" b="1">
                <a:solidFill>
                  <a:srgbClr val="FFFFFF"/>
                </a:solidFill>
                <a:latin typeface="Calibri"/>
              </a:rPr>
              <a:t>Imitate · cheap (C</a:t>
            </a:r>
            <a:r>
              <a:rPr sz="2400" b="1" baseline="-25000">
                <a:solidFill>
                  <a:srgbClr val="FFFFFF"/>
                </a:solidFill>
                <a:latin typeface="Calibri"/>
              </a:rPr>
              <a:t>d</a:t>
            </a:r>
            <a:r>
              <a:rPr sz="2400" b="1">
                <a:solidFill>
                  <a:srgbClr val="FFFFFF"/>
                </a:solidFill>
                <a:latin typeface="Calibri"/>
              </a:rPr>
              <a:t>, E</a:t>
            </a:r>
            <a:r>
              <a:rPr sz="2400" b="1" baseline="-25000">
                <a:solidFill>
                  <a:srgbClr val="FFFFFF"/>
                </a:solidFill>
                <a:latin typeface="Calibri"/>
              </a:rPr>
              <a:t>d</a:t>
            </a:r>
            <a:r>
              <a:rPr sz="2400" b="1">
                <a:solidFill>
                  <a:srgbClr val="FFFFFF"/>
                </a:solidFill>
                <a:latin typeface="Calibri"/>
              </a:rPr>
              <a:t>)</a:t>
            </a:r>
          </a:p>
        </p:txBody>
      </p:sp>
      <p:sp xmlns:a="http://schemas.openxmlformats.org/drawingml/2006/main">
        <p:nvSpPr>
          <p:cNvPr id="60" name="fig1-colhdr-2"/>
          <p:cNvSpPr/>
          <p:nvPr/>
        </p:nvSpPr>
        <p:spPr>
          <a:xfrm>
            <a:off x="22158000" y="11880000"/>
            <a:ext cx="7074000"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xmlns:a="http://schemas.openxmlformats.org/drawingml/2006/main">
            <a:pPr algn="ctr">
              <a:lnSpc>
                <a:spcPct val="100000"/>
              </a:lnSpc>
              <a:spcBef>
                <a:spcPts val="0"/>
              </a:spcBef>
              <a:spcAft>
                <a:spcPts val="0"/>
              </a:spcAft>
            </a:pPr>
            <a:r>
              <a:rPr sz="2400" b="1">
                <a:solidFill>
                  <a:srgbClr val="FFFFFF"/>
                </a:solidFill>
                <a:latin typeface="Calibri"/>
              </a:rPr>
              <a:t>Innovate · costly (C</a:t>
            </a:r>
            <a:r>
              <a:rPr sz="2400" b="1" baseline="-25000">
                <a:solidFill>
                  <a:srgbClr val="FFFFFF"/>
                </a:solidFill>
                <a:latin typeface="Calibri"/>
              </a:rPr>
              <a:t>n</a:t>
            </a:r>
            <a:r>
              <a:rPr sz="2400" b="1">
                <a:solidFill>
                  <a:srgbClr val="FFFFFF"/>
                </a:solidFill>
                <a:latin typeface="Calibri"/>
              </a:rPr>
              <a:t>, E</a:t>
            </a:r>
            <a:r>
              <a:rPr sz="2400" b="1" baseline="-25000">
                <a:solidFill>
                  <a:srgbClr val="FFFFFF"/>
                </a:solidFill>
                <a:latin typeface="Calibri"/>
              </a:rPr>
              <a:t>n</a:t>
            </a:r>
            <a:r>
              <a:rPr sz="2400" b="1">
                <a:solidFill>
                  <a:srgbClr val="FFFFFF"/>
                </a:solidFill>
                <a:latin typeface="Calibri"/>
              </a:rPr>
              <a:t>)</a:t>
            </a:r>
          </a:p>
        </p:txBody>
      </p:sp>
      <p:sp xmlns:a="http://schemas.openxmlformats.org/drawingml/2006/main">
        <p:nvSpPr>
          <p:cNvPr id="61" name="fig1-rowhdr-0"/>
          <p:cNvSpPr/>
          <p:nvPr/>
        </p:nvSpPr>
        <p:spPr>
          <a:xfrm>
            <a:off x="13680000" y="12420000"/>
            <a:ext cx="1404000" cy="1530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500" b="1">
                <a:solidFill>
                  <a:srgbClr val="FFFFFF"/>
                </a:solidFill>
                <a:latin typeface="Calibri"/>
              </a:rPr>
              <a:t>Secrecy</a:t>
            </a:r>
          </a:p>
        </p:txBody>
      </p:sp>
      <p:sp xmlns:a="http://schemas.openxmlformats.org/drawingml/2006/main">
        <p:nvSpPr>
          <p:cNvPr id="62" name="fig1-rowhdr-1"/>
          <p:cNvSpPr/>
          <p:nvPr/>
        </p:nvSpPr>
        <p:spPr>
          <a:xfrm>
            <a:off x="13680000" y="14057999"/>
            <a:ext cx="1404000" cy="1530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500" b="1">
                <a:solidFill>
                  <a:srgbClr val="FFFFFF"/>
                </a:solidFill>
                <a:latin typeface="Calibri"/>
              </a:rPr>
              <a:t>Openness</a:t>
            </a:r>
          </a:p>
        </p:txBody>
      </p:sp>
      <p:sp xmlns:a="http://schemas.openxmlformats.org/drawingml/2006/main">
        <p:nvSpPr>
          <p:cNvPr id="63" name="fig1-cell-①"/>
          <p:cNvSpPr/>
          <p:nvPr/>
        </p:nvSpPr>
        <p:spPr>
          <a:xfrm>
            <a:off x="15084000" y="12420000"/>
            <a:ext cx="6994800" cy="1530000"/>
          </a:xfrm>
          <a:prstGeom prst="rect">
            <a:avLst/>
          </a:prstGeom>
          <a:solidFill>
            <a:srgbClr val="F8E8EA"/>
          </a:solidFill>
          <a:ln w="28575">
            <a:solidFill>
              <a:srgbClr val="A6192E"/>
            </a:solidFill>
          </a:ln>
          <a:effectLst/>
        </p:spPr>
        <p:style>
          <a:lnRef idx="1">
            <a:schemeClr val="accent1"/>
          </a:lnRef>
          <a:fillRef idx="3">
            <a:schemeClr val="accent1"/>
          </a:fillRef>
          <a:effectRef idx="2">
            <a:schemeClr val="accent1"/>
          </a:effectRef>
          <a:fontRef idx="minor">
            <a:schemeClr val="lt1"/>
          </a:fontRef>
        </p:style>
        <p:txBody>
          <a:bodyPr rtlCol="0" anchor="ctr" wrap="square" lIns="151200" rIns="151200" tIns="90720" bIns="90720">
            <a:noAutofit/>
          </a:bodyPr>
          <a:lstStyle/>
          <a:p xmlns:a="http://schemas.openxmlformats.org/drawingml/2006/main">
            <a:pPr algn="l">
              <a:lnSpc>
                <a:spcPct val="102000"/>
              </a:lnSpc>
              <a:spcBef>
                <a:spcPts val="0"/>
              </a:spcBef>
              <a:spcAft>
                <a:spcPts val="600"/>
              </a:spcAft>
            </a:pPr>
            <a:r>
              <a:rPr sz="2300" b="1">
                <a:solidFill>
                  <a:srgbClr val="212A33"/>
                </a:solidFill>
                <a:latin typeface="Calibri"/>
              </a:rPr>
              <a:t>①  </a:t>
            </a:r>
            <a:r>
              <a:rPr sz="2300" b="1">
                <a:solidFill>
                  <a:srgbClr val="212A33"/>
                </a:solidFill>
                <a:latin typeface="Calibri"/>
              </a:rPr>
              <a:t>Secrecy + imitation</a:t>
            </a:r>
          </a:p>
          <a:p xmlns:a="http://schemas.openxmlformats.org/drawingml/2006/main">
            <a:pPr algn="l">
              <a:lnSpc>
                <a:spcPct val="102000"/>
              </a:lnSpc>
              <a:spcBef>
                <a:spcPts val="0"/>
              </a:spcBef>
              <a:spcAft>
                <a:spcPts val="600"/>
              </a:spcAft>
            </a:pPr>
            <a:r>
              <a:rPr sz="2300" b="1">
                <a:solidFill>
                  <a:srgbClr val="212A33"/>
                </a:solidFill>
                <a:latin typeface="Calibri"/>
              </a:rPr>
              <a:t>Free-rider</a:t>
            </a:r>
            <a:r>
              <a:rPr sz="2300" b="0">
                <a:solidFill>
                  <a:srgbClr val="212A33"/>
                </a:solidFill>
                <a:latin typeface="Calibri"/>
              </a:rPr>
              <a:t> — takes, gives nothing</a:t>
            </a:r>
          </a:p>
          <a:p xmlns:a="http://schemas.openxmlformats.org/drawingml/2006/main">
            <a:pPr algn="l">
              <a:lnSpc>
                <a:spcPct val="102000"/>
              </a:lnSpc>
              <a:spcBef>
                <a:spcPts val="0"/>
              </a:spcBef>
              <a:spcAft>
                <a:spcPts val="600"/>
              </a:spcAft>
            </a:pPr>
            <a:r>
              <a:rPr sz="2300" b="1">
                <a:solidFill>
                  <a:srgbClr val="212A33"/>
                </a:solidFill>
                <a:latin typeface="Calibri"/>
              </a:rPr>
              <a:t>π − C</a:t>
            </a:r>
            <a:r>
              <a:rPr baseline="-25000" sz="2300" b="0">
                <a:solidFill>
                  <a:srgbClr val="212A33"/>
                </a:solidFill>
                <a:latin typeface="Calibri"/>
              </a:rPr>
              <a:t>d</a:t>
            </a:r>
          </a:p>
        </p:txBody>
      </p:sp>
      <p:sp xmlns:a="http://schemas.openxmlformats.org/drawingml/2006/main">
        <p:nvSpPr>
          <p:cNvPr id="64" name="fig1-cell-②"/>
          <p:cNvSpPr/>
          <p:nvPr/>
        </p:nvSpPr>
        <p:spPr>
          <a:xfrm>
            <a:off x="15084000" y="14057999"/>
            <a:ext cx="6994800" cy="1530000"/>
          </a:xfrm>
          <a:prstGeom prst="rect">
            <a:avLst/>
          </a:prstGeom>
          <a:solidFill>
            <a:srgbClr val="EEF1F3"/>
          </a:solidFill>
          <a:ln w="28575">
            <a:solidFill>
              <a:srgbClr val="56616B"/>
            </a:solidFill>
          </a:ln>
          <a:effectLst/>
        </p:spPr>
        <p:style>
          <a:lnRef idx="1">
            <a:schemeClr val="accent1"/>
          </a:lnRef>
          <a:fillRef idx="3">
            <a:schemeClr val="accent1"/>
          </a:fillRef>
          <a:effectRef idx="2">
            <a:schemeClr val="accent1"/>
          </a:effectRef>
          <a:fontRef idx="minor">
            <a:schemeClr val="lt1"/>
          </a:fontRef>
        </p:style>
        <p:txBody>
          <a:bodyPr rtlCol="0" anchor="ctr" wrap="square" lIns="151200" rIns="151200" tIns="90720" bIns="90720">
            <a:noAutofit/>
          </a:bodyPr>
          <a:lstStyle/>
          <a:p xmlns:a="http://schemas.openxmlformats.org/drawingml/2006/main">
            <a:pPr algn="l">
              <a:lnSpc>
                <a:spcPct val="102000"/>
              </a:lnSpc>
              <a:spcBef>
                <a:spcPts val="0"/>
              </a:spcBef>
              <a:spcAft>
                <a:spcPts val="600"/>
              </a:spcAft>
            </a:pPr>
            <a:r>
              <a:rPr sz="2300" b="1">
                <a:solidFill>
                  <a:srgbClr val="212A33"/>
                </a:solidFill>
                <a:latin typeface="Calibri"/>
              </a:rPr>
              <a:t>②  </a:t>
            </a:r>
            <a:r>
              <a:rPr sz="2300" b="1">
                <a:solidFill>
                  <a:srgbClr val="212A33"/>
                </a:solidFill>
                <a:latin typeface="Calibri"/>
              </a:rPr>
              <a:t>Openness + imitation</a:t>
            </a:r>
          </a:p>
          <a:p xmlns:a="http://schemas.openxmlformats.org/drawingml/2006/main">
            <a:pPr algn="l">
              <a:lnSpc>
                <a:spcPct val="102000"/>
              </a:lnSpc>
              <a:spcBef>
                <a:spcPts val="0"/>
              </a:spcBef>
              <a:spcAft>
                <a:spcPts val="600"/>
              </a:spcAft>
            </a:pPr>
            <a:r>
              <a:rPr sz="2300" b="1">
                <a:solidFill>
                  <a:srgbClr val="212A33"/>
                </a:solidFill>
                <a:latin typeface="Calibri"/>
              </a:rPr>
              <a:t>Relay</a:t>
            </a:r>
            <a:r>
              <a:rPr sz="2300" b="0">
                <a:solidFill>
                  <a:srgbClr val="212A33"/>
                </a:solidFill>
                <a:latin typeface="Calibri"/>
              </a:rPr>
              <a:t> — takes and gives back</a:t>
            </a:r>
          </a:p>
          <a:p xmlns:a="http://schemas.openxmlformats.org/drawingml/2006/main">
            <a:pPr algn="l">
              <a:lnSpc>
                <a:spcPct val="102000"/>
              </a:lnSpc>
              <a:spcBef>
                <a:spcPts val="0"/>
              </a:spcBef>
              <a:spcAft>
                <a:spcPts val="600"/>
              </a:spcAft>
            </a:pPr>
            <a:r>
              <a:rPr sz="2300" b="1">
                <a:solidFill>
                  <a:srgbClr val="212A33"/>
                </a:solidFill>
                <a:latin typeface="Calibri"/>
              </a:rPr>
              <a:t>−C</a:t>
            </a:r>
            <a:r>
              <a:rPr sz="2300" b="1" baseline="-25000">
                <a:solidFill>
                  <a:srgbClr val="212A33"/>
                </a:solidFill>
                <a:latin typeface="Calibri"/>
              </a:rPr>
              <a:t>d</a:t>
            </a:r>
            <a:r>
              <a:rPr sz="2300" b="1">
                <a:solidFill>
                  <a:srgbClr val="212A33"/>
                </a:solidFill>
                <a:latin typeface="Calibri"/>
              </a:rPr>
              <a:t> + kE</a:t>
            </a:r>
            <a:r>
              <a:rPr sz="2300" b="1" baseline="-25000">
                <a:solidFill>
                  <a:srgbClr val="212A33"/>
                </a:solidFill>
                <a:latin typeface="Calibri"/>
              </a:rPr>
              <a:t>d</a:t>
            </a:r>
            <a:r>
              <a:rPr sz="2300" b="1">
                <a:solidFill>
                  <a:srgbClr val="212A33"/>
                </a:solidFill>
                <a:latin typeface="Calibri"/>
              </a:rPr>
              <a:t> − L</a:t>
            </a:r>
            <a:r>
              <a:rPr sz="2300" b="1">
                <a:solidFill>
                  <a:srgbClr val="212A33"/>
                </a:solidFill>
                <a:latin typeface="Calibri"/>
              </a:rPr>
              <a:t> + βφK</a:t>
            </a:r>
          </a:p>
        </p:txBody>
      </p:sp>
      <p:sp xmlns:a="http://schemas.openxmlformats.org/drawingml/2006/main">
        <p:nvSpPr>
          <p:cNvPr id="65" name="fig1-cell-③"/>
          <p:cNvSpPr/>
          <p:nvPr/>
        </p:nvSpPr>
        <p:spPr>
          <a:xfrm>
            <a:off x="22158000" y="12420000"/>
            <a:ext cx="6994800" cy="1530000"/>
          </a:xfrm>
          <a:prstGeom prst="rect">
            <a:avLst/>
          </a:prstGeom>
          <a:solidFill>
            <a:srgbClr val="EEF1F3"/>
          </a:solidFill>
          <a:ln w="28575">
            <a:solidFill>
              <a:srgbClr val="003399"/>
            </a:solidFill>
          </a:ln>
          <a:effectLst/>
        </p:spPr>
        <p:style>
          <a:lnRef idx="1">
            <a:schemeClr val="accent1"/>
          </a:lnRef>
          <a:fillRef idx="3">
            <a:schemeClr val="accent1"/>
          </a:fillRef>
          <a:effectRef idx="2">
            <a:schemeClr val="accent1"/>
          </a:effectRef>
          <a:fontRef idx="minor">
            <a:schemeClr val="lt1"/>
          </a:fontRef>
        </p:style>
        <p:txBody>
          <a:bodyPr rtlCol="0" anchor="ctr" wrap="square" lIns="151200" rIns="151200" tIns="90720" bIns="90720">
            <a:noAutofit/>
          </a:bodyPr>
          <a:lstStyle/>
          <a:p xmlns:a="http://schemas.openxmlformats.org/drawingml/2006/main">
            <a:pPr algn="l">
              <a:lnSpc>
                <a:spcPct val="102000"/>
              </a:lnSpc>
              <a:spcBef>
                <a:spcPts val="0"/>
              </a:spcBef>
              <a:spcAft>
                <a:spcPts val="600"/>
              </a:spcAft>
            </a:pPr>
            <a:r>
              <a:rPr sz="2300" b="1">
                <a:solidFill>
                  <a:srgbClr val="212A33"/>
                </a:solidFill>
                <a:latin typeface="Calibri"/>
              </a:rPr>
              <a:t>③  </a:t>
            </a:r>
            <a:r>
              <a:rPr sz="2300" b="1">
                <a:solidFill>
                  <a:srgbClr val="212A33"/>
                </a:solidFill>
                <a:latin typeface="Calibri"/>
              </a:rPr>
              <a:t>Secrecy + innovation</a:t>
            </a:r>
          </a:p>
          <a:p xmlns:a="http://schemas.openxmlformats.org/drawingml/2006/main">
            <a:pPr algn="l">
              <a:lnSpc>
                <a:spcPct val="102000"/>
              </a:lnSpc>
              <a:spcBef>
                <a:spcPts val="0"/>
              </a:spcBef>
              <a:spcAft>
                <a:spcPts val="600"/>
              </a:spcAft>
            </a:pPr>
            <a:r>
              <a:rPr sz="2300" b="1">
                <a:solidFill>
                  <a:srgbClr val="212A33"/>
                </a:solidFill>
                <a:latin typeface="Calibri"/>
              </a:rPr>
              <a:t>Monopolist</a:t>
            </a:r>
            <a:r>
              <a:rPr sz="2300" b="0">
                <a:solidFill>
                  <a:srgbClr val="212A33"/>
                </a:solidFill>
                <a:latin typeface="Calibri"/>
              </a:rPr>
              <a:t> — builds, keeps it</a:t>
            </a:r>
          </a:p>
          <a:p xmlns:a="http://schemas.openxmlformats.org/drawingml/2006/main">
            <a:pPr algn="l">
              <a:lnSpc>
                <a:spcPct val="102000"/>
              </a:lnSpc>
              <a:spcBef>
                <a:spcPts val="0"/>
              </a:spcBef>
              <a:spcAft>
                <a:spcPts val="600"/>
              </a:spcAft>
            </a:pPr>
            <a:r>
              <a:rPr sz="2300" b="1">
                <a:solidFill>
                  <a:srgbClr val="212A33"/>
                </a:solidFill>
                <a:latin typeface="Calibri"/>
              </a:rPr>
              <a:t>π − C</a:t>
            </a:r>
            <a:r>
              <a:rPr baseline="-25000" sz="2300" b="0">
                <a:solidFill>
                  <a:srgbClr val="212A33"/>
                </a:solidFill>
                <a:latin typeface="Calibri"/>
              </a:rPr>
              <a:t>n</a:t>
            </a:r>
          </a:p>
        </p:txBody>
      </p:sp>
      <p:sp xmlns:a="http://schemas.openxmlformats.org/drawingml/2006/main">
        <p:nvSpPr>
          <p:cNvPr id="66" name="fig1-cell-④"/>
          <p:cNvSpPr/>
          <p:nvPr/>
        </p:nvSpPr>
        <p:spPr>
          <a:xfrm>
            <a:off x="22158000" y="14057999"/>
            <a:ext cx="6994800" cy="1530000"/>
          </a:xfrm>
          <a:prstGeom prst="rect">
            <a:avLst/>
          </a:prstGeom>
          <a:solidFill>
            <a:srgbClr val="E6F0EA"/>
          </a:solidFill>
          <a:ln w="28575">
            <a:solidFill>
              <a:srgbClr val="006633"/>
            </a:solidFill>
          </a:ln>
          <a:effectLst/>
        </p:spPr>
        <p:style>
          <a:lnRef idx="1">
            <a:schemeClr val="accent1"/>
          </a:lnRef>
          <a:fillRef idx="3">
            <a:schemeClr val="accent1"/>
          </a:fillRef>
          <a:effectRef idx="2">
            <a:schemeClr val="accent1"/>
          </a:effectRef>
          <a:fontRef idx="minor">
            <a:schemeClr val="lt1"/>
          </a:fontRef>
        </p:style>
        <p:txBody>
          <a:bodyPr rtlCol="0" anchor="ctr" wrap="square" lIns="151200" rIns="151200" tIns="90720" bIns="90720">
            <a:noAutofit/>
          </a:bodyPr>
          <a:lstStyle/>
          <a:p xmlns:a="http://schemas.openxmlformats.org/drawingml/2006/main">
            <a:pPr algn="l">
              <a:lnSpc>
                <a:spcPct val="102000"/>
              </a:lnSpc>
              <a:spcBef>
                <a:spcPts val="0"/>
              </a:spcBef>
              <a:spcAft>
                <a:spcPts val="600"/>
              </a:spcAft>
            </a:pPr>
            <a:r>
              <a:rPr sz="2300" b="1">
                <a:solidFill>
                  <a:srgbClr val="212A33"/>
                </a:solidFill>
                <a:latin typeface="Calibri"/>
              </a:rPr>
              <a:t>④  </a:t>
            </a:r>
            <a:r>
              <a:rPr sz="2300" b="1">
                <a:solidFill>
                  <a:srgbClr val="212A33"/>
                </a:solidFill>
                <a:latin typeface="Calibri"/>
              </a:rPr>
              <a:t>Openness + innovation</a:t>
            </a:r>
          </a:p>
          <a:p xmlns:a="http://schemas.openxmlformats.org/drawingml/2006/main">
            <a:pPr algn="l">
              <a:lnSpc>
                <a:spcPct val="102000"/>
              </a:lnSpc>
              <a:spcBef>
                <a:spcPts val="0"/>
              </a:spcBef>
              <a:spcAft>
                <a:spcPts val="600"/>
              </a:spcAft>
            </a:pPr>
            <a:r>
              <a:rPr sz="2300" b="1">
                <a:solidFill>
                  <a:srgbClr val="212A33"/>
                </a:solidFill>
                <a:latin typeface="Calibri"/>
              </a:rPr>
              <a:t>Source</a:t>
            </a:r>
            <a:r>
              <a:rPr sz="2300" b="0">
                <a:solidFill>
                  <a:srgbClr val="212A33"/>
                </a:solidFill>
                <a:latin typeface="Calibri"/>
              </a:rPr>
              <a:t> — builds, and shares</a:t>
            </a:r>
          </a:p>
          <a:p xmlns:a="http://schemas.openxmlformats.org/drawingml/2006/main">
            <a:pPr algn="l">
              <a:lnSpc>
                <a:spcPct val="102000"/>
              </a:lnSpc>
              <a:spcBef>
                <a:spcPts val="0"/>
              </a:spcBef>
              <a:spcAft>
                <a:spcPts val="600"/>
              </a:spcAft>
            </a:pPr>
            <a:r>
              <a:rPr sz="2300" b="1">
                <a:solidFill>
                  <a:srgbClr val="212A33"/>
                </a:solidFill>
                <a:latin typeface="Calibri"/>
              </a:rPr>
              <a:t>−C</a:t>
            </a:r>
            <a:r>
              <a:rPr sz="2300" b="1" baseline="-25000">
                <a:solidFill>
                  <a:srgbClr val="212A33"/>
                </a:solidFill>
                <a:latin typeface="Calibri"/>
              </a:rPr>
              <a:t>n</a:t>
            </a:r>
            <a:r>
              <a:rPr sz="2300" b="1">
                <a:solidFill>
                  <a:srgbClr val="212A33"/>
                </a:solidFill>
                <a:latin typeface="Calibri"/>
              </a:rPr>
              <a:t> + kE</a:t>
            </a:r>
            <a:r>
              <a:rPr sz="2300" b="1" baseline="-25000">
                <a:solidFill>
                  <a:srgbClr val="212A33"/>
                </a:solidFill>
                <a:latin typeface="Calibri"/>
              </a:rPr>
              <a:t>n</a:t>
            </a:r>
            <a:r>
              <a:rPr sz="2300" b="1">
                <a:solidFill>
                  <a:srgbClr val="212A33"/>
                </a:solidFill>
                <a:latin typeface="Calibri"/>
              </a:rPr>
              <a:t> − L</a:t>
            </a:r>
            <a:r>
              <a:rPr sz="2300" b="1">
                <a:solidFill>
                  <a:srgbClr val="212A33"/>
                </a:solidFill>
                <a:latin typeface="Calibri"/>
              </a:rPr>
              <a:t> + βφK</a:t>
            </a:r>
          </a:p>
        </p:txBody>
      </p:sp>
      <p:sp xmlns:a="http://schemas.openxmlformats.org/drawingml/2006/main">
        <p:nvSpPr>
          <p:cNvPr id="67" name="fig2-hdr-0"/>
          <p:cNvSpPr/>
          <p:nvPr/>
        </p:nvSpPr>
        <p:spPr>
          <a:xfrm>
            <a:off x="13680000" y="18144000"/>
            <a:ext cx="4968000" cy="486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400" b="1">
                <a:solidFill>
                  <a:srgbClr val="FFFFFF"/>
                </a:solidFill>
                <a:latin typeface="Calibri"/>
              </a:rPr>
              <a:t>Combination</a:t>
            </a:r>
          </a:p>
        </p:txBody>
      </p:sp>
      <p:sp xmlns:a="http://schemas.openxmlformats.org/drawingml/2006/main">
        <p:nvSpPr>
          <p:cNvPr id="68" name="fig2-hdr-1"/>
          <p:cNvSpPr/>
          <p:nvPr/>
        </p:nvSpPr>
        <p:spPr>
          <a:xfrm>
            <a:off x="18648000" y="18144000"/>
            <a:ext cx="3096000" cy="486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400" b="1">
                <a:solidFill>
                  <a:srgbClr val="FFFFFF"/>
                </a:solidFill>
                <a:latin typeface="Calibri"/>
              </a:rPr>
              <a:t>Private desire</a:t>
            </a:r>
          </a:p>
        </p:txBody>
      </p:sp>
      <p:sp xmlns:a="http://schemas.openxmlformats.org/drawingml/2006/main">
        <p:nvSpPr>
          <p:cNvPr id="69" name="fig2-hdr-2"/>
          <p:cNvSpPr/>
          <p:nvPr/>
        </p:nvSpPr>
        <p:spPr>
          <a:xfrm>
            <a:off x="21744000" y="18144000"/>
            <a:ext cx="3096000" cy="486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400" b="1">
                <a:solidFill>
                  <a:srgbClr val="FFFFFF"/>
                </a:solidFill>
                <a:latin typeface="Calibri"/>
              </a:rPr>
              <a:t>Social desirability</a:t>
            </a:r>
          </a:p>
        </p:txBody>
      </p:sp>
      <p:sp xmlns:a="http://schemas.openxmlformats.org/drawingml/2006/main">
        <p:nvSpPr>
          <p:cNvPr id="70" name="fig2-hdr-3"/>
          <p:cNvSpPr/>
          <p:nvPr/>
        </p:nvSpPr>
        <p:spPr>
          <a:xfrm>
            <a:off x="24840000" y="18144000"/>
            <a:ext cx="4392000" cy="486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400" b="1">
                <a:solidFill>
                  <a:srgbClr val="FFFFFF"/>
                </a:solidFill>
                <a:latin typeface="Calibri"/>
              </a:rPr>
              <a:t>Conflict</a:t>
            </a:r>
          </a:p>
        </p:txBody>
      </p:sp>
      <p:sp xmlns:a="http://schemas.openxmlformats.org/drawingml/2006/main">
        <p:nvSpPr>
          <p:cNvPr id="71" name="fig2-c0-name"/>
          <p:cNvSpPr/>
          <p:nvPr/>
        </p:nvSpPr>
        <p:spPr>
          <a:xfrm>
            <a:off x="13680000" y="18630000"/>
            <a:ext cx="4968000" cy="522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86400" bIns="86400">
            <a:noAutofit/>
          </a:bodyPr>
          <a:lstStyle/>
          <a:p>
            <a:pPr algn="l">
              <a:lnSpc>
                <a:spcPct val="100000"/>
              </a:lnSpc>
              <a:spcBef>
                <a:spcPts val="0"/>
              </a:spcBef>
              <a:spcAft>
                <a:spcPts val="0"/>
              </a:spcAft>
            </a:pPr>
            <a:r>
              <a:rPr sz="2400" b="1">
                <a:solidFill>
                  <a:srgbClr val="212A33"/>
                </a:solidFill>
                <a:latin typeface="Calibri"/>
              </a:rPr>
              <a:t>①  Secrecy + imitation</a:t>
            </a:r>
          </a:p>
        </p:txBody>
      </p:sp>
      <p:sp xmlns:a="http://schemas.openxmlformats.org/drawingml/2006/main">
        <p:nvSpPr>
          <p:cNvPr id="72" name="fig2-c0-privbox"/>
          <p:cNvSpPr/>
          <p:nvPr/>
        </p:nvSpPr>
        <p:spPr>
          <a:xfrm>
            <a:off x="18648000" y="18630000"/>
            <a:ext cx="3096000" cy="522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73" name="fig2-c0-priv-1"/>
          <p:cNvSpPr/>
          <p:nvPr/>
        </p:nvSpPr>
        <p:spPr>
          <a:xfrm>
            <a:off x="19025999" y="18781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74" name="fig2-c0-priv-2"/>
          <p:cNvSpPr/>
          <p:nvPr/>
        </p:nvSpPr>
        <p:spPr>
          <a:xfrm>
            <a:off x="19628999" y="18781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75" name="fig2-c0-priv-3"/>
          <p:cNvSpPr/>
          <p:nvPr/>
        </p:nvSpPr>
        <p:spPr>
          <a:xfrm>
            <a:off x="20232000" y="18781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76" name="fig2-c0-priv-4"/>
          <p:cNvSpPr/>
          <p:nvPr/>
        </p:nvSpPr>
        <p:spPr>
          <a:xfrm>
            <a:off x="20834999" y="18781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77" name="fig2-c0-socbox"/>
          <p:cNvSpPr/>
          <p:nvPr/>
        </p:nvSpPr>
        <p:spPr>
          <a:xfrm>
            <a:off x="21744000" y="18630000"/>
            <a:ext cx="3096000" cy="522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78" name="fig2-c0-soc-1"/>
          <p:cNvSpPr/>
          <p:nvPr/>
        </p:nvSpPr>
        <p:spPr>
          <a:xfrm>
            <a:off x="22122000" y="18781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79" name="fig2-c0-soc-2"/>
          <p:cNvSpPr/>
          <p:nvPr/>
        </p:nvSpPr>
        <p:spPr>
          <a:xfrm>
            <a:off x="22724999" y="18781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0" name="fig2-c0-soc-3"/>
          <p:cNvSpPr/>
          <p:nvPr/>
        </p:nvSpPr>
        <p:spPr>
          <a:xfrm>
            <a:off x="23328000" y="18781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1" name="fig2-c0-soc-4"/>
          <p:cNvSpPr/>
          <p:nvPr/>
        </p:nvSpPr>
        <p:spPr>
          <a:xfrm>
            <a:off x="23930999" y="18781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2" name="fig2-c0-conf"/>
          <p:cNvSpPr/>
          <p:nvPr/>
        </p:nvSpPr>
        <p:spPr>
          <a:xfrm>
            <a:off x="24840000" y="18630000"/>
            <a:ext cx="4392000" cy="522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98000" rIns="198000" tIns="118800" bIns="118800">
            <a:noAutofit/>
          </a:bodyPr>
          <a:lstStyle/>
          <a:p>
            <a:pPr algn="l">
              <a:lnSpc>
                <a:spcPct val="100000"/>
              </a:lnSpc>
              <a:spcBef>
                <a:spcPts val="0"/>
              </a:spcBef>
              <a:spcAft>
                <a:spcPts val="0"/>
              </a:spcAft>
            </a:pPr>
            <a:r>
              <a:rPr sz="2300" b="1">
                <a:solidFill>
                  <a:srgbClr val="A6192E"/>
                </a:solidFill>
                <a:latin typeface="Calibri"/>
              </a:rPr>
              <a:t>←  Largest conflict</a:t>
            </a:r>
          </a:p>
        </p:txBody>
      </p:sp>
      <p:sp xmlns:a="http://schemas.openxmlformats.org/drawingml/2006/main">
        <p:nvSpPr>
          <p:cNvPr id="83" name="fig2-c1-name"/>
          <p:cNvSpPr/>
          <p:nvPr/>
        </p:nvSpPr>
        <p:spPr>
          <a:xfrm>
            <a:off x="13680000" y="19152000"/>
            <a:ext cx="4968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86400" bIns="86400">
            <a:noAutofit/>
          </a:bodyPr>
          <a:lstStyle/>
          <a:p>
            <a:pPr algn="l">
              <a:lnSpc>
                <a:spcPct val="100000"/>
              </a:lnSpc>
              <a:spcBef>
                <a:spcPts val="0"/>
              </a:spcBef>
              <a:spcAft>
                <a:spcPts val="0"/>
              </a:spcAft>
            </a:pPr>
            <a:r>
              <a:rPr sz="2400" b="1">
                <a:solidFill>
                  <a:srgbClr val="212A33"/>
                </a:solidFill>
                <a:latin typeface="Calibri"/>
              </a:rPr>
              <a:t>③  Secrecy + innovation</a:t>
            </a:r>
          </a:p>
        </p:txBody>
      </p:sp>
      <p:sp xmlns:a="http://schemas.openxmlformats.org/drawingml/2006/main">
        <p:nvSpPr>
          <p:cNvPr id="84" name="fig2-c1-privbox"/>
          <p:cNvSpPr/>
          <p:nvPr/>
        </p:nvSpPr>
        <p:spPr>
          <a:xfrm>
            <a:off x="18648000" y="19152000"/>
            <a:ext cx="3096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85" name="fig2-c1-priv-1"/>
          <p:cNvSpPr/>
          <p:nvPr/>
        </p:nvSpPr>
        <p:spPr>
          <a:xfrm>
            <a:off x="19025999" y="19303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6" name="fig2-c1-priv-2"/>
          <p:cNvSpPr/>
          <p:nvPr/>
        </p:nvSpPr>
        <p:spPr>
          <a:xfrm>
            <a:off x="19628999" y="19303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7" name="fig2-c1-priv-3"/>
          <p:cNvSpPr/>
          <p:nvPr/>
        </p:nvSpPr>
        <p:spPr>
          <a:xfrm>
            <a:off x="20232000" y="19303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8" name="fig2-c1-priv-4"/>
          <p:cNvSpPr/>
          <p:nvPr/>
        </p:nvSpPr>
        <p:spPr>
          <a:xfrm>
            <a:off x="20834999" y="19303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9" name="fig2-c1-socbox"/>
          <p:cNvSpPr/>
          <p:nvPr/>
        </p:nvSpPr>
        <p:spPr>
          <a:xfrm>
            <a:off x="21744000" y="19152000"/>
            <a:ext cx="3096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90" name="fig2-c1-soc-1"/>
          <p:cNvSpPr/>
          <p:nvPr/>
        </p:nvSpPr>
        <p:spPr>
          <a:xfrm>
            <a:off x="22122000" y="19303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1" name="fig2-c1-soc-2"/>
          <p:cNvSpPr/>
          <p:nvPr/>
        </p:nvSpPr>
        <p:spPr>
          <a:xfrm>
            <a:off x="22724999" y="19303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2" name="fig2-c1-soc-3"/>
          <p:cNvSpPr/>
          <p:nvPr/>
        </p:nvSpPr>
        <p:spPr>
          <a:xfrm>
            <a:off x="23328000" y="19303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3" name="fig2-c1-soc-4"/>
          <p:cNvSpPr/>
          <p:nvPr/>
        </p:nvSpPr>
        <p:spPr>
          <a:xfrm>
            <a:off x="23930999" y="19303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4" name="fig2-c1-conf"/>
          <p:cNvSpPr/>
          <p:nvPr/>
        </p:nvSpPr>
        <p:spPr>
          <a:xfrm>
            <a:off x="24840000" y="19152000"/>
            <a:ext cx="4392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98000" rIns="198000" tIns="118800" bIns="118800">
            <a:noAutofit/>
          </a:bodyPr>
          <a:lstStyle/>
          <a:p>
            <a:pPr algn="l">
              <a:lnSpc>
                <a:spcPct val="100000"/>
              </a:lnSpc>
              <a:spcBef>
                <a:spcPts val="0"/>
              </a:spcBef>
              <a:spcAft>
                <a:spcPts val="0"/>
              </a:spcAft>
            </a:pPr>
            <a:r>
              <a:rPr sz="2300" b="1">
                <a:solidFill>
                  <a:srgbClr val="56616B"/>
                </a:solidFill>
                <a:latin typeface="Calibri"/>
              </a:rPr>
              <a:t>←  Conflict</a:t>
            </a:r>
          </a:p>
        </p:txBody>
      </p:sp>
      <p:sp xmlns:a="http://schemas.openxmlformats.org/drawingml/2006/main">
        <p:nvSpPr>
          <p:cNvPr id="95" name="fig2-c2-name"/>
          <p:cNvSpPr/>
          <p:nvPr/>
        </p:nvSpPr>
        <p:spPr>
          <a:xfrm>
            <a:off x="13680000" y="19674000"/>
            <a:ext cx="4968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86400" bIns="86400">
            <a:noAutofit/>
          </a:bodyPr>
          <a:lstStyle/>
          <a:p>
            <a:pPr algn="l">
              <a:lnSpc>
                <a:spcPct val="100000"/>
              </a:lnSpc>
              <a:spcBef>
                <a:spcPts val="0"/>
              </a:spcBef>
              <a:spcAft>
                <a:spcPts val="0"/>
              </a:spcAft>
            </a:pPr>
            <a:r>
              <a:rPr sz="2400" b="1">
                <a:solidFill>
                  <a:srgbClr val="212A33"/>
                </a:solidFill>
                <a:latin typeface="Calibri"/>
              </a:rPr>
              <a:t>②  Openness + imitation</a:t>
            </a:r>
          </a:p>
        </p:txBody>
      </p:sp>
      <p:sp xmlns:a="http://schemas.openxmlformats.org/drawingml/2006/main">
        <p:nvSpPr>
          <p:cNvPr id="96" name="fig2-c2-privbox"/>
          <p:cNvSpPr/>
          <p:nvPr/>
        </p:nvSpPr>
        <p:spPr>
          <a:xfrm>
            <a:off x="18648000" y="19674000"/>
            <a:ext cx="3096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97" name="fig2-c2-priv-1"/>
          <p:cNvSpPr/>
          <p:nvPr/>
        </p:nvSpPr>
        <p:spPr>
          <a:xfrm>
            <a:off x="19025999" y="19825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8" name="fig2-c2-priv-2"/>
          <p:cNvSpPr/>
          <p:nvPr/>
        </p:nvSpPr>
        <p:spPr>
          <a:xfrm>
            <a:off x="19628999" y="19825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9" name="fig2-c2-priv-3"/>
          <p:cNvSpPr/>
          <p:nvPr/>
        </p:nvSpPr>
        <p:spPr>
          <a:xfrm>
            <a:off x="20232000" y="19825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0" name="fig2-c2-priv-4"/>
          <p:cNvSpPr/>
          <p:nvPr/>
        </p:nvSpPr>
        <p:spPr>
          <a:xfrm>
            <a:off x="20834999" y="19825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1" name="fig2-c2-socbox"/>
          <p:cNvSpPr/>
          <p:nvPr/>
        </p:nvSpPr>
        <p:spPr>
          <a:xfrm>
            <a:off x="21744000" y="19674000"/>
            <a:ext cx="3096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102" name="fig2-c2-soc-1"/>
          <p:cNvSpPr/>
          <p:nvPr/>
        </p:nvSpPr>
        <p:spPr>
          <a:xfrm>
            <a:off x="22122000" y="19825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3" name="fig2-c2-soc-2"/>
          <p:cNvSpPr/>
          <p:nvPr/>
        </p:nvSpPr>
        <p:spPr>
          <a:xfrm>
            <a:off x="22724999" y="19825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4" name="fig2-c2-soc-3"/>
          <p:cNvSpPr/>
          <p:nvPr/>
        </p:nvSpPr>
        <p:spPr>
          <a:xfrm>
            <a:off x="23328000" y="19825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5" name="fig2-c2-soc-4"/>
          <p:cNvSpPr/>
          <p:nvPr/>
        </p:nvSpPr>
        <p:spPr>
          <a:xfrm>
            <a:off x="23930999" y="19825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6" name="fig2-c2-conf"/>
          <p:cNvSpPr/>
          <p:nvPr/>
        </p:nvSpPr>
        <p:spPr>
          <a:xfrm>
            <a:off x="24840000" y="19674000"/>
            <a:ext cx="4392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98000" rIns="198000" tIns="118800" bIns="118800">
            <a:noAutofit/>
          </a:bodyPr>
          <a:lstStyle/>
          <a:p>
            <a:pPr algn="l">
              <a:lnSpc>
                <a:spcPct val="100000"/>
              </a:lnSpc>
              <a:spcBef>
                <a:spcPts val="0"/>
              </a:spcBef>
              <a:spcAft>
                <a:spcPts val="0"/>
              </a:spcAft>
            </a:pPr>
            <a:r>
              <a:rPr sz="2300" b="1">
                <a:solidFill>
                  <a:srgbClr val="56616B"/>
                </a:solidFill>
                <a:latin typeface="Calibri"/>
              </a:rPr>
              <a:t>←  Eased</a:t>
            </a:r>
          </a:p>
        </p:txBody>
      </p:sp>
      <p:sp xmlns:a="http://schemas.openxmlformats.org/drawingml/2006/main">
        <p:nvSpPr>
          <p:cNvPr id="107" name="fig2-c3-name"/>
          <p:cNvSpPr/>
          <p:nvPr/>
        </p:nvSpPr>
        <p:spPr>
          <a:xfrm>
            <a:off x="13680000" y="20196000"/>
            <a:ext cx="4968000" cy="522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86400" bIns="86400">
            <a:noAutofit/>
          </a:bodyPr>
          <a:lstStyle/>
          <a:p>
            <a:pPr algn="l">
              <a:lnSpc>
                <a:spcPct val="100000"/>
              </a:lnSpc>
              <a:spcBef>
                <a:spcPts val="0"/>
              </a:spcBef>
              <a:spcAft>
                <a:spcPts val="0"/>
              </a:spcAft>
            </a:pPr>
            <a:r>
              <a:rPr sz="2400" b="1">
                <a:solidFill>
                  <a:srgbClr val="212A33"/>
                </a:solidFill>
                <a:latin typeface="Calibri"/>
              </a:rPr>
              <a:t>④  Openness + innovation</a:t>
            </a:r>
          </a:p>
        </p:txBody>
      </p:sp>
      <p:sp xmlns:a="http://schemas.openxmlformats.org/drawingml/2006/main">
        <p:nvSpPr>
          <p:cNvPr id="108" name="fig2-c3-privbox"/>
          <p:cNvSpPr/>
          <p:nvPr/>
        </p:nvSpPr>
        <p:spPr>
          <a:xfrm>
            <a:off x="18648000" y="20196000"/>
            <a:ext cx="3096000" cy="522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109" name="fig2-c3-priv-1"/>
          <p:cNvSpPr/>
          <p:nvPr/>
        </p:nvSpPr>
        <p:spPr>
          <a:xfrm>
            <a:off x="19025999" y="20347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0" name="fig2-c3-priv-2"/>
          <p:cNvSpPr/>
          <p:nvPr/>
        </p:nvSpPr>
        <p:spPr>
          <a:xfrm>
            <a:off x="19628999" y="20347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1" name="fig2-c3-priv-3"/>
          <p:cNvSpPr/>
          <p:nvPr/>
        </p:nvSpPr>
        <p:spPr>
          <a:xfrm>
            <a:off x="20232000" y="20347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2" name="fig2-c3-priv-4"/>
          <p:cNvSpPr/>
          <p:nvPr/>
        </p:nvSpPr>
        <p:spPr>
          <a:xfrm>
            <a:off x="20834999" y="20347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3" name="fig2-c3-socbox"/>
          <p:cNvSpPr/>
          <p:nvPr/>
        </p:nvSpPr>
        <p:spPr>
          <a:xfrm>
            <a:off x="21744000" y="20196000"/>
            <a:ext cx="3096000" cy="522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114" name="fig2-c3-soc-1"/>
          <p:cNvSpPr/>
          <p:nvPr/>
        </p:nvSpPr>
        <p:spPr>
          <a:xfrm>
            <a:off x="22122000" y="20347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5" name="fig2-c3-soc-2"/>
          <p:cNvSpPr/>
          <p:nvPr/>
        </p:nvSpPr>
        <p:spPr>
          <a:xfrm>
            <a:off x="22724999" y="20347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6" name="fig2-c3-soc-3"/>
          <p:cNvSpPr/>
          <p:nvPr/>
        </p:nvSpPr>
        <p:spPr>
          <a:xfrm>
            <a:off x="23328000" y="20347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7" name="fig2-c3-soc-4"/>
          <p:cNvSpPr/>
          <p:nvPr/>
        </p:nvSpPr>
        <p:spPr>
          <a:xfrm>
            <a:off x="23930999" y="20347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8" name="fig2-c3-conf"/>
          <p:cNvSpPr/>
          <p:nvPr/>
        </p:nvSpPr>
        <p:spPr>
          <a:xfrm>
            <a:off x="24840000" y="20196000"/>
            <a:ext cx="4392000" cy="522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98000" rIns="198000" tIns="118800" bIns="118800">
            <a:noAutofit/>
          </a:bodyPr>
          <a:lstStyle/>
          <a:p>
            <a:pPr algn="l">
              <a:lnSpc>
                <a:spcPct val="100000"/>
              </a:lnSpc>
              <a:spcBef>
                <a:spcPts val="0"/>
              </a:spcBef>
              <a:spcAft>
                <a:spcPts val="0"/>
              </a:spcAft>
            </a:pPr>
            <a:r>
              <a:rPr sz="2300" b="1">
                <a:solidFill>
                  <a:srgbClr val="006633"/>
                </a:solidFill>
                <a:latin typeface="Calibri"/>
              </a:rPr>
              <a:t>←  Largest conflict</a:t>
            </a:r>
          </a:p>
        </p:txBody>
      </p:sp>
      <p:sp xmlns:a="http://schemas.openxmlformats.org/drawingml/2006/main">
        <p:nvSpPr>
          <p:cNvPr id="119" name="fig2-legend"/>
          <p:cNvSpPr txBox="1"/>
          <p:nvPr/>
        </p:nvSpPr>
        <p:spPr>
          <a:xfrm>
            <a:off x="13680000" y="20754000"/>
            <a:ext cx="15552000" cy="342000"/>
          </a:xfrm>
          <a:prstGeom prst="rect">
            <a:avLst/>
          </a:prstGeom>
          <a:noFill/>
        </p:spPr>
        <p:txBody>
          <a:bodyPr wrap="square" anchor="t">
            <a:noAutofit/>
          </a:bodyPr>
          <a:lstStyle/>
          <a:p xmlns:a="http://schemas.openxmlformats.org/drawingml/2006/main">
            <a:pPr algn="l">
              <a:lnSpc>
                <a:spcPct val="100000"/>
              </a:lnSpc>
              <a:spcBef>
                <a:spcPts val="0"/>
              </a:spcBef>
              <a:spcAft>
                <a:spcPts val="0"/>
              </a:spcAft>
            </a:pPr>
            <a:r>
              <a:rPr sz="2000" b="0">
                <a:solidFill>
                  <a:srgbClr val="56616B"/>
                </a:solidFill>
                <a:latin typeface="Calibri"/>
              </a:rPr>
              <a:t>Dark red = private desire · green = social desirability (more squares = more wanted).</a:t>
            </a:r>
          </a:p>
        </p:txBody>
      </p:sp>
      <p:sp xmlns:a="http://schemas.openxmlformats.org/drawingml/2006/main">
        <p:nvSpPr>
          <p:cNvPr id="120" name="fig2-ms-title"/>
          <p:cNvSpPr txBox="1"/>
          <p:nvPr/>
        </p:nvSpPr>
        <p:spPr>
          <a:xfrm>
            <a:off x="13680000" y="21132000"/>
            <a:ext cx="15552000" cy="468000"/>
          </a:xfrm>
          <a:prstGeom prst="rect">
            <a:avLst/>
          </a:prstGeom>
          <a:noFill/>
        </p:spPr>
        <p:txBody>
          <a:bodyPr wrap="square" anchor="t">
            <a:noAutofit/>
          </a:bodyPr>
          <a:lstStyle/>
          <a:p>
            <a:pPr algn="l">
              <a:lnSpc>
                <a:spcPct val="100000"/>
              </a:lnSpc>
              <a:spcBef>
                <a:spcPts val="0"/>
              </a:spcBef>
              <a:spcAft>
                <a:spcPts val="0"/>
              </a:spcAft>
            </a:pPr>
            <a:r>
              <a:rPr sz="2400" b="1">
                <a:solidFill>
                  <a:srgbClr val="003399"/>
                </a:solidFill>
                <a:latin typeface="Calibri"/>
              </a:rPr>
              <a:t>Three market states — the prize rate k decides which cell wins</a:t>
            </a:r>
          </a:p>
        </p:txBody>
      </p:sp>
      <p:sp xmlns:a="http://schemas.openxmlformats.org/drawingml/2006/main">
        <p:nvSpPr>
          <p:cNvPr id="121" name="fig2-mshdr-0"/>
          <p:cNvSpPr/>
          <p:nvPr/>
        </p:nvSpPr>
        <p:spPr>
          <a:xfrm>
            <a:off x="13680000" y="21600000"/>
            <a:ext cx="4031999"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ctr">
              <a:lnSpc>
                <a:spcPct val="100000"/>
              </a:lnSpc>
              <a:spcBef>
                <a:spcPts val="0"/>
              </a:spcBef>
              <a:spcAft>
                <a:spcPts val="0"/>
              </a:spcAft>
            </a:pPr>
            <a:r>
              <a:rPr sz="2000" b="1">
                <a:solidFill>
                  <a:srgbClr val="FFFFFF"/>
                </a:solidFill>
                <a:latin typeface="Calibri"/>
              </a:rPr>
              <a:t>Market state</a:t>
            </a:r>
          </a:p>
        </p:txBody>
      </p:sp>
      <p:sp xmlns:a="http://schemas.openxmlformats.org/drawingml/2006/main">
        <p:nvSpPr>
          <p:cNvPr id="122" name="fig2-mshdr-1"/>
          <p:cNvSpPr/>
          <p:nvPr/>
        </p:nvSpPr>
        <p:spPr>
          <a:xfrm>
            <a:off x="17712000" y="21600000"/>
            <a:ext cx="3096000"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ctr">
              <a:lnSpc>
                <a:spcPct val="100000"/>
              </a:lnSpc>
              <a:spcBef>
                <a:spcPts val="0"/>
              </a:spcBef>
              <a:spcAft>
                <a:spcPts val="0"/>
              </a:spcAft>
            </a:pPr>
            <a:r>
              <a:rPr sz="2000" b="1">
                <a:solidFill>
                  <a:srgbClr val="FFFFFF"/>
                </a:solidFill>
                <a:latin typeface="Calibri"/>
              </a:rPr>
              <a:t>Prize rate</a:t>
            </a:r>
          </a:p>
        </p:txBody>
      </p:sp>
      <p:sp xmlns:a="http://schemas.openxmlformats.org/drawingml/2006/main">
        <p:nvSpPr>
          <p:cNvPr id="123" name="fig2-mshdr-2"/>
          <p:cNvSpPr/>
          <p:nvPr/>
        </p:nvSpPr>
        <p:spPr>
          <a:xfrm>
            <a:off x="20808000" y="21600000"/>
            <a:ext cx="4392000"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2000" rIns="162000" tIns="97200" bIns="97200">
            <a:noAutofit/>
          </a:bodyPr>
          <a:lstStyle/>
          <a:p>
            <a:pPr algn="l">
              <a:lnSpc>
                <a:spcPct val="100000"/>
              </a:lnSpc>
              <a:spcBef>
                <a:spcPts val="0"/>
              </a:spcBef>
              <a:spcAft>
                <a:spcPts val="0"/>
              </a:spcAft>
            </a:pPr>
            <a:r>
              <a:rPr sz="2000" b="1">
                <a:solidFill>
                  <a:srgbClr val="FFFFFF"/>
                </a:solidFill>
                <a:latin typeface="Calibri"/>
              </a:rPr>
              <a:t>Composition of the market</a:t>
            </a:r>
          </a:p>
        </p:txBody>
      </p:sp>
      <p:sp xmlns:a="http://schemas.openxmlformats.org/drawingml/2006/main">
        <p:nvSpPr>
          <p:cNvPr id="124" name="fig2-mshdr-3"/>
          <p:cNvSpPr/>
          <p:nvPr/>
        </p:nvSpPr>
        <p:spPr>
          <a:xfrm>
            <a:off x="25200000" y="21600000"/>
            <a:ext cx="4031999"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ctr">
              <a:lnSpc>
                <a:spcPct val="100000"/>
              </a:lnSpc>
              <a:spcBef>
                <a:spcPts val="0"/>
              </a:spcBef>
              <a:spcAft>
                <a:spcPts val="0"/>
              </a:spcAft>
            </a:pPr>
            <a:r>
              <a:rPr sz="2000" b="1">
                <a:solidFill>
                  <a:srgbClr val="FFFFFF"/>
                </a:solidFill>
                <a:latin typeface="Calibri"/>
              </a:rPr>
              <a:t>Outcome</a:t>
            </a:r>
          </a:p>
        </p:txBody>
      </p:sp>
      <p:sp xmlns:a="http://schemas.openxmlformats.org/drawingml/2006/main">
        <p:nvSpPr>
          <p:cNvPr id="125" name="fig2-ms0-0"/>
          <p:cNvSpPr/>
          <p:nvPr/>
        </p:nvSpPr>
        <p:spPr>
          <a:xfrm>
            <a:off x="13680000" y="22068000"/>
            <a:ext cx="4031999"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State ①  all secrecy</a:t>
            </a:r>
          </a:p>
        </p:txBody>
      </p:sp>
      <p:sp xmlns:a="http://schemas.openxmlformats.org/drawingml/2006/main">
        <p:nvSpPr>
          <p:cNvPr id="126" name="fig2-ms0-1"/>
          <p:cNvSpPr/>
          <p:nvPr/>
        </p:nvSpPr>
        <p:spPr>
          <a:xfrm>
            <a:off x="17712000" y="22068000"/>
            <a:ext cx="3096000"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too small for disclosure</a:t>
            </a:r>
          </a:p>
        </p:txBody>
      </p:sp>
      <p:sp xmlns:a="http://schemas.openxmlformats.org/drawingml/2006/main">
        <p:nvSpPr>
          <p:cNvPr id="127" name="fig2-ms0-2"/>
          <p:cNvSpPr/>
          <p:nvPr/>
        </p:nvSpPr>
        <p:spPr>
          <a:xfrm>
            <a:off x="20808000" y="22068000"/>
            <a:ext cx="4392000"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62000" rIns="162000" tIns="97200" bIns="97200">
            <a:noAutofit/>
          </a:bodyPr>
          <a:lstStyle/>
          <a:p xmlns:a="http://schemas.openxmlformats.org/drawingml/2006/main">
            <a:pPr algn="l">
              <a:lnSpc>
                <a:spcPct val="100000"/>
              </a:lnSpc>
              <a:spcBef>
                <a:spcPts val="0"/>
              </a:spcBef>
              <a:spcAft>
                <a:spcPts val="0"/>
              </a:spcAft>
            </a:pPr>
            <a:r>
              <a:rPr sz="1900" b="0">
                <a:solidFill>
                  <a:srgbClr val="212A33"/>
                </a:solidFill>
                <a:latin typeface="Calibri"/>
              </a:rPr>
              <a:t>① dominates if βφK is small</a:t>
            </a:r>
          </a:p>
        </p:txBody>
      </p:sp>
      <p:sp xmlns:a="http://schemas.openxmlformats.org/drawingml/2006/main">
        <p:nvSpPr>
          <p:cNvPr id="128" name="fig2-ms0-3"/>
          <p:cNvSpPr/>
          <p:nvPr/>
        </p:nvSpPr>
        <p:spPr>
          <a:xfrm>
            <a:off x="25200000" y="22068000"/>
            <a:ext cx="4031999"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A6192E"/>
                </a:solidFill>
                <a:latin typeface="Calibri"/>
              </a:rPr>
              <a:t>monopoly price; no source</a:t>
            </a:r>
          </a:p>
        </p:txBody>
      </p:sp>
      <p:sp xmlns:a="http://schemas.openxmlformats.org/drawingml/2006/main">
        <p:nvSpPr>
          <p:cNvPr id="129" name="fig2-ms1-0"/>
          <p:cNvSpPr/>
          <p:nvPr/>
        </p:nvSpPr>
        <p:spPr>
          <a:xfrm>
            <a:off x="13680000" y="22626000"/>
            <a:ext cx="4031999"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State ②  all imitation</a:t>
            </a:r>
          </a:p>
        </p:txBody>
      </p:sp>
      <p:sp xmlns:a="http://schemas.openxmlformats.org/drawingml/2006/main">
        <p:nvSpPr>
          <p:cNvPr id="130" name="fig2-ms1-1"/>
          <p:cNvSpPr/>
          <p:nvPr/>
        </p:nvSpPr>
        <p:spPr>
          <a:xfrm>
            <a:off x="17712000" y="22626000"/>
            <a:ext cx="3096000"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disclosure, not innovation</a:t>
            </a:r>
          </a:p>
        </p:txBody>
      </p:sp>
      <p:sp xmlns:a="http://schemas.openxmlformats.org/drawingml/2006/main">
        <p:nvSpPr>
          <p:cNvPr id="131" name="fig2-ms1-2"/>
          <p:cNvSpPr/>
          <p:nvPr/>
        </p:nvSpPr>
        <p:spPr>
          <a:xfrm>
            <a:off x="20808000" y="22626000"/>
            <a:ext cx="4392000"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62000" rIns="162000" tIns="97200" bIns="97200">
            <a:noAutofit/>
          </a:bodyPr>
          <a:lstStyle/>
          <a:p xmlns:a="http://schemas.openxmlformats.org/drawingml/2006/main">
            <a:pPr algn="l">
              <a:lnSpc>
                <a:spcPct val="100000"/>
              </a:lnSpc>
              <a:spcBef>
                <a:spcPts val="0"/>
              </a:spcBef>
              <a:spcAft>
                <a:spcPts val="0"/>
              </a:spcAft>
            </a:pPr>
            <a:r>
              <a:rPr sz="1900" b="0">
                <a:solidFill>
                  <a:srgbClr val="212A33"/>
                </a:solidFill>
                <a:latin typeface="Calibri"/>
              </a:rPr>
              <a:t>② dominates — nobody innovates</a:t>
            </a:r>
          </a:p>
        </p:txBody>
      </p:sp>
      <p:sp xmlns:a="http://schemas.openxmlformats.org/drawingml/2006/main">
        <p:nvSpPr>
          <p:cNvPr id="132" name="fig2-ms1-3"/>
          <p:cNvSpPr/>
          <p:nvPr/>
        </p:nvSpPr>
        <p:spPr>
          <a:xfrm>
            <a:off x="25200000" y="22626000"/>
            <a:ext cx="4031999"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A6192E"/>
                </a:solidFill>
                <a:latin typeface="Calibri"/>
              </a:rPr>
              <a:t>no source is ever built</a:t>
            </a:r>
          </a:p>
        </p:txBody>
      </p:sp>
      <p:sp xmlns:a="http://schemas.openxmlformats.org/drawingml/2006/main">
        <p:nvSpPr>
          <p:cNvPr id="133" name="fig2-ms2-0"/>
          <p:cNvSpPr/>
          <p:nvPr/>
        </p:nvSpPr>
        <p:spPr>
          <a:xfrm>
            <a:off x="13680000" y="23184000"/>
            <a:ext cx="4031999" cy="558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State ③  healthy</a:t>
            </a:r>
          </a:p>
        </p:txBody>
      </p:sp>
      <p:sp xmlns:a="http://schemas.openxmlformats.org/drawingml/2006/main">
        <p:nvSpPr>
          <p:cNvPr id="134" name="fig2-ms2-1"/>
          <p:cNvSpPr/>
          <p:nvPr/>
        </p:nvSpPr>
        <p:spPr>
          <a:xfrm>
            <a:off x="17712000" y="23184000"/>
            <a:ext cx="3096000" cy="558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pays for both</a:t>
            </a:r>
          </a:p>
        </p:txBody>
      </p:sp>
      <p:sp xmlns:a="http://schemas.openxmlformats.org/drawingml/2006/main">
        <p:nvSpPr>
          <p:cNvPr id="135" name="fig2-ms2-2"/>
          <p:cNvSpPr/>
          <p:nvPr/>
        </p:nvSpPr>
        <p:spPr>
          <a:xfrm>
            <a:off x="20808000" y="23184000"/>
            <a:ext cx="4392000" cy="558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62000" rIns="162000" tIns="97200" bIns="97200">
            <a:noAutofit/>
          </a:bodyPr>
          <a:lstStyle/>
          <a:p xmlns:a="http://schemas.openxmlformats.org/drawingml/2006/main">
            <a:pPr algn="l">
              <a:lnSpc>
                <a:spcPct val="100000"/>
              </a:lnSpc>
              <a:spcBef>
                <a:spcPts val="0"/>
              </a:spcBef>
              <a:spcAft>
                <a:spcPts val="0"/>
              </a:spcAft>
            </a:pPr>
            <a:r>
              <a:rPr sz="1900" b="0">
                <a:solidFill>
                  <a:srgbClr val="212A33"/>
                </a:solidFill>
                <a:latin typeface="Calibri"/>
              </a:rPr>
              <a:t>④ wins; some secrecy survives</a:t>
            </a:r>
          </a:p>
        </p:txBody>
      </p:sp>
      <p:sp xmlns:a="http://schemas.openxmlformats.org/drawingml/2006/main">
        <p:nvSpPr>
          <p:cNvPr id="136" name="fig2-ms2-3"/>
          <p:cNvSpPr/>
          <p:nvPr/>
        </p:nvSpPr>
        <p:spPr>
          <a:xfrm>
            <a:off x="25200000" y="23184000"/>
            <a:ext cx="4031999" cy="558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006633"/>
                </a:solidFill>
                <a:latin typeface="Calibri"/>
              </a:rPr>
              <a:t>fair price and a live source</a:t>
            </a:r>
          </a:p>
        </p:txBody>
      </p:sp>
      <p:pic xmlns:a="http://schemas.openxmlformats.org/drawingml/2006/main" xmlns:r="http://schemas.openxmlformats.org/officeDocument/2006/relationships">
        <p:nvPicPr>
          <p:cNvPr id="137" name="qr-hf" descr="qr_hf.png"/>
          <p:cNvPicPr>
            <a:picLocks noChangeAspect="1"/>
          </p:cNvPicPr>
          <p:nvPr/>
        </p:nvPicPr>
        <p:blipFill>
          <a:blip r:embed="rId4"/>
          <a:stretch>
            <a:fillRect/>
          </a:stretch>
        </p:blipFill>
        <p:spPr>
          <a:xfrm>
            <a:off x="38970000" y="28188000"/>
            <a:ext cx="1062000" cy="1062000"/>
          </a:xfrm>
          <a:prstGeom prst="rect">
            <a:avLst/>
          </a:prstGeom>
        </p:spPr>
      </p:pic>
      <p:pic xmlns:a="http://schemas.openxmlformats.org/drawingml/2006/main" xmlns:r="http://schemas.openxmlformats.org/officeDocument/2006/relationships">
        <p:nvPicPr>
          <p:cNvPr id="138" name="qr-github" descr="qr_github.png"/>
          <p:cNvPicPr>
            <a:picLocks noChangeAspect="1"/>
          </p:cNvPicPr>
          <p:nvPr/>
        </p:nvPicPr>
        <p:blipFill>
          <a:blip r:embed="rId5"/>
          <a:stretch>
            <a:fillRect/>
          </a:stretch>
        </p:blipFill>
        <p:spPr>
          <a:xfrm>
            <a:off x="40158000" y="28188000"/>
            <a:ext cx="1062000" cy="1062000"/>
          </a:xfrm>
          <a:prstGeom prst="rect">
            <a:avLst/>
          </a:prstGeom>
        </p:spPr>
      </p:pic>
      <p:graphicFrame>
        <p:nvGraphicFramePr>
          <p:cNvPr id="900" name="poster-table2"/>
          <p:cNvGraphicFramePr/>
          <p:nvPr/>
        </p:nvGraphicFramePr>
        <p:xfrm xmlns:a="http://schemas.openxmlformats.org/drawingml/2006/main">
          <a:off x="1333500" y="26555700"/>
          <a:ext cx="11049000" cy="793750"/>
        </p:xfrm>
        <a:graphic xmlns:a="http://schemas.openxmlformats.org/drawingml/2006/main">
          <a:graphicData uri="http://schemas.openxmlformats.org/drawingml/2006/table">
            <a:tbl>
              <a:tblPr firstRow="1" bandRow="1"/>
              <a:tblGrid>
                <a:gridCol w="3600000"/>
                <a:gridCol w="3724500"/>
                <a:gridCol w="3724500"/>
              </a:tblGrid>
              <a:tr h="158750">
                <a:tc>
                  <a:txBody>
                    <a:bodyPr/>
                    <a:lstStyle/>
                    <a:p>
                      <a:pPr algn="l"/>
                      <a:r>
                        <a:rPr lang="en-US" sz="1300" b="1">
                          <a:solidFill>
                            <a:srgbClr val="003399"/>
                          </a:solidFill>
                          <a:latin typeface="Calibri"/>
                        </a:rPr>
                        <a:t>reward rule</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EEF3FF"/>
                    </a:solidFill>
                  </a:tcPr>
                </a:tc>
                <a:tc>
                  <a:txBody>
                    <a:bodyPr/>
                    <a:lstStyle/>
                    <a:p>
                      <a:pPr algn="ctr"/>
                      <a:r>
                        <a:rPr lang="en-US" sz="1300" b="1">
                          <a:solidFill>
                            <a:srgbClr val="003399"/>
                          </a:solidFill>
                          <a:latin typeface="Calibri"/>
                        </a:rPr>
                        <a:t>(a) no motive, βφK = 0</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EEF3FF"/>
                    </a:solidFill>
                  </a:tcPr>
                </a:tc>
                <a:tc>
                  <a:txBody>
                    <a:bodyPr/>
                    <a:lstStyle/>
                    <a:p>
                      <a:pPr algn="ctr"/>
                      <a:r>
                        <a:rPr lang="en-US" sz="1300" b="1">
                          <a:solidFill>
                            <a:srgbClr val="003399"/>
                          </a:solidFill>
                          <a:latin typeface="Calibri"/>
                        </a:rPr>
                        <a:t>(b) motive on, βφK = 19.98</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EEF3FF"/>
                    </a:solidFill>
                  </a:tcPr>
                </a:tc>
              </a:tr>
              <a:tr h="158750">
                <a:tc>
                  <a:txBody>
                    <a:bodyPr/>
                    <a:lstStyle/>
                    <a:p>
                      <a:pPr algn="l"/>
                      <a:r>
                        <a:rPr lang="en-US" sz="1250" b="0">
                          <a:solidFill>
                            <a:srgbClr val="212A33"/>
                          </a:solidFill>
                          <a:latin typeface="Calibri"/>
                        </a:rPr>
                        <a:t>none, k = 0</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.96/.00/.04/.00 ①</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.28/.68/.01/.03 ②</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r>
              <a:tr h="158750">
                <a:tc>
                  <a:txBody>
                    <a:bodyPr/>
                    <a:lstStyle/>
                    <a:p>
                      <a:pPr algn="l"/>
                      <a:r>
                        <a:rPr lang="en-US" sz="1250" b="0">
                          <a:solidFill>
                            <a:srgbClr val="212A33"/>
                          </a:solidFill>
                          <a:latin typeface="Calibri"/>
                        </a:rPr>
                        <a:t>openness, R = 20</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.11/.85/.00/.04 ②</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.01/.95/.00/.04 ②</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r>
              <a:tr h="158750">
                <a:tc>
                  <a:txBody>
                    <a:bodyPr/>
                    <a:lstStyle/>
                    <a:p>
                      <a:pPr algn="l"/>
                      <a:r>
                        <a:rPr lang="en-US" sz="1250" b="0">
                          <a:solidFill>
                            <a:srgbClr val="212A33"/>
                          </a:solidFill>
                          <a:latin typeface="Calibri"/>
                        </a:rPr>
                        <a:t>indexed, k = 4</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.35/.00/.01/.64 ③</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.03/.02/.00/.95 ③</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r>
              <a:tr h="158750">
                <a:tc>
                  <a:txBody>
                    <a:bodyPr/>
                    <a:lstStyle/>
                    <a:p>
                      <a:pPr algn="l"/>
                      <a:r>
                        <a:rPr lang="en-US" sz="1250" b="0">
                          <a:solidFill>
                            <a:srgbClr val="212A33"/>
                          </a:solidFill>
                          <a:latin typeface="Calibri"/>
                        </a:rPr>
                        <a:t>indexed, capped, k = 12</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.42/.54/.02/.03 ②</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.03/.93/.00/.05 ②</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r>
            </a:tbl>
          </a:graphicData>
        </a:graphic>
      </p:graphicFrame>
    </p:spTree>
    <p:extLst>
      <p:ext uri="{BB962C8B-B14F-4D97-AF65-F5344CB8AC3E}">
        <p14:creationId xmlns:p14="http://schemas.microsoft.com/office/powerpoint/2010/main" val="81398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2026-09-21T06:28:50.4470000Z</dcterms:created>
  <dcterms:modified xsi:type="dcterms:W3CDTF">2026-09-21T06:28:50.4470000Z</dcterms:modified>
</coreProperties>
</file>